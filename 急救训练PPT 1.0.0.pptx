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256" r:id="rId2"/>
    <p:sldId id="258" r:id="rId3"/>
    <p:sldId id="257" r:id="rId4"/>
    <p:sldId id="259" r:id="rId5"/>
    <p:sldId id="262" r:id="rId6"/>
    <p:sldId id="263" r:id="rId7"/>
    <p:sldId id="264" r:id="rId8"/>
    <p:sldId id="260" r:id="rId9"/>
    <p:sldId id="261" r:id="rId10"/>
    <p:sldId id="265" r:id="rId11"/>
    <p:sldId id="266" r:id="rId12"/>
    <p:sldId id="268" r:id="rId13"/>
    <p:sldId id="271" r:id="rId14"/>
    <p:sldId id="273" r:id="rId15"/>
    <p:sldId id="278" r:id="rId16"/>
    <p:sldId id="274" r:id="rId17"/>
    <p:sldId id="270" r:id="rId18"/>
    <p:sldId id="272" r:id="rId19"/>
    <p:sldId id="275" r:id="rId20"/>
    <p:sldId id="276" r:id="rId21"/>
    <p:sldId id="279" r:id="rId22"/>
    <p:sldId id="280" r:id="rId23"/>
    <p:sldId id="281" r:id="rId24"/>
    <p:sldId id="282" r:id="rId25"/>
    <p:sldId id="283" r:id="rId26"/>
    <p:sldId id="277" r:id="rId27"/>
    <p:sldId id="267" r:id="rId28"/>
    <p:sldId id="269" r:id="rId29"/>
    <p:sldId id="284"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2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5C5630-0737-4DF8-9958-ED484B7E754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0F8D44E-9F6D-4A4F-A619-5168491AEC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2D989E2-2BD4-4FCE-B9E8-75402AC31717}"/>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5" name="页脚占位符 4">
            <a:extLst>
              <a:ext uri="{FF2B5EF4-FFF2-40B4-BE49-F238E27FC236}">
                <a16:creationId xmlns:a16="http://schemas.microsoft.com/office/drawing/2014/main" id="{86E36A54-85C6-4E4E-98A5-8CFBBA97AC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6B42F9-9FDD-440B-BDDC-36EDB2FF12CF}"/>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3356676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579E80-A7ED-45EB-9F95-EBD2D3574F2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31F281A-B9CC-417D-805A-9B215660227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4F4B280-DB47-418B-AA4A-6CBE56E0EA4D}"/>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5" name="页脚占位符 4">
            <a:extLst>
              <a:ext uri="{FF2B5EF4-FFF2-40B4-BE49-F238E27FC236}">
                <a16:creationId xmlns:a16="http://schemas.microsoft.com/office/drawing/2014/main" id="{FCD83F6E-5B4A-4120-9721-B46C495635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E0AFE5-4414-48B5-A7FB-5E9019DBAB33}"/>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940091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1FE230-7B43-4BE9-B614-921DBC696A3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D8D8790-D7D9-4836-AF0C-85464B4723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95CC967-C293-4E84-8252-2C383BFF1453}"/>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5" name="页脚占位符 4">
            <a:extLst>
              <a:ext uri="{FF2B5EF4-FFF2-40B4-BE49-F238E27FC236}">
                <a16:creationId xmlns:a16="http://schemas.microsoft.com/office/drawing/2014/main" id="{50B1714F-A048-42C1-8DFD-5675BD7A85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7C4FAE-2A5E-4BBE-B69E-6D4750E6BFD0}"/>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698566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0C61E4-2D60-453D-90FE-DB314F5363F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6D529F7-D535-418F-A225-1C37E79560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0C6DC7E-BF8A-41E2-86F5-8E100B7F293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881CFE4-5C87-44F9-BF4D-1B31B60E8EA9}"/>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6" name="页脚占位符 5">
            <a:extLst>
              <a:ext uri="{FF2B5EF4-FFF2-40B4-BE49-F238E27FC236}">
                <a16:creationId xmlns:a16="http://schemas.microsoft.com/office/drawing/2014/main" id="{44C3DC7D-D24B-4B02-BE37-2EC2D96F6A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741864-F135-4589-8E85-EAFDB3011325}"/>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2228649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78C983-FA77-4D1B-BAC6-B44DE609FC3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3074783-B08E-4B35-A00C-B9B1E2F382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435825-7A01-428D-838B-635AB8D6CC2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49ECC40-8463-4778-A169-5CF8D7F6A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79F4AA1-D2EE-4638-B9AE-FD2F8787A56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5C12AA9-2390-4FF3-82BC-C1505E7EEA80}"/>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8" name="页脚占位符 7">
            <a:extLst>
              <a:ext uri="{FF2B5EF4-FFF2-40B4-BE49-F238E27FC236}">
                <a16:creationId xmlns:a16="http://schemas.microsoft.com/office/drawing/2014/main" id="{0323A4F5-65DC-4B97-9724-BC5E77DEA4B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50D581B-D272-45C5-8FE5-B2DC4F448490}"/>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2988181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4AEF4-0802-4810-912C-F3B98875FCB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47573FB-F8F1-4451-9F36-51B3C20A364E}"/>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4" name="页脚占位符 3">
            <a:extLst>
              <a:ext uri="{FF2B5EF4-FFF2-40B4-BE49-F238E27FC236}">
                <a16:creationId xmlns:a16="http://schemas.microsoft.com/office/drawing/2014/main" id="{7CC29803-DECD-4A02-8E33-8688FF86125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D8AAFD9-EB37-4583-89FC-6DF6DF06B71A}"/>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127653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6AF801B-5C7D-4A84-9243-94EF32FF8C77}"/>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3" name="页脚占位符 2">
            <a:extLst>
              <a:ext uri="{FF2B5EF4-FFF2-40B4-BE49-F238E27FC236}">
                <a16:creationId xmlns:a16="http://schemas.microsoft.com/office/drawing/2014/main" id="{2B7A7CCE-1ABB-49D3-A7F8-3F49A68FE4E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461D746-C422-4C7D-B215-D98F4426DC34}"/>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375653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AD7488-55BA-4055-8042-D65E8311C8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69739ED-47D8-4E5C-9A2B-04878A21E9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9D8306A-0050-438D-9AD0-56C68D3B9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93B0729-CF58-4441-971B-D4CDA7BC9FBB}"/>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6" name="页脚占位符 5">
            <a:extLst>
              <a:ext uri="{FF2B5EF4-FFF2-40B4-BE49-F238E27FC236}">
                <a16:creationId xmlns:a16="http://schemas.microsoft.com/office/drawing/2014/main" id="{E354A3E3-2365-4919-B466-B7419774854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64652A-BCFE-4441-AB87-93A6A35453DC}"/>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641301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4541D9-E0DA-4079-AB48-89EF8C0D537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6FE7926-F81E-43B4-BE13-3D029C7BE7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973E968-9D0B-41BE-AD31-C03AFA1984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1A54BD4-1D79-4BA2-BFFE-7D0A78073E69}"/>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6" name="页脚占位符 5">
            <a:extLst>
              <a:ext uri="{FF2B5EF4-FFF2-40B4-BE49-F238E27FC236}">
                <a16:creationId xmlns:a16="http://schemas.microsoft.com/office/drawing/2014/main" id="{00EC0649-2F96-43A9-BA98-D26D563C09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38452C7-6D0A-4708-8367-5381DB237B86}"/>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227385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23A748-F008-4E06-B5AF-A3B95E8157C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A541E-06BB-4CF7-B813-6C4629A4F46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7BBAF52-A495-46F1-ABD0-6C3601B57D63}"/>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5" name="页脚占位符 4">
            <a:extLst>
              <a:ext uri="{FF2B5EF4-FFF2-40B4-BE49-F238E27FC236}">
                <a16:creationId xmlns:a16="http://schemas.microsoft.com/office/drawing/2014/main" id="{CE9EA412-284A-49A4-8EBB-539AB8370F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CB206EF-EA16-4EA5-B4F6-0B28A2E0A5E0}"/>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521247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6975E3-AB87-4464-B8E0-54BEDBAD98F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C7C50FF-C0F4-4591-8286-A1E3B7899F4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C1451E-81A4-445F-B9BF-21D8898F0BF6}"/>
              </a:ext>
            </a:extLst>
          </p:cNvPr>
          <p:cNvSpPr>
            <a:spLocks noGrp="1"/>
          </p:cNvSpPr>
          <p:nvPr>
            <p:ph type="dt" sz="half" idx="10"/>
          </p:nvPr>
        </p:nvSpPr>
        <p:spPr/>
        <p:txBody>
          <a:bodyPr/>
          <a:lstStyle/>
          <a:p>
            <a:fld id="{94547158-10C7-4AE1-897D-7FAA401BFFC1}" type="datetimeFigureOut">
              <a:rPr lang="zh-CN" altLang="en-US" smtClean="0"/>
              <a:t>2026/4/2</a:t>
            </a:fld>
            <a:endParaRPr lang="zh-CN" altLang="en-US"/>
          </a:p>
        </p:txBody>
      </p:sp>
      <p:sp>
        <p:nvSpPr>
          <p:cNvPr id="5" name="页脚占位符 4">
            <a:extLst>
              <a:ext uri="{FF2B5EF4-FFF2-40B4-BE49-F238E27FC236}">
                <a16:creationId xmlns:a16="http://schemas.microsoft.com/office/drawing/2014/main" id="{529EBD94-DD44-4E24-8989-763CAE546C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4E1396-CB59-4285-B203-01D8D0B30C69}"/>
              </a:ext>
            </a:extLst>
          </p:cNvPr>
          <p:cNvSpPr>
            <a:spLocks noGrp="1"/>
          </p:cNvSpPr>
          <p:nvPr>
            <p:ph type="sldNum" sz="quarter" idx="12"/>
          </p:nvPr>
        </p:nvSpPr>
        <p:spPr/>
        <p:txBody>
          <a:body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277118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81225C0-EB21-4EFE-ADAA-BB311E9572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3A68FB9-2B5E-40F2-BA03-6D071E7E3B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C5887B-94F5-4058-8D1E-621B6A95D4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547158-10C7-4AE1-897D-7FAA401BFFC1}" type="datetimeFigureOut">
              <a:rPr lang="zh-CN" altLang="en-US" smtClean="0"/>
              <a:t>2026/4/2</a:t>
            </a:fld>
            <a:endParaRPr lang="zh-CN" altLang="en-US"/>
          </a:p>
        </p:txBody>
      </p:sp>
      <p:sp>
        <p:nvSpPr>
          <p:cNvPr id="5" name="页脚占位符 4">
            <a:extLst>
              <a:ext uri="{FF2B5EF4-FFF2-40B4-BE49-F238E27FC236}">
                <a16:creationId xmlns:a16="http://schemas.microsoft.com/office/drawing/2014/main" id="{E50DBA64-B9E1-4A91-9CDE-1CA4CF1EE9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A64E41E-AA12-4A5D-8BBD-7802E6FD0B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54FDE-12B5-4C0F-A066-7980C6C14653}" type="slidenum">
              <a:rPr lang="zh-CN" altLang="en-US" smtClean="0"/>
              <a:t>‹#›</a:t>
            </a:fld>
            <a:endParaRPr lang="zh-CN" altLang="en-US"/>
          </a:p>
        </p:txBody>
      </p:sp>
    </p:spTree>
    <p:extLst>
      <p:ext uri="{BB962C8B-B14F-4D97-AF65-F5344CB8AC3E}">
        <p14:creationId xmlns:p14="http://schemas.microsoft.com/office/powerpoint/2010/main" val="2651983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bilibili.com/video/BV1F94y1L7Mg"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hyperlink" Target="https://www.bilibili.com/video/BV1YD4y1B7h5"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bilibili.com/video/BV1nm4y1b7wX"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hyperlink" Target="https://www.bilibili.com/video/BV1U4c4zrEhy"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jpeg"/></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bilibili.com/video/BV1tc411U7z6"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E6786-141E-4E31-B014-5A6E9C1B2C4C}"/>
              </a:ext>
            </a:extLst>
          </p:cNvPr>
          <p:cNvSpPr>
            <a:spLocks noGrp="1"/>
          </p:cNvSpPr>
          <p:nvPr>
            <p:ph type="ctrTitle"/>
          </p:nvPr>
        </p:nvSpPr>
        <p:spPr/>
        <p:txBody>
          <a:bodyPr>
            <a:normAutofit/>
          </a:bodyPr>
          <a:lstStyle/>
          <a:p>
            <a:r>
              <a:rPr lang="zh-CN" altLang="en-US" sz="7200" dirty="0"/>
              <a:t>组织成员急救培训</a:t>
            </a:r>
          </a:p>
        </p:txBody>
      </p:sp>
      <p:sp>
        <p:nvSpPr>
          <p:cNvPr id="3" name="副标题 2">
            <a:extLst>
              <a:ext uri="{FF2B5EF4-FFF2-40B4-BE49-F238E27FC236}">
                <a16:creationId xmlns:a16="http://schemas.microsoft.com/office/drawing/2014/main" id="{80FE49EA-8AAB-4E8B-8F79-437300A0F04B}"/>
              </a:ext>
            </a:extLst>
          </p:cNvPr>
          <p:cNvSpPr>
            <a:spLocks noGrp="1"/>
          </p:cNvSpPr>
          <p:nvPr>
            <p:ph type="subTitle" idx="1"/>
          </p:nvPr>
        </p:nvSpPr>
        <p:spPr>
          <a:xfrm>
            <a:off x="1524000" y="3602039"/>
            <a:ext cx="9144000" cy="674398"/>
          </a:xfrm>
        </p:spPr>
        <p:txBody>
          <a:bodyPr>
            <a:normAutofit/>
          </a:bodyPr>
          <a:lstStyle/>
          <a:p>
            <a:r>
              <a:rPr lang="zh-CN" altLang="en-US" sz="3200" dirty="0"/>
              <a:t>大连北岸志愿急救</a:t>
            </a:r>
            <a:endParaRPr lang="en-US" altLang="zh-CN" sz="3200" dirty="0"/>
          </a:p>
        </p:txBody>
      </p:sp>
      <p:pic>
        <p:nvPicPr>
          <p:cNvPr id="6" name="图片 5">
            <a:extLst>
              <a:ext uri="{FF2B5EF4-FFF2-40B4-BE49-F238E27FC236}">
                <a16:creationId xmlns:a16="http://schemas.microsoft.com/office/drawing/2014/main" id="{FC3F0FC4-3D77-4943-9872-A29D32CA01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1418" y="0"/>
            <a:ext cx="2223437" cy="1482291"/>
          </a:xfrm>
          <a:prstGeom prst="rect">
            <a:avLst/>
          </a:prstGeom>
        </p:spPr>
      </p:pic>
      <p:sp>
        <p:nvSpPr>
          <p:cNvPr id="7" name="文本框 6">
            <a:extLst>
              <a:ext uri="{FF2B5EF4-FFF2-40B4-BE49-F238E27FC236}">
                <a16:creationId xmlns:a16="http://schemas.microsoft.com/office/drawing/2014/main" id="{F07F371F-E9AD-4FD4-9F67-0D7C1BBEBA41}"/>
              </a:ext>
            </a:extLst>
          </p:cNvPr>
          <p:cNvSpPr txBox="1"/>
          <p:nvPr/>
        </p:nvSpPr>
        <p:spPr>
          <a:xfrm>
            <a:off x="3195781" y="5550840"/>
            <a:ext cx="5523346" cy="584775"/>
          </a:xfrm>
          <a:prstGeom prst="rect">
            <a:avLst/>
          </a:prstGeom>
          <a:noFill/>
        </p:spPr>
        <p:txBody>
          <a:bodyPr wrap="square" rtlCol="0">
            <a:spAutoFit/>
          </a:bodyPr>
          <a:lstStyle/>
          <a:p>
            <a:r>
              <a:rPr lang="zh-CN" altLang="en-US" sz="3200" b="1" dirty="0">
                <a:solidFill>
                  <a:schemeClr val="accent1">
                    <a:lumMod val="75000"/>
                  </a:schemeClr>
                </a:solidFill>
              </a:rPr>
              <a:t>时间就是生命，责任重于泰山</a:t>
            </a:r>
          </a:p>
        </p:txBody>
      </p:sp>
      <p:sp>
        <p:nvSpPr>
          <p:cNvPr id="8" name="文本框 7">
            <a:extLst>
              <a:ext uri="{FF2B5EF4-FFF2-40B4-BE49-F238E27FC236}">
                <a16:creationId xmlns:a16="http://schemas.microsoft.com/office/drawing/2014/main" id="{62E231C8-5298-4C3A-BD27-506A485500E4}"/>
              </a:ext>
            </a:extLst>
          </p:cNvPr>
          <p:cNvSpPr txBox="1"/>
          <p:nvPr/>
        </p:nvSpPr>
        <p:spPr>
          <a:xfrm>
            <a:off x="1874981" y="6028024"/>
            <a:ext cx="8903855" cy="584775"/>
          </a:xfrm>
          <a:prstGeom prst="rect">
            <a:avLst/>
          </a:prstGeom>
          <a:noFill/>
        </p:spPr>
        <p:txBody>
          <a:bodyPr wrap="square" rtlCol="0">
            <a:spAutoFit/>
          </a:bodyPr>
          <a:lstStyle/>
          <a:p>
            <a:r>
              <a:rPr lang="en-US" altLang="zh-CN" sz="3200" b="1" dirty="0">
                <a:solidFill>
                  <a:schemeClr val="accent1">
                    <a:lumMod val="75000"/>
                  </a:schemeClr>
                </a:solidFill>
              </a:rPr>
              <a:t>Every second counts. Responsibility above all.</a:t>
            </a:r>
            <a:endParaRPr lang="zh-CN" altLang="en-US" sz="3200" b="1" dirty="0">
              <a:solidFill>
                <a:schemeClr val="accent1">
                  <a:lumMod val="75000"/>
                </a:schemeClr>
              </a:solidFill>
            </a:endParaRPr>
          </a:p>
        </p:txBody>
      </p:sp>
    </p:spTree>
    <p:extLst>
      <p:ext uri="{BB962C8B-B14F-4D97-AF65-F5344CB8AC3E}">
        <p14:creationId xmlns:p14="http://schemas.microsoft.com/office/powerpoint/2010/main" val="2598019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532244" y="828333"/>
            <a:ext cx="7449705" cy="584775"/>
          </a:xfrm>
          <a:prstGeom prst="rect">
            <a:avLst/>
          </a:prstGeom>
          <a:noFill/>
        </p:spPr>
        <p:txBody>
          <a:bodyPr wrap="square" rtlCol="0">
            <a:spAutoFit/>
          </a:bodyPr>
          <a:lstStyle/>
          <a:p>
            <a:r>
              <a:rPr lang="zh-CN" altLang="en-US" sz="3200" dirty="0"/>
              <a:t>培训目录（</a:t>
            </a:r>
            <a:r>
              <a:rPr lang="en-US" altLang="zh-CN" sz="3200" dirty="0"/>
              <a:t>Training Agenda</a:t>
            </a:r>
            <a:r>
              <a:rPr lang="zh-CN" altLang="en-US" sz="3200" dirty="0"/>
              <a:t>）</a:t>
            </a:r>
          </a:p>
        </p:txBody>
      </p:sp>
      <p:sp>
        <p:nvSpPr>
          <p:cNvPr id="9" name="文本框 8">
            <a:extLst>
              <a:ext uri="{FF2B5EF4-FFF2-40B4-BE49-F238E27FC236}">
                <a16:creationId xmlns:a16="http://schemas.microsoft.com/office/drawing/2014/main" id="{C5D47CDE-E6C8-4C12-ACB5-7CF8497FDC61}"/>
              </a:ext>
            </a:extLst>
          </p:cNvPr>
          <p:cNvSpPr txBox="1"/>
          <p:nvPr/>
        </p:nvSpPr>
        <p:spPr>
          <a:xfrm>
            <a:off x="1149926" y="1821848"/>
            <a:ext cx="6350001" cy="5139869"/>
          </a:xfrm>
          <a:prstGeom prst="rect">
            <a:avLst/>
          </a:prstGeom>
          <a:noFill/>
        </p:spPr>
        <p:txBody>
          <a:bodyPr wrap="square" rtlCol="0">
            <a:spAutoFit/>
          </a:bodyPr>
          <a:lstStyle/>
          <a:p>
            <a:r>
              <a:rPr lang="zh-CN" altLang="en-US" sz="2400" dirty="0"/>
              <a:t>一、职责及其法律模块</a:t>
            </a:r>
            <a:endParaRPr lang="en-US" altLang="zh-CN" sz="2400" dirty="0"/>
          </a:p>
          <a:p>
            <a:r>
              <a:rPr lang="en-US" altLang="zh-CN" sz="2400" dirty="0"/>
              <a:t>	</a:t>
            </a:r>
            <a:r>
              <a:rPr lang="en-US" altLang="zh-CN" sz="2000" dirty="0"/>
              <a:t>1.</a:t>
            </a:r>
            <a:r>
              <a:rPr lang="zh-CN" altLang="en-US" sz="2000" dirty="0"/>
              <a:t>志愿急救员的职责</a:t>
            </a:r>
            <a:endParaRPr lang="en-US" altLang="zh-CN" sz="2000" dirty="0"/>
          </a:p>
          <a:p>
            <a:r>
              <a:rPr lang="en-US" altLang="zh-CN" sz="2000" dirty="0"/>
              <a:t>	2.</a:t>
            </a:r>
            <a:r>
              <a:rPr lang="zh-CN" altLang="en-US" sz="2000" dirty="0"/>
              <a:t>中国大陆对志愿急救的相关法律</a:t>
            </a:r>
            <a:endParaRPr lang="en-US" altLang="zh-CN" sz="2000" dirty="0"/>
          </a:p>
          <a:p>
            <a:endParaRPr lang="en-US" altLang="zh-CN" sz="2400" dirty="0"/>
          </a:p>
          <a:p>
            <a:endParaRPr lang="en-US" altLang="zh-CN" sz="2400" dirty="0"/>
          </a:p>
          <a:p>
            <a:r>
              <a:rPr lang="zh-CN" altLang="en-US" sz="2400" dirty="0"/>
              <a:t>二、医疗技能模块</a:t>
            </a:r>
            <a:endParaRPr lang="en-US" altLang="zh-CN" sz="2400" dirty="0"/>
          </a:p>
          <a:p>
            <a:r>
              <a:rPr lang="en-US" altLang="zh-CN" sz="2400" dirty="0"/>
              <a:t>	</a:t>
            </a:r>
            <a:r>
              <a:rPr lang="en-US" altLang="zh-CN" sz="2000" dirty="0"/>
              <a:t>1.</a:t>
            </a:r>
            <a:r>
              <a:rPr lang="zh-CN" altLang="en-US" sz="2000" dirty="0"/>
              <a:t>个人防护与安全</a:t>
            </a:r>
            <a:endParaRPr lang="en-US" altLang="zh-CN" sz="2000" dirty="0"/>
          </a:p>
          <a:p>
            <a:r>
              <a:rPr lang="en-US" altLang="zh-CN" sz="2000" dirty="0"/>
              <a:t>	2.</a:t>
            </a:r>
            <a:r>
              <a:rPr lang="zh-CN" altLang="en-US" sz="2000" dirty="0"/>
              <a:t>轻伤处置</a:t>
            </a:r>
            <a:endParaRPr lang="en-US" altLang="zh-CN" sz="2000" dirty="0"/>
          </a:p>
          <a:p>
            <a:r>
              <a:rPr lang="en-US" altLang="zh-CN" sz="2000" dirty="0"/>
              <a:t>	3.</a:t>
            </a:r>
            <a:r>
              <a:rPr lang="zh-CN" altLang="en-US" sz="2000" dirty="0"/>
              <a:t>何时需要</a:t>
            </a:r>
            <a:r>
              <a:rPr lang="en-US" altLang="zh-CN" sz="2000" dirty="0"/>
              <a:t>ALS/</a:t>
            </a:r>
            <a:r>
              <a:rPr lang="zh-CN" altLang="en-US" sz="2000" dirty="0"/>
              <a:t>如何呼叫</a:t>
            </a:r>
            <a:r>
              <a:rPr lang="en-US" altLang="zh-CN" sz="2000" dirty="0"/>
              <a:t>ALS</a:t>
            </a:r>
          </a:p>
          <a:p>
            <a:r>
              <a:rPr lang="en-US" altLang="zh-CN" sz="2000" dirty="0"/>
              <a:t>	4.</a:t>
            </a:r>
            <a:r>
              <a:rPr lang="zh-CN" altLang="en-US" sz="2000" dirty="0"/>
              <a:t>中度创伤处置</a:t>
            </a:r>
            <a:endParaRPr lang="en-US" altLang="zh-CN" sz="2000" dirty="0"/>
          </a:p>
          <a:p>
            <a:r>
              <a:rPr lang="en-US" altLang="zh-CN" sz="2000" dirty="0"/>
              <a:t>	5.</a:t>
            </a:r>
            <a:r>
              <a:rPr lang="zh-CN" altLang="en-US" sz="2000" dirty="0"/>
              <a:t>气道管理与呼吸支持</a:t>
            </a:r>
            <a:endParaRPr lang="en-US" altLang="zh-CN" sz="2000" dirty="0"/>
          </a:p>
          <a:p>
            <a:r>
              <a:rPr lang="en-US" altLang="zh-CN" sz="2000" dirty="0"/>
              <a:t>	6.</a:t>
            </a:r>
            <a:r>
              <a:rPr lang="zh-CN" altLang="en-US" sz="2000" dirty="0"/>
              <a:t>氧气辅助与生命体征监测</a:t>
            </a:r>
            <a:endParaRPr lang="en-US" altLang="zh-CN" sz="2000" dirty="0"/>
          </a:p>
          <a:p>
            <a:r>
              <a:rPr lang="en-US" altLang="zh-CN" sz="2000" dirty="0"/>
              <a:t>	7.</a:t>
            </a:r>
            <a:r>
              <a:rPr lang="zh-CN" altLang="en-US" sz="2000" dirty="0"/>
              <a:t>心脏骤停</a:t>
            </a:r>
            <a:endParaRPr lang="en-US" altLang="zh-CN" sz="2000" dirty="0"/>
          </a:p>
          <a:p>
            <a:r>
              <a:rPr lang="en-US" altLang="zh-CN" sz="2000" dirty="0"/>
              <a:t>	8.</a:t>
            </a:r>
            <a:r>
              <a:rPr lang="zh-CN" altLang="en-US" sz="2000" dirty="0"/>
              <a:t>能量补充与低血糖处理</a:t>
            </a:r>
            <a:endParaRPr lang="en-US" altLang="zh-CN" sz="2000" dirty="0"/>
          </a:p>
          <a:p>
            <a:endParaRPr lang="en-US" altLang="zh-CN" sz="2400" dirty="0"/>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0" name="文本框 9">
            <a:extLst>
              <a:ext uri="{FF2B5EF4-FFF2-40B4-BE49-F238E27FC236}">
                <a16:creationId xmlns:a16="http://schemas.microsoft.com/office/drawing/2014/main" id="{E258E859-6C08-4FDB-B7C6-E0DA62016C28}"/>
              </a:ext>
            </a:extLst>
          </p:cNvPr>
          <p:cNvSpPr txBox="1"/>
          <p:nvPr/>
        </p:nvSpPr>
        <p:spPr>
          <a:xfrm>
            <a:off x="6543855" y="1728553"/>
            <a:ext cx="4394200" cy="2985433"/>
          </a:xfrm>
          <a:prstGeom prst="rect">
            <a:avLst/>
          </a:prstGeom>
          <a:noFill/>
        </p:spPr>
        <p:txBody>
          <a:bodyPr wrap="square" rtlCol="0">
            <a:spAutoFit/>
          </a:bodyPr>
          <a:lstStyle/>
          <a:p>
            <a:pPr marL="0" algn="l" rtl="0" eaLnBrk="1" latinLnBrk="0" hangingPunct="1">
              <a:spcBef>
                <a:spcPts val="0"/>
              </a:spcBef>
              <a:spcAft>
                <a:spcPts val="0"/>
              </a:spcAft>
            </a:pPr>
            <a:r>
              <a:rPr lang="zh-CN" altLang="en-US" sz="2400" kern="1200" dirty="0">
                <a:solidFill>
                  <a:srgbClr val="000000"/>
                </a:solidFill>
                <a:effectLst/>
                <a:latin typeface="等线" panose="02010600030101010101" pitchFamily="2" charset="-122"/>
                <a:ea typeface="等线" panose="02010600030101010101" pitchFamily="2" charset="-122"/>
                <a:cs typeface="+mn-cs"/>
              </a:rPr>
              <a:t>三</a:t>
            </a:r>
            <a:r>
              <a:rPr lang="zh-CN" altLang="zh-CN" sz="2400" kern="1200" dirty="0">
                <a:solidFill>
                  <a:srgbClr val="000000"/>
                </a:solidFill>
                <a:effectLst/>
                <a:latin typeface="等线" panose="02010600030101010101" pitchFamily="2" charset="-122"/>
                <a:ea typeface="等线" panose="02010600030101010101" pitchFamily="2" charset="-122"/>
                <a:cs typeface="+mn-cs"/>
              </a:rPr>
              <a:t>、</a:t>
            </a:r>
            <a:r>
              <a:rPr lang="zh-CN" altLang="en-US" sz="2400" kern="1200" dirty="0">
                <a:solidFill>
                  <a:srgbClr val="000000"/>
                </a:solidFill>
                <a:effectLst/>
                <a:latin typeface="等线" panose="02010600030101010101" pitchFamily="2" charset="-122"/>
                <a:ea typeface="等线" panose="02010600030101010101" pitchFamily="2" charset="-122"/>
                <a:cs typeface="+mn-cs"/>
              </a:rPr>
              <a:t>注释</a:t>
            </a:r>
            <a:endParaRPr lang="zh-CN" altLang="zh-CN" sz="2400" dirty="0">
              <a:effectLst/>
            </a:endParaRPr>
          </a:p>
          <a:p>
            <a:pPr marL="0" algn="l" rtl="0" eaLnBrk="1" latinLnBrk="0" hangingPunct="1">
              <a:spcBef>
                <a:spcPts val="0"/>
              </a:spcBef>
              <a:spcAft>
                <a:spcPts val="0"/>
              </a:spcAft>
            </a:pPr>
            <a:r>
              <a:rPr lang="en-US" altLang="zh-CN" sz="2400" kern="1200" dirty="0">
                <a:solidFill>
                  <a:srgbClr val="000000"/>
                </a:solidFill>
                <a:effectLst/>
                <a:latin typeface="等线" panose="02010600030101010101" pitchFamily="2" charset="-122"/>
                <a:ea typeface="等线" panose="02010600030101010101" pitchFamily="2" charset="-122"/>
                <a:cs typeface="+mn-cs"/>
              </a:rPr>
              <a:t>	</a:t>
            </a:r>
            <a:r>
              <a:rPr lang="en-US" altLang="zh-CN" sz="2000" kern="1200" dirty="0">
                <a:solidFill>
                  <a:srgbClr val="000000"/>
                </a:solidFill>
                <a:effectLst/>
                <a:latin typeface="等线" panose="02010600030101010101" pitchFamily="2" charset="-122"/>
                <a:ea typeface="等线" panose="02010600030101010101" pitchFamily="2" charset="-122"/>
                <a:cs typeface="+mn-cs"/>
              </a:rPr>
              <a:t>1.</a:t>
            </a:r>
            <a:r>
              <a:rPr lang="zh-CN" altLang="en-US" sz="2000" kern="1200" dirty="0">
                <a:solidFill>
                  <a:srgbClr val="000000"/>
                </a:solidFill>
                <a:effectLst/>
                <a:latin typeface="等线" panose="02010600030101010101" pitchFamily="2" charset="-122"/>
                <a:ea typeface="等线" panose="02010600030101010101" pitchFamily="2" charset="-122"/>
                <a:cs typeface="+mn-cs"/>
              </a:rPr>
              <a:t>标记为</a:t>
            </a:r>
            <a:r>
              <a:rPr lang="en-US" altLang="zh-CN" sz="2000" kern="1200" dirty="0">
                <a:solidFill>
                  <a:srgbClr val="FF0000"/>
                </a:solidFill>
                <a:effectLst/>
                <a:latin typeface="等线" panose="02010600030101010101" pitchFamily="2" charset="-122"/>
                <a:ea typeface="等线" panose="02010600030101010101" pitchFamily="2" charset="-122"/>
                <a:cs typeface="+mn-cs"/>
              </a:rPr>
              <a:t>Z</a:t>
            </a:r>
            <a:r>
              <a:rPr lang="zh-CN" altLang="en-US" sz="2000" dirty="0">
                <a:latin typeface="等线" panose="02010600030101010101" pitchFamily="2" charset="-122"/>
                <a:ea typeface="等线" panose="02010600030101010101" pitchFamily="2" charset="-122"/>
              </a:rPr>
              <a:t>的技能是适用于展览类型的活动</a:t>
            </a:r>
            <a:endParaRPr lang="en-US" altLang="zh-CN" sz="2000" dirty="0">
              <a:latin typeface="等线" panose="02010600030101010101" pitchFamily="2" charset="-122"/>
              <a:ea typeface="等线" panose="02010600030101010101" pitchFamily="2" charset="-122"/>
            </a:endParaRPr>
          </a:p>
          <a:p>
            <a:pPr marL="0" algn="l" rtl="0" eaLnBrk="1" latinLnBrk="0" hangingPunct="1">
              <a:spcBef>
                <a:spcPts val="0"/>
              </a:spcBef>
              <a:spcAft>
                <a:spcPts val="0"/>
              </a:spcAft>
            </a:pPr>
            <a:r>
              <a:rPr lang="en-US" altLang="zh-CN" sz="2000" dirty="0">
                <a:effectLst/>
                <a:latin typeface="等线" panose="02010600030101010101" pitchFamily="2" charset="-122"/>
                <a:ea typeface="等线" panose="02010600030101010101" pitchFamily="2" charset="-122"/>
              </a:rPr>
              <a:t>	2.</a:t>
            </a:r>
            <a:r>
              <a:rPr lang="zh-CN" altLang="en-US" sz="2000" dirty="0">
                <a:effectLst/>
                <a:latin typeface="等线" panose="02010600030101010101" pitchFamily="2" charset="-122"/>
                <a:ea typeface="等线" panose="02010600030101010101" pitchFamily="2" charset="-122"/>
              </a:rPr>
              <a:t>标记为</a:t>
            </a:r>
            <a:r>
              <a:rPr lang="en-US" altLang="zh-CN" sz="2000" dirty="0">
                <a:solidFill>
                  <a:srgbClr val="FF0000"/>
                </a:solidFill>
                <a:effectLst/>
                <a:latin typeface="等线" panose="02010600030101010101" pitchFamily="2" charset="-122"/>
                <a:ea typeface="等线" panose="02010600030101010101" pitchFamily="2" charset="-122"/>
              </a:rPr>
              <a:t>S</a:t>
            </a:r>
            <a:r>
              <a:rPr lang="zh-CN" altLang="en-US" sz="2000" dirty="0">
                <a:effectLst/>
                <a:latin typeface="等线" panose="02010600030101010101" pitchFamily="2" charset="-122"/>
                <a:ea typeface="等线" panose="02010600030101010101" pitchFamily="2" charset="-122"/>
              </a:rPr>
              <a:t>的技能是适用于体育赛事类型的活动</a:t>
            </a:r>
            <a:endParaRPr lang="en-US" altLang="zh-CN" sz="2000" dirty="0">
              <a:effectLst/>
              <a:latin typeface="等线" panose="02010600030101010101" pitchFamily="2" charset="-122"/>
              <a:ea typeface="等线" panose="02010600030101010101" pitchFamily="2" charset="-122"/>
            </a:endParaRPr>
          </a:p>
          <a:p>
            <a:pPr marL="0" algn="l" rtl="0" eaLnBrk="1" latinLnBrk="0" hangingPunct="1">
              <a:spcBef>
                <a:spcPts val="0"/>
              </a:spcBef>
              <a:spcAft>
                <a:spcPts val="0"/>
              </a:spcAft>
            </a:pPr>
            <a:r>
              <a:rPr lang="en-US" altLang="zh-CN" sz="2000" dirty="0">
                <a:latin typeface="等线" panose="02010600030101010101" pitchFamily="2" charset="-122"/>
                <a:ea typeface="等线" panose="02010600030101010101" pitchFamily="2" charset="-122"/>
              </a:rPr>
              <a:t>	3.</a:t>
            </a:r>
            <a:r>
              <a:rPr lang="zh-CN" altLang="en-US" sz="2000" dirty="0">
                <a:latin typeface="等线" panose="02010600030101010101" pitchFamily="2" charset="-122"/>
                <a:ea typeface="等线" panose="02010600030101010101" pitchFamily="2" charset="-122"/>
              </a:rPr>
              <a:t>标记为</a:t>
            </a:r>
            <a:r>
              <a:rPr lang="en-US" altLang="zh-CN" sz="2000" dirty="0">
                <a:solidFill>
                  <a:srgbClr val="FF0000"/>
                </a:solidFill>
                <a:latin typeface="等线" panose="02010600030101010101" pitchFamily="2" charset="-122"/>
                <a:ea typeface="等线" panose="02010600030101010101" pitchFamily="2" charset="-122"/>
              </a:rPr>
              <a:t>H</a:t>
            </a:r>
            <a:r>
              <a:rPr lang="zh-CN" altLang="en-US" sz="2000" dirty="0">
                <a:latin typeface="等线" panose="02010600030101010101" pitchFamily="2" charset="-122"/>
                <a:ea typeface="等线" panose="02010600030101010101" pitchFamily="2" charset="-122"/>
              </a:rPr>
              <a:t>的技能是较高风险操作</a:t>
            </a:r>
            <a:endParaRPr lang="en-US" altLang="zh-CN" sz="2000" dirty="0">
              <a:latin typeface="等线" panose="02010600030101010101" pitchFamily="2" charset="-122"/>
              <a:ea typeface="等线" panose="02010600030101010101" pitchFamily="2" charset="-122"/>
            </a:endParaRPr>
          </a:p>
          <a:p>
            <a:pPr marL="0" algn="l" rtl="0" eaLnBrk="1" latinLnBrk="0" hangingPunct="1">
              <a:spcBef>
                <a:spcPts val="0"/>
              </a:spcBef>
              <a:spcAft>
                <a:spcPts val="0"/>
              </a:spcAft>
            </a:pPr>
            <a:r>
              <a:rPr lang="en-US" altLang="zh-CN" sz="2000" dirty="0">
                <a:effectLst/>
                <a:latin typeface="等线" panose="02010600030101010101" pitchFamily="2" charset="-122"/>
                <a:ea typeface="等线" panose="02010600030101010101" pitchFamily="2" charset="-122"/>
              </a:rPr>
              <a:t>	</a:t>
            </a:r>
            <a:r>
              <a:rPr lang="en-US" altLang="zh-CN" sz="2000" dirty="0">
                <a:latin typeface="等线" panose="02010600030101010101" pitchFamily="2" charset="-122"/>
                <a:ea typeface="等线" panose="02010600030101010101" pitchFamily="2" charset="-122"/>
              </a:rPr>
              <a:t> 4.</a:t>
            </a:r>
            <a:r>
              <a:rPr lang="zh-CN" altLang="en-US" sz="2000" dirty="0">
                <a:latin typeface="等线" panose="02010600030101010101" pitchFamily="2" charset="-122"/>
                <a:ea typeface="等线" panose="02010600030101010101" pitchFamily="2" charset="-122"/>
              </a:rPr>
              <a:t>标记为</a:t>
            </a:r>
            <a:r>
              <a:rPr lang="en-US" altLang="zh-CN" sz="2000" dirty="0">
                <a:solidFill>
                  <a:srgbClr val="FF0000"/>
                </a:solidFill>
                <a:latin typeface="等线" panose="02010600030101010101" pitchFamily="2" charset="-122"/>
                <a:ea typeface="等线" panose="02010600030101010101" pitchFamily="2" charset="-122"/>
              </a:rPr>
              <a:t>L</a:t>
            </a:r>
            <a:r>
              <a:rPr lang="zh-CN" altLang="en-US" sz="2000" dirty="0">
                <a:latin typeface="等线" panose="02010600030101010101" pitchFamily="2" charset="-122"/>
                <a:ea typeface="等线" panose="02010600030101010101" pitchFamily="2" charset="-122"/>
              </a:rPr>
              <a:t>的技能是较低风险操作</a:t>
            </a:r>
            <a:endParaRPr lang="zh-CN" altLang="zh-CN" sz="2000" dirty="0">
              <a:effectLst/>
            </a:endParaRPr>
          </a:p>
        </p:txBody>
      </p:sp>
    </p:spTree>
    <p:extLst>
      <p:ext uri="{BB962C8B-B14F-4D97-AF65-F5344CB8AC3E}">
        <p14:creationId xmlns:p14="http://schemas.microsoft.com/office/powerpoint/2010/main" val="358864239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1031009" y="1475456"/>
            <a:ext cx="3445164" cy="1077218"/>
          </a:xfrm>
          <a:prstGeom prst="rect">
            <a:avLst/>
          </a:prstGeom>
          <a:noFill/>
        </p:spPr>
        <p:txBody>
          <a:bodyPr wrap="square" rtlCol="0">
            <a:spAutoFit/>
          </a:bodyPr>
          <a:lstStyle/>
          <a:p>
            <a:pPr algn="ctr"/>
            <a:r>
              <a:rPr lang="zh-CN" altLang="en-US" sz="3200" dirty="0"/>
              <a:t>志愿急救员的职责</a:t>
            </a:r>
            <a:endParaRPr lang="en-US" altLang="zh-CN" sz="3200" dirty="0"/>
          </a:p>
          <a:p>
            <a:endParaRPr lang="zh-CN" altLang="en-US" sz="3200" dirty="0"/>
          </a:p>
        </p:txBody>
      </p:sp>
      <p:sp>
        <p:nvSpPr>
          <p:cNvPr id="9" name="文本框 8">
            <a:extLst>
              <a:ext uri="{FF2B5EF4-FFF2-40B4-BE49-F238E27FC236}">
                <a16:creationId xmlns:a16="http://schemas.microsoft.com/office/drawing/2014/main" id="{C5D47CDE-E6C8-4C12-ACB5-7CF8497FDC61}"/>
              </a:ext>
            </a:extLst>
          </p:cNvPr>
          <p:cNvSpPr txBox="1"/>
          <p:nvPr/>
        </p:nvSpPr>
        <p:spPr>
          <a:xfrm>
            <a:off x="1031009" y="2552674"/>
            <a:ext cx="3537527" cy="1631216"/>
          </a:xfrm>
          <a:prstGeom prst="rect">
            <a:avLst/>
          </a:prstGeom>
          <a:noFill/>
        </p:spPr>
        <p:txBody>
          <a:bodyPr wrap="square" rtlCol="0">
            <a:spAutoFit/>
          </a:bodyPr>
          <a:lstStyle/>
          <a:p>
            <a:r>
              <a:rPr lang="en-US" altLang="zh-CN" sz="2000" dirty="0"/>
              <a:t>1.</a:t>
            </a:r>
            <a:r>
              <a:rPr lang="zh-CN" altLang="en-US" sz="2000" dirty="0"/>
              <a:t>第一时间发现伤病员</a:t>
            </a:r>
            <a:endParaRPr lang="en-US" altLang="zh-CN" sz="2000" dirty="0"/>
          </a:p>
          <a:p>
            <a:r>
              <a:rPr lang="en-US" altLang="zh-CN" sz="2000" dirty="0"/>
              <a:t>2.</a:t>
            </a:r>
            <a:r>
              <a:rPr lang="zh-CN" altLang="en-US" sz="2000" dirty="0"/>
              <a:t>提供基础生命支持</a:t>
            </a:r>
            <a:endParaRPr lang="en-US" altLang="zh-CN" sz="2000" dirty="0"/>
          </a:p>
          <a:p>
            <a:r>
              <a:rPr lang="en-US" altLang="zh-CN" sz="2000" dirty="0"/>
              <a:t>3.</a:t>
            </a:r>
            <a:r>
              <a:rPr lang="zh-CN" altLang="en-US" sz="2000" dirty="0"/>
              <a:t>控制创伤出血</a:t>
            </a:r>
            <a:endParaRPr lang="en-US" altLang="zh-CN" sz="2000" dirty="0"/>
          </a:p>
          <a:p>
            <a:r>
              <a:rPr lang="en-US" altLang="zh-CN" sz="2000" dirty="0"/>
              <a:t>4.</a:t>
            </a:r>
            <a:r>
              <a:rPr lang="zh-CN" altLang="en-US" sz="2000" dirty="0"/>
              <a:t>呼叫专业医疗资源</a:t>
            </a:r>
            <a:endParaRPr lang="en-US" altLang="zh-CN" sz="2000" dirty="0"/>
          </a:p>
          <a:p>
            <a:r>
              <a:rPr lang="en-US" altLang="zh-CN" sz="2000" dirty="0"/>
              <a:t>5.</a:t>
            </a:r>
            <a:r>
              <a:rPr lang="zh-CN" altLang="en-US" sz="2000" dirty="0"/>
              <a:t>协助现场秩序</a:t>
            </a:r>
            <a:endParaRPr lang="en-US" altLang="zh-CN" sz="2000" dirty="0"/>
          </a:p>
        </p:txBody>
      </p:sp>
      <p:sp>
        <p:nvSpPr>
          <p:cNvPr id="15" name="文本框 14">
            <a:extLst>
              <a:ext uri="{FF2B5EF4-FFF2-40B4-BE49-F238E27FC236}">
                <a16:creationId xmlns:a16="http://schemas.microsoft.com/office/drawing/2014/main" id="{2B2A6FFD-1567-4DE3-B9C7-D7D546DA6A87}"/>
              </a:ext>
            </a:extLst>
          </p:cNvPr>
          <p:cNvSpPr txBox="1"/>
          <p:nvPr/>
        </p:nvSpPr>
        <p:spPr>
          <a:xfrm>
            <a:off x="6328063" y="1475456"/>
            <a:ext cx="4807527" cy="584775"/>
          </a:xfrm>
          <a:prstGeom prst="rect">
            <a:avLst/>
          </a:prstGeom>
          <a:noFill/>
        </p:spPr>
        <p:txBody>
          <a:bodyPr wrap="square" rtlCol="0">
            <a:spAutoFit/>
          </a:bodyPr>
          <a:lstStyle/>
          <a:p>
            <a:r>
              <a:rPr lang="zh-CN" altLang="en-US" sz="3200" dirty="0"/>
              <a:t>志愿急救的相关法律法规</a:t>
            </a:r>
          </a:p>
        </p:txBody>
      </p:sp>
      <p:sp>
        <p:nvSpPr>
          <p:cNvPr id="16" name="文本框 15">
            <a:extLst>
              <a:ext uri="{FF2B5EF4-FFF2-40B4-BE49-F238E27FC236}">
                <a16:creationId xmlns:a16="http://schemas.microsoft.com/office/drawing/2014/main" id="{C6CF2AD5-964F-4BFF-BC43-69E7917478E4}"/>
              </a:ext>
            </a:extLst>
          </p:cNvPr>
          <p:cNvSpPr txBox="1"/>
          <p:nvPr/>
        </p:nvSpPr>
        <p:spPr>
          <a:xfrm>
            <a:off x="6645562" y="2317223"/>
            <a:ext cx="4172528" cy="1384995"/>
          </a:xfrm>
          <a:prstGeom prst="rect">
            <a:avLst/>
          </a:prstGeom>
          <a:noFill/>
        </p:spPr>
        <p:txBody>
          <a:bodyPr wrap="square" rtlCol="0">
            <a:spAutoFit/>
          </a:bodyPr>
          <a:lstStyle/>
          <a:p>
            <a:pPr algn="ctr"/>
            <a:r>
              <a:rPr lang="en-US" altLang="zh-CN" sz="2400" dirty="0"/>
              <a:t>《</a:t>
            </a:r>
            <a:r>
              <a:rPr lang="zh-CN" altLang="en-US" sz="2400" dirty="0"/>
              <a:t>中华人民共和国民法典</a:t>
            </a:r>
            <a:r>
              <a:rPr lang="en-US" altLang="zh-CN" sz="2400" dirty="0"/>
              <a:t>》</a:t>
            </a:r>
          </a:p>
          <a:p>
            <a:pPr algn="ctr"/>
            <a:r>
              <a:rPr lang="zh-CN" altLang="en-US" sz="2000" dirty="0"/>
              <a:t>第九百九十条</a:t>
            </a:r>
            <a:endParaRPr lang="en-US" altLang="zh-CN" sz="2000" dirty="0"/>
          </a:p>
          <a:p>
            <a:pPr algn="ctr"/>
            <a:r>
              <a:rPr lang="zh-CN" altLang="en-US" sz="2000" dirty="0"/>
              <a:t>因自愿实施紧急救助行为造成受助人损害的，救助人不承担民事责任。</a:t>
            </a:r>
          </a:p>
        </p:txBody>
      </p:sp>
      <p:sp>
        <p:nvSpPr>
          <p:cNvPr id="20" name="文本框 19">
            <a:extLst>
              <a:ext uri="{FF2B5EF4-FFF2-40B4-BE49-F238E27FC236}">
                <a16:creationId xmlns:a16="http://schemas.microsoft.com/office/drawing/2014/main" id="{0D408E8E-F117-4508-A6DC-4D6875B322B6}"/>
              </a:ext>
            </a:extLst>
          </p:cNvPr>
          <p:cNvSpPr txBox="1"/>
          <p:nvPr/>
        </p:nvSpPr>
        <p:spPr>
          <a:xfrm>
            <a:off x="3614880" y="4605540"/>
            <a:ext cx="4962239" cy="954107"/>
          </a:xfrm>
          <a:prstGeom prst="rect">
            <a:avLst/>
          </a:prstGeom>
          <a:noFill/>
        </p:spPr>
        <p:txBody>
          <a:bodyPr wrap="square" rtlCol="0">
            <a:spAutoFit/>
          </a:bodyPr>
          <a:lstStyle/>
          <a:p>
            <a:pPr marL="0" algn="ctr" rtl="0" eaLnBrk="1" latinLnBrk="0" hangingPunct="1">
              <a:spcBef>
                <a:spcPts val="0"/>
              </a:spcBef>
              <a:spcAft>
                <a:spcPts val="0"/>
              </a:spcAft>
            </a:pPr>
            <a:r>
              <a:rPr lang="zh-CN" altLang="zh-CN" sz="2800" kern="1200" dirty="0">
                <a:solidFill>
                  <a:srgbClr val="000000"/>
                </a:solidFill>
                <a:effectLst/>
                <a:latin typeface="等线" panose="02010600030101010101" pitchFamily="2" charset="-122"/>
                <a:ea typeface="等线" panose="02010600030101010101" pitchFamily="2" charset="-122"/>
                <a:cs typeface="+mn-cs"/>
              </a:rPr>
              <a:t>志愿急救员 </a:t>
            </a:r>
            <a:r>
              <a:rPr lang="en-US" altLang="zh-CN" sz="2800" kern="1200" dirty="0">
                <a:solidFill>
                  <a:srgbClr val="000000"/>
                </a:solidFill>
                <a:effectLst/>
                <a:latin typeface="等线" panose="02010600030101010101" pitchFamily="2" charset="-122"/>
                <a:ea typeface="等线" panose="02010600030101010101" pitchFamily="2" charset="-122"/>
                <a:cs typeface="+mn-cs"/>
              </a:rPr>
              <a:t>= </a:t>
            </a:r>
            <a:r>
              <a:rPr lang="zh-CN" altLang="zh-CN" sz="2800" kern="1200" dirty="0">
                <a:solidFill>
                  <a:srgbClr val="000000"/>
                </a:solidFill>
                <a:effectLst/>
                <a:latin typeface="等线" panose="02010600030101010101" pitchFamily="2" charset="-122"/>
                <a:ea typeface="等线" panose="02010600030101010101" pitchFamily="2" charset="-122"/>
                <a:cs typeface="+mn-cs"/>
              </a:rPr>
              <a:t>第一响应人员（</a:t>
            </a:r>
            <a:r>
              <a:rPr lang="en-US" altLang="zh-CN" sz="2800" kern="1200" dirty="0">
                <a:solidFill>
                  <a:srgbClr val="000000"/>
                </a:solidFill>
                <a:effectLst/>
                <a:latin typeface="等线" panose="02010600030101010101" pitchFamily="2" charset="-122"/>
                <a:ea typeface="等线" panose="02010600030101010101" pitchFamily="2" charset="-122"/>
                <a:cs typeface="+mn-cs"/>
              </a:rPr>
              <a:t>First Responder</a:t>
            </a:r>
            <a:r>
              <a:rPr lang="zh-CN" altLang="zh-CN" sz="2800" kern="1200" dirty="0">
                <a:solidFill>
                  <a:srgbClr val="000000"/>
                </a:solidFill>
                <a:effectLst/>
                <a:latin typeface="等线" panose="02010600030101010101" pitchFamily="2" charset="-122"/>
                <a:ea typeface="等线" panose="02010600030101010101" pitchFamily="2" charset="-122"/>
                <a:cs typeface="+mn-cs"/>
              </a:rPr>
              <a:t>）</a:t>
            </a:r>
            <a:endParaRPr lang="zh-CN" altLang="zh-CN" sz="3200" dirty="0">
              <a:effectLst/>
            </a:endParaRPr>
          </a:p>
        </p:txBody>
      </p:sp>
      <p:pic>
        <p:nvPicPr>
          <p:cNvPr id="21" name="图片 20">
            <a:extLst>
              <a:ext uri="{FF2B5EF4-FFF2-40B4-BE49-F238E27FC236}">
                <a16:creationId xmlns:a16="http://schemas.microsoft.com/office/drawing/2014/main" id="{1755A1A0-E2B0-4F32-AF7F-6F3026929B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Tree>
    <p:extLst>
      <p:ext uri="{BB962C8B-B14F-4D97-AF65-F5344CB8AC3E}">
        <p14:creationId xmlns:p14="http://schemas.microsoft.com/office/powerpoint/2010/main" val="115805649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532244" y="370377"/>
            <a:ext cx="7840231" cy="584775"/>
          </a:xfrm>
          <a:prstGeom prst="rect">
            <a:avLst/>
          </a:prstGeom>
          <a:noFill/>
        </p:spPr>
        <p:txBody>
          <a:bodyPr wrap="square" rtlCol="0">
            <a:spAutoFit/>
          </a:bodyPr>
          <a:lstStyle/>
          <a:p>
            <a:r>
              <a:rPr lang="zh-CN" altLang="en-US" sz="3200" dirty="0"/>
              <a:t>轻伤处置（</a:t>
            </a:r>
            <a:r>
              <a:rPr lang="en-US" altLang="zh-CN" sz="3200" dirty="0"/>
              <a:t>Minor Injuries</a:t>
            </a:r>
            <a:r>
              <a:rPr lang="zh-CN" altLang="en-US" sz="3200" dirty="0"/>
              <a:t>）技能类型：</a:t>
            </a:r>
            <a:r>
              <a:rPr lang="en-US" altLang="zh-CN" sz="3200" dirty="0">
                <a:solidFill>
                  <a:srgbClr val="FF0000"/>
                </a:solidFill>
              </a:rPr>
              <a:t>Z S</a:t>
            </a:r>
            <a:endParaRPr lang="zh-CN" altLang="en-US" sz="3200" dirty="0">
              <a:solidFill>
                <a:srgbClr val="FF0000"/>
              </a:solidFill>
            </a:endParaRPr>
          </a:p>
        </p:txBody>
      </p:sp>
      <p:sp>
        <p:nvSpPr>
          <p:cNvPr id="7" name="文本框 6">
            <a:extLst>
              <a:ext uri="{FF2B5EF4-FFF2-40B4-BE49-F238E27FC236}">
                <a16:creationId xmlns:a16="http://schemas.microsoft.com/office/drawing/2014/main" id="{67E5D763-4021-45CB-9C4E-F1BC3EE74D1F}"/>
              </a:ext>
            </a:extLst>
          </p:cNvPr>
          <p:cNvSpPr txBox="1"/>
          <p:nvPr/>
        </p:nvSpPr>
        <p:spPr>
          <a:xfrm>
            <a:off x="9069819" y="1646173"/>
            <a:ext cx="2124651" cy="461665"/>
          </a:xfrm>
          <a:prstGeom prst="rect">
            <a:avLst/>
          </a:prstGeom>
          <a:noFill/>
        </p:spPr>
        <p:txBody>
          <a:bodyPr wrap="square" rtlCol="0">
            <a:spAutoFit/>
          </a:bodyPr>
          <a:lstStyle/>
          <a:p>
            <a:pPr marL="0" algn="l" rtl="0" eaLnBrk="1" latinLnBrk="0" hangingPunct="1">
              <a:spcBef>
                <a:spcPts val="0"/>
              </a:spcBef>
              <a:spcAft>
                <a:spcPts val="0"/>
              </a:spcAft>
            </a:pPr>
            <a:r>
              <a:rPr lang="zh-CN" altLang="en-US" sz="2400" b="1" dirty="0"/>
              <a:t>轻伤处置流程：</a:t>
            </a:r>
            <a:endParaRPr lang="en-US" altLang="zh-CN" sz="2400" b="1" dirty="0"/>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1" name="文本框 10">
            <a:extLst>
              <a:ext uri="{FF2B5EF4-FFF2-40B4-BE49-F238E27FC236}">
                <a16:creationId xmlns:a16="http://schemas.microsoft.com/office/drawing/2014/main" id="{943A8294-4391-4F1F-80CB-F788843F1B7B}"/>
              </a:ext>
            </a:extLst>
          </p:cNvPr>
          <p:cNvSpPr txBox="1"/>
          <p:nvPr/>
        </p:nvSpPr>
        <p:spPr>
          <a:xfrm>
            <a:off x="8955519" y="2246975"/>
            <a:ext cx="2722131" cy="3477875"/>
          </a:xfrm>
          <a:prstGeom prst="rect">
            <a:avLst/>
          </a:prstGeom>
          <a:noFill/>
        </p:spPr>
        <p:txBody>
          <a:bodyPr wrap="square" rtlCol="0">
            <a:spAutoFit/>
          </a:bodyPr>
          <a:lstStyle/>
          <a:p>
            <a:pPr marL="0" algn="l" rtl="0" eaLnBrk="1" latinLnBrk="0" hangingPunct="1">
              <a:spcBef>
                <a:spcPts val="0"/>
              </a:spcBef>
              <a:spcAft>
                <a:spcPts val="0"/>
              </a:spcAft>
            </a:pPr>
            <a:r>
              <a:rPr lang="en-US" altLang="zh-CN" sz="2000" dirty="0"/>
              <a:t>1.</a:t>
            </a:r>
            <a:r>
              <a:rPr lang="zh-CN" altLang="en-US" sz="2000" dirty="0"/>
              <a:t>周围环境安全</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2.</a:t>
            </a:r>
            <a:r>
              <a:rPr lang="zh-CN" altLang="en-US" sz="2000" dirty="0"/>
              <a:t>个人安全防护</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3.</a:t>
            </a:r>
            <a:r>
              <a:rPr lang="zh-CN" altLang="en-US" sz="2000" dirty="0"/>
              <a:t>评估伤情</a:t>
            </a:r>
            <a:endParaRPr lang="en-US" altLang="zh-CN" sz="2000" dirty="0"/>
          </a:p>
          <a:p>
            <a:pPr marL="0" algn="l" rtl="0" eaLnBrk="1" latinLnBrk="0" hangingPunct="1">
              <a:spcBef>
                <a:spcPts val="0"/>
              </a:spcBef>
              <a:spcAft>
                <a:spcPts val="0"/>
              </a:spcAft>
            </a:pPr>
            <a:r>
              <a:rPr lang="en-US" altLang="zh-CN" sz="2000" dirty="0"/>
              <a:t>(</a:t>
            </a:r>
            <a:r>
              <a:rPr lang="zh-CN" altLang="en-US" sz="2000" dirty="0"/>
              <a:t>观察伤口</a:t>
            </a:r>
            <a:r>
              <a:rPr lang="en-US" altLang="zh-CN" sz="2000" dirty="0"/>
              <a:t>+</a:t>
            </a:r>
            <a:r>
              <a:rPr lang="zh-CN" altLang="en-US" sz="2000" dirty="0"/>
              <a:t>询问伤者）</a:t>
            </a:r>
            <a:endParaRPr lang="en-US" altLang="zh-CN" sz="2000" dirty="0"/>
          </a:p>
          <a:p>
            <a:pPr marL="0" algn="l" rtl="0" eaLnBrk="1" latinLnBrk="0" hangingPunct="1">
              <a:spcBef>
                <a:spcPts val="0"/>
              </a:spcBef>
              <a:spcAft>
                <a:spcPts val="0"/>
              </a:spcAft>
            </a:pPr>
            <a:r>
              <a:rPr lang="en-US" altLang="zh-CN" sz="2000" dirty="0"/>
              <a:t>4.</a:t>
            </a:r>
            <a:r>
              <a:rPr lang="zh-CN" altLang="en-US" sz="2000" dirty="0"/>
              <a:t>清洁与消毒</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5.</a:t>
            </a:r>
            <a:r>
              <a:rPr lang="zh-CN" altLang="en-US" sz="2000" dirty="0"/>
              <a:t>覆盖与固定</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6.</a:t>
            </a:r>
            <a:r>
              <a:rPr lang="zh-CN" altLang="en-US" sz="2000" dirty="0"/>
              <a:t>记录与汇报</a:t>
            </a:r>
            <a:endParaRPr lang="en-US" altLang="zh-CN" sz="2000" dirty="0"/>
          </a:p>
        </p:txBody>
      </p:sp>
      <p:sp>
        <p:nvSpPr>
          <p:cNvPr id="12" name="文本框 11">
            <a:extLst>
              <a:ext uri="{FF2B5EF4-FFF2-40B4-BE49-F238E27FC236}">
                <a16:creationId xmlns:a16="http://schemas.microsoft.com/office/drawing/2014/main" id="{AE35541F-5F3F-40C0-8D12-979A98267C99}"/>
              </a:ext>
            </a:extLst>
          </p:cNvPr>
          <p:cNvSpPr txBox="1"/>
          <p:nvPr/>
        </p:nvSpPr>
        <p:spPr>
          <a:xfrm>
            <a:off x="142226" y="1085538"/>
            <a:ext cx="4394200" cy="2769989"/>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1.</a:t>
            </a:r>
            <a:r>
              <a:rPr lang="zh-CN" altLang="en-US" sz="2400" b="1" dirty="0"/>
              <a:t>周围环境安全 </a:t>
            </a:r>
            <a:r>
              <a:rPr lang="en-US" altLang="zh-CN" sz="2400" b="1" dirty="0">
                <a:solidFill>
                  <a:srgbClr val="FF0000"/>
                </a:solidFill>
              </a:rPr>
              <a:t>L</a:t>
            </a:r>
          </a:p>
          <a:p>
            <a:pPr marL="0" algn="l" rtl="0" eaLnBrk="1" latinLnBrk="0" hangingPunct="1">
              <a:spcBef>
                <a:spcPts val="0"/>
              </a:spcBef>
              <a:spcAft>
                <a:spcPts val="0"/>
              </a:spcAft>
            </a:pPr>
            <a:r>
              <a:rPr lang="zh-CN" altLang="en-US" sz="2000" dirty="0">
                <a:solidFill>
                  <a:schemeClr val="accent1">
                    <a:lumMod val="75000"/>
                  </a:schemeClr>
                </a:solidFill>
              </a:rPr>
              <a:t>当你开始救助之前你需要确保你不在以下地点包括但不限于：</a:t>
            </a:r>
            <a:endParaRPr lang="en-US" altLang="zh-CN" sz="2000" dirty="0">
              <a:solidFill>
                <a:schemeClr val="accent1">
                  <a:lumMod val="75000"/>
                </a:schemeClr>
              </a:solidFill>
            </a:endParaRPr>
          </a:p>
          <a:p>
            <a:pPr marL="0" algn="l" rtl="0" eaLnBrk="1" latinLnBrk="0" hangingPunct="1">
              <a:spcBef>
                <a:spcPts val="0"/>
              </a:spcBef>
              <a:spcAft>
                <a:spcPts val="0"/>
              </a:spcAft>
            </a:pPr>
            <a:r>
              <a:rPr lang="en-US" altLang="zh-CN" dirty="0"/>
              <a:t>	1.</a:t>
            </a:r>
            <a:r>
              <a:rPr lang="zh-CN" altLang="en-US" dirty="0"/>
              <a:t>有车辆经过且未经封控的道路</a:t>
            </a:r>
            <a:endParaRPr lang="en-US" altLang="zh-CN" dirty="0"/>
          </a:p>
          <a:p>
            <a:pPr marL="0" algn="l" rtl="0" eaLnBrk="1" latinLnBrk="0" hangingPunct="1">
              <a:spcBef>
                <a:spcPts val="0"/>
              </a:spcBef>
              <a:spcAft>
                <a:spcPts val="0"/>
              </a:spcAft>
            </a:pPr>
            <a:r>
              <a:rPr lang="en-US" altLang="zh-CN" sz="2000" dirty="0"/>
              <a:t>	</a:t>
            </a:r>
            <a:r>
              <a:rPr lang="en-US" altLang="zh-CN" dirty="0"/>
              <a:t>2.</a:t>
            </a:r>
            <a:r>
              <a:rPr lang="zh-CN" altLang="en-US" dirty="0"/>
              <a:t>较为复杂的停车场</a:t>
            </a:r>
            <a:endParaRPr lang="en-US" altLang="zh-CN" dirty="0"/>
          </a:p>
          <a:p>
            <a:pPr marL="0" algn="l" rtl="0" eaLnBrk="1" latinLnBrk="0" hangingPunct="1">
              <a:spcBef>
                <a:spcPts val="0"/>
              </a:spcBef>
              <a:spcAft>
                <a:spcPts val="0"/>
              </a:spcAft>
            </a:pPr>
            <a:r>
              <a:rPr lang="en-US" altLang="zh-CN" dirty="0"/>
              <a:t>	3.</a:t>
            </a:r>
            <a:r>
              <a:rPr lang="zh-CN" altLang="en-US" dirty="0"/>
              <a:t>有电线坠落的区域</a:t>
            </a:r>
            <a:endParaRPr lang="en-US" altLang="zh-CN" dirty="0"/>
          </a:p>
          <a:p>
            <a:pPr marL="0" algn="l" rtl="0" eaLnBrk="1" latinLnBrk="0" hangingPunct="1">
              <a:spcBef>
                <a:spcPts val="0"/>
              </a:spcBef>
              <a:spcAft>
                <a:spcPts val="0"/>
              </a:spcAft>
            </a:pPr>
            <a:r>
              <a:rPr lang="en-US" altLang="zh-CN" dirty="0"/>
              <a:t>	4.</a:t>
            </a:r>
            <a:r>
              <a:rPr lang="zh-CN" altLang="en-US" dirty="0"/>
              <a:t>大风天气高楼下面</a:t>
            </a:r>
            <a:endParaRPr lang="en-US" altLang="zh-CN" dirty="0"/>
          </a:p>
          <a:p>
            <a:pPr marL="0" algn="l" rtl="0" eaLnBrk="1" latinLnBrk="0" hangingPunct="1">
              <a:spcBef>
                <a:spcPts val="0"/>
              </a:spcBef>
              <a:spcAft>
                <a:spcPts val="0"/>
              </a:spcAft>
            </a:pPr>
            <a:r>
              <a:rPr lang="en-US" altLang="zh-CN" dirty="0"/>
              <a:t>	5.</a:t>
            </a:r>
            <a:r>
              <a:rPr lang="zh-CN" altLang="en-US" dirty="0"/>
              <a:t>有明显烟雾或者明火的地方</a:t>
            </a:r>
            <a:endParaRPr lang="en-US" altLang="zh-CN" dirty="0"/>
          </a:p>
          <a:p>
            <a:pPr marL="0" algn="l" rtl="0" eaLnBrk="1" latinLnBrk="0" hangingPunct="1">
              <a:spcBef>
                <a:spcPts val="0"/>
              </a:spcBef>
              <a:spcAft>
                <a:spcPts val="0"/>
              </a:spcAft>
            </a:pPr>
            <a:r>
              <a:rPr lang="en-US" altLang="zh-CN" dirty="0"/>
              <a:t>	6.</a:t>
            </a:r>
            <a:r>
              <a:rPr lang="zh-CN" altLang="en-US" dirty="0"/>
              <a:t>易倒塌的任何架子</a:t>
            </a:r>
            <a:endParaRPr lang="en-US" altLang="zh-CN" dirty="0"/>
          </a:p>
        </p:txBody>
      </p:sp>
      <p:sp>
        <p:nvSpPr>
          <p:cNvPr id="13" name="文本框 12">
            <a:extLst>
              <a:ext uri="{FF2B5EF4-FFF2-40B4-BE49-F238E27FC236}">
                <a16:creationId xmlns:a16="http://schemas.microsoft.com/office/drawing/2014/main" id="{C3CC3023-FAB0-4EEB-9885-55073D462B70}"/>
              </a:ext>
            </a:extLst>
          </p:cNvPr>
          <p:cNvSpPr txBox="1"/>
          <p:nvPr/>
        </p:nvSpPr>
        <p:spPr>
          <a:xfrm>
            <a:off x="142226" y="3985913"/>
            <a:ext cx="4394200" cy="1384995"/>
          </a:xfrm>
          <a:prstGeom prst="rect">
            <a:avLst/>
          </a:prstGeom>
          <a:noFill/>
        </p:spPr>
        <p:txBody>
          <a:bodyPr wrap="square" rtlCol="0">
            <a:spAutoFit/>
          </a:bodyPr>
          <a:lstStyle/>
          <a:p>
            <a:r>
              <a:rPr lang="en-US" altLang="zh-CN" sz="2400" b="1" dirty="0"/>
              <a:t>2.</a:t>
            </a:r>
            <a:r>
              <a:rPr lang="zh-CN" altLang="en-US" sz="2400" b="1" dirty="0"/>
              <a:t>个人安全防护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dirty="0"/>
              <a:t>	</a:t>
            </a:r>
            <a:r>
              <a:rPr lang="en-US" altLang="zh-CN" dirty="0"/>
              <a:t>1.</a:t>
            </a:r>
            <a:r>
              <a:rPr lang="zh-CN" altLang="en-US" dirty="0"/>
              <a:t>丁晴手套</a:t>
            </a:r>
            <a:endParaRPr lang="en-US" altLang="zh-CN" dirty="0"/>
          </a:p>
          <a:p>
            <a:pPr marL="0" algn="l" rtl="0" eaLnBrk="1" latinLnBrk="0" hangingPunct="1">
              <a:spcBef>
                <a:spcPts val="0"/>
              </a:spcBef>
              <a:spcAft>
                <a:spcPts val="0"/>
              </a:spcAft>
            </a:pPr>
            <a:r>
              <a:rPr lang="en-US" altLang="zh-CN" dirty="0"/>
              <a:t>	2.</a:t>
            </a:r>
            <a:r>
              <a:rPr lang="zh-CN" altLang="en-US" dirty="0"/>
              <a:t>护目镜（涉及到血液和体液飞溅的情况）</a:t>
            </a:r>
            <a:endParaRPr lang="en-US" altLang="zh-CN" dirty="0"/>
          </a:p>
        </p:txBody>
      </p:sp>
      <p:sp>
        <p:nvSpPr>
          <p:cNvPr id="14" name="文本框 13">
            <a:extLst>
              <a:ext uri="{FF2B5EF4-FFF2-40B4-BE49-F238E27FC236}">
                <a16:creationId xmlns:a16="http://schemas.microsoft.com/office/drawing/2014/main" id="{5B455846-0119-4EEE-BFF9-9BDB4CD7C14C}"/>
              </a:ext>
            </a:extLst>
          </p:cNvPr>
          <p:cNvSpPr txBox="1"/>
          <p:nvPr/>
        </p:nvSpPr>
        <p:spPr>
          <a:xfrm>
            <a:off x="142226" y="5370908"/>
            <a:ext cx="4394200" cy="1384995"/>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3.</a:t>
            </a:r>
            <a:r>
              <a:rPr lang="zh-CN" altLang="en-US" sz="2400" b="1" dirty="0"/>
              <a:t>评估伤情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dirty="0"/>
              <a:t>	</a:t>
            </a:r>
            <a:r>
              <a:rPr lang="en-US" altLang="zh-CN" dirty="0"/>
              <a:t>1.</a:t>
            </a:r>
            <a:r>
              <a:rPr lang="zh-CN" altLang="en-US" dirty="0"/>
              <a:t>观察伤口是否出血，是否有异物，是否伴随骨折或肢体畸形</a:t>
            </a:r>
            <a:endParaRPr lang="en-US" altLang="zh-CN" dirty="0"/>
          </a:p>
          <a:p>
            <a:pPr marL="0" algn="l" rtl="0" eaLnBrk="1" latinLnBrk="0" hangingPunct="1">
              <a:spcBef>
                <a:spcPts val="0"/>
              </a:spcBef>
              <a:spcAft>
                <a:spcPts val="0"/>
              </a:spcAft>
            </a:pPr>
            <a:r>
              <a:rPr lang="en-US" altLang="zh-CN" dirty="0"/>
              <a:t>	2.</a:t>
            </a:r>
            <a:r>
              <a:rPr lang="zh-CN" altLang="en-US" dirty="0"/>
              <a:t>询问伤者是否有其他不适</a:t>
            </a:r>
            <a:endParaRPr lang="en-US" altLang="zh-CN" dirty="0"/>
          </a:p>
        </p:txBody>
      </p:sp>
      <p:sp>
        <p:nvSpPr>
          <p:cNvPr id="15" name="文本框 14">
            <a:extLst>
              <a:ext uri="{FF2B5EF4-FFF2-40B4-BE49-F238E27FC236}">
                <a16:creationId xmlns:a16="http://schemas.microsoft.com/office/drawing/2014/main" id="{9663584A-DD7C-4271-8410-E7CB25482350}"/>
              </a:ext>
            </a:extLst>
          </p:cNvPr>
          <p:cNvSpPr txBox="1"/>
          <p:nvPr/>
        </p:nvSpPr>
        <p:spPr>
          <a:xfrm>
            <a:off x="4380344" y="1092992"/>
            <a:ext cx="4394200" cy="2215991"/>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4.</a:t>
            </a:r>
            <a:r>
              <a:rPr lang="zh-CN" altLang="en-US" sz="2400" b="1" dirty="0"/>
              <a:t>清洁与消毒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dirty="0"/>
              <a:t>	</a:t>
            </a:r>
            <a:r>
              <a:rPr lang="en-US" altLang="zh-CN" dirty="0"/>
              <a:t>1.</a:t>
            </a:r>
            <a:r>
              <a:rPr lang="zh-CN" altLang="en-US" dirty="0"/>
              <a:t>准备物品</a:t>
            </a:r>
            <a:r>
              <a:rPr lang="en-US" altLang="zh-CN" dirty="0"/>
              <a:t>:</a:t>
            </a:r>
            <a:r>
              <a:rPr lang="zh-CN" altLang="en-US" dirty="0"/>
              <a:t>碘伏喷雾</a:t>
            </a:r>
            <a:r>
              <a:rPr lang="en-US" altLang="zh-CN" dirty="0"/>
              <a:t>/</a:t>
            </a:r>
            <a:r>
              <a:rPr lang="zh-CN" altLang="en-US" dirty="0"/>
              <a:t>碘伏棉签、生理盐水、无菌棉签、敷料块、创口贴</a:t>
            </a:r>
            <a:endParaRPr lang="en-US" altLang="zh-CN" dirty="0"/>
          </a:p>
          <a:p>
            <a:pPr marL="0" algn="l" rtl="0" eaLnBrk="1" latinLnBrk="0" hangingPunct="1">
              <a:spcBef>
                <a:spcPts val="0"/>
              </a:spcBef>
              <a:spcAft>
                <a:spcPts val="0"/>
              </a:spcAft>
            </a:pPr>
            <a:r>
              <a:rPr lang="en-US" altLang="zh-CN" dirty="0"/>
              <a:t>	2.</a:t>
            </a:r>
            <a:r>
              <a:rPr lang="zh-CN" altLang="en-US" dirty="0"/>
              <a:t>首先安慰伤者</a:t>
            </a:r>
            <a:endParaRPr lang="en-US" altLang="zh-CN" dirty="0"/>
          </a:p>
          <a:p>
            <a:pPr marL="0" algn="l" rtl="0" eaLnBrk="1" latinLnBrk="0" hangingPunct="1">
              <a:spcBef>
                <a:spcPts val="0"/>
              </a:spcBef>
              <a:spcAft>
                <a:spcPts val="0"/>
              </a:spcAft>
            </a:pPr>
            <a:r>
              <a:rPr lang="en-US" altLang="zh-CN" dirty="0"/>
              <a:t>	3.</a:t>
            </a:r>
            <a:r>
              <a:rPr lang="zh-CN" altLang="en-US" dirty="0"/>
              <a:t>检查是否有异物在伤口上，如果结果是肯定的可以使用生理盐水</a:t>
            </a:r>
            <a:r>
              <a:rPr lang="en-US" altLang="zh-CN" dirty="0"/>
              <a:t>+</a:t>
            </a:r>
            <a:r>
              <a:rPr lang="zh-CN" altLang="en-US" dirty="0"/>
              <a:t>棉签进行清洁</a:t>
            </a:r>
            <a:endParaRPr lang="en-US" altLang="zh-CN" dirty="0"/>
          </a:p>
        </p:txBody>
      </p:sp>
      <p:sp>
        <p:nvSpPr>
          <p:cNvPr id="2" name="文本框 1">
            <a:extLst>
              <a:ext uri="{FF2B5EF4-FFF2-40B4-BE49-F238E27FC236}">
                <a16:creationId xmlns:a16="http://schemas.microsoft.com/office/drawing/2014/main" id="{7E7A205D-F678-48B8-A4F6-AB348D626253}"/>
              </a:ext>
            </a:extLst>
          </p:cNvPr>
          <p:cNvSpPr txBox="1"/>
          <p:nvPr/>
        </p:nvSpPr>
        <p:spPr>
          <a:xfrm>
            <a:off x="5334000" y="3269058"/>
            <a:ext cx="2971800" cy="923330"/>
          </a:xfrm>
          <a:prstGeom prst="rect">
            <a:avLst/>
          </a:prstGeom>
          <a:noFill/>
        </p:spPr>
        <p:txBody>
          <a:bodyPr wrap="square" rtlCol="0">
            <a:spAutoFit/>
          </a:bodyPr>
          <a:lstStyle/>
          <a:p>
            <a:r>
              <a:rPr lang="en-US" altLang="zh-CN" dirty="0"/>
              <a:t>4.</a:t>
            </a:r>
            <a:r>
              <a:rPr lang="zh-CN" altLang="en-US" dirty="0"/>
              <a:t>使用碘伏进行消毒（喷雾从上往下喷，碘伏棉签从内向外）</a:t>
            </a:r>
          </a:p>
        </p:txBody>
      </p:sp>
      <p:sp>
        <p:nvSpPr>
          <p:cNvPr id="16" name="文本框 15">
            <a:extLst>
              <a:ext uri="{FF2B5EF4-FFF2-40B4-BE49-F238E27FC236}">
                <a16:creationId xmlns:a16="http://schemas.microsoft.com/office/drawing/2014/main" id="{46086E22-849B-4855-8406-2237E0C3CDA9}"/>
              </a:ext>
            </a:extLst>
          </p:cNvPr>
          <p:cNvSpPr txBox="1"/>
          <p:nvPr/>
        </p:nvSpPr>
        <p:spPr>
          <a:xfrm>
            <a:off x="4345997" y="4128640"/>
            <a:ext cx="4394200" cy="1384995"/>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5.</a:t>
            </a:r>
            <a:r>
              <a:rPr lang="zh-CN" altLang="en-US" sz="2400" b="1" dirty="0"/>
              <a:t>覆盖与固定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dirty="0"/>
              <a:t>	</a:t>
            </a:r>
            <a:r>
              <a:rPr lang="en-US" altLang="zh-CN" dirty="0"/>
              <a:t>1.</a:t>
            </a:r>
            <a:r>
              <a:rPr lang="zh-CN" altLang="en-US" dirty="0"/>
              <a:t>根据伤口大小及位置选择即可</a:t>
            </a:r>
            <a:endParaRPr lang="en-US" altLang="zh-CN" dirty="0"/>
          </a:p>
          <a:p>
            <a:pPr marL="0" algn="l" rtl="0" eaLnBrk="1" latinLnBrk="0" hangingPunct="1">
              <a:spcBef>
                <a:spcPts val="0"/>
              </a:spcBef>
              <a:spcAft>
                <a:spcPts val="0"/>
              </a:spcAft>
            </a:pPr>
            <a:r>
              <a:rPr lang="en-US" altLang="zh-CN" dirty="0"/>
              <a:t>	2.</a:t>
            </a:r>
            <a:r>
              <a:rPr lang="zh-CN" altLang="en-US" dirty="0"/>
              <a:t>如果是小伤口也可以选择不进行覆盖（不推荐）</a:t>
            </a:r>
            <a:endParaRPr lang="en-US" altLang="zh-CN" dirty="0"/>
          </a:p>
        </p:txBody>
      </p:sp>
      <p:sp>
        <p:nvSpPr>
          <p:cNvPr id="17" name="文本框 16">
            <a:extLst>
              <a:ext uri="{FF2B5EF4-FFF2-40B4-BE49-F238E27FC236}">
                <a16:creationId xmlns:a16="http://schemas.microsoft.com/office/drawing/2014/main" id="{F1FE6377-6F88-41D6-8134-916039AFB4DB}"/>
              </a:ext>
            </a:extLst>
          </p:cNvPr>
          <p:cNvSpPr txBox="1"/>
          <p:nvPr/>
        </p:nvSpPr>
        <p:spPr>
          <a:xfrm>
            <a:off x="4380344" y="5480782"/>
            <a:ext cx="4394200" cy="1200329"/>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6.</a:t>
            </a:r>
            <a:r>
              <a:rPr lang="zh-CN" altLang="en-US" sz="2400" b="1" dirty="0"/>
              <a:t>记录与汇报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b="1" dirty="0"/>
              <a:t>	</a:t>
            </a:r>
            <a:r>
              <a:rPr lang="en-US" altLang="zh-CN" sz="2400" dirty="0"/>
              <a:t>1.</a:t>
            </a:r>
            <a:r>
              <a:rPr lang="zh-CN" altLang="en-US" sz="2400" dirty="0"/>
              <a:t>使用表单平台进行拍照伤口，登记信息</a:t>
            </a:r>
            <a:endParaRPr lang="en-US" altLang="zh-CN" sz="2400" dirty="0"/>
          </a:p>
        </p:txBody>
      </p:sp>
    </p:spTree>
    <p:extLst>
      <p:ext uri="{BB962C8B-B14F-4D97-AF65-F5344CB8AC3E}">
        <p14:creationId xmlns:p14="http://schemas.microsoft.com/office/powerpoint/2010/main" val="672425203"/>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1015663"/>
          </a:xfrm>
          <a:prstGeom prst="rect">
            <a:avLst/>
          </a:prstGeom>
          <a:noFill/>
        </p:spPr>
        <p:txBody>
          <a:bodyPr wrap="square" rtlCol="0">
            <a:spAutoFit/>
          </a:bodyPr>
          <a:lstStyle/>
          <a:p>
            <a:r>
              <a:rPr lang="zh-CN" altLang="en-US" sz="3200" dirty="0"/>
              <a:t>何时需要</a:t>
            </a:r>
            <a:r>
              <a:rPr lang="en-US" altLang="zh-CN" sz="3200" dirty="0"/>
              <a:t>ALS/</a:t>
            </a:r>
            <a:r>
              <a:rPr lang="zh-CN" altLang="en-US" sz="3200" dirty="0"/>
              <a:t>如何呼叫</a:t>
            </a:r>
            <a:r>
              <a:rPr lang="en-US" altLang="zh-CN" sz="3200" dirty="0"/>
              <a:t>ALS	</a:t>
            </a:r>
            <a:r>
              <a:rPr lang="zh-CN" altLang="en-US" sz="3200" dirty="0"/>
              <a:t>技能类型：</a:t>
            </a:r>
            <a:r>
              <a:rPr lang="en-US" altLang="zh-CN" sz="3200" dirty="0">
                <a:solidFill>
                  <a:srgbClr val="FF0000"/>
                </a:solidFill>
              </a:rPr>
              <a:t>Z S</a:t>
            </a:r>
          </a:p>
          <a:p>
            <a:r>
              <a:rPr lang="en-US" altLang="zh-CN" sz="2800" dirty="0">
                <a:solidFill>
                  <a:srgbClr val="FFC000"/>
                </a:solidFill>
              </a:rPr>
              <a:t>(</a:t>
            </a:r>
            <a:r>
              <a:rPr lang="zh-CN" altLang="en-US" sz="2800" dirty="0">
                <a:solidFill>
                  <a:srgbClr val="FFC000"/>
                </a:solidFill>
              </a:rPr>
              <a:t>这里将救护车设定为</a:t>
            </a:r>
            <a:r>
              <a:rPr lang="en-US" altLang="zh-CN" sz="2800" dirty="0">
                <a:solidFill>
                  <a:srgbClr val="FFC000"/>
                </a:solidFill>
              </a:rPr>
              <a:t>ALS</a:t>
            </a:r>
            <a:r>
              <a:rPr lang="zh-CN" altLang="en-US" sz="2800" dirty="0">
                <a:solidFill>
                  <a:srgbClr val="FFC000"/>
                </a:solidFill>
              </a:rPr>
              <a:t>高级生命支持单位</a:t>
            </a:r>
            <a:r>
              <a:rPr lang="en-US" altLang="zh-CN" sz="2800" dirty="0">
                <a:solidFill>
                  <a:srgbClr val="FFC000"/>
                </a:solidFill>
              </a:rPr>
              <a:t>)</a:t>
            </a:r>
            <a:endParaRPr lang="zh-CN" altLang="en-US" sz="2800" dirty="0">
              <a:solidFill>
                <a:srgbClr val="FFC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0" name="文本框 9">
            <a:extLst>
              <a:ext uri="{FF2B5EF4-FFF2-40B4-BE49-F238E27FC236}">
                <a16:creationId xmlns:a16="http://schemas.microsoft.com/office/drawing/2014/main" id="{489E0B32-09CD-40B0-AAFC-A29E90FA45C6}"/>
              </a:ext>
            </a:extLst>
          </p:cNvPr>
          <p:cNvSpPr txBox="1"/>
          <p:nvPr/>
        </p:nvSpPr>
        <p:spPr>
          <a:xfrm>
            <a:off x="310352" y="1463590"/>
            <a:ext cx="4394200" cy="2492990"/>
          </a:xfrm>
          <a:prstGeom prst="rect">
            <a:avLst/>
          </a:prstGeom>
          <a:noFill/>
        </p:spPr>
        <p:txBody>
          <a:bodyPr wrap="square" rtlCol="0">
            <a:spAutoFit/>
          </a:bodyPr>
          <a:lstStyle/>
          <a:p>
            <a:pPr marL="0" algn="l" rtl="0" eaLnBrk="1" latinLnBrk="0" hangingPunct="1">
              <a:spcBef>
                <a:spcPts val="0"/>
              </a:spcBef>
              <a:spcAft>
                <a:spcPts val="0"/>
              </a:spcAft>
            </a:pPr>
            <a:r>
              <a:rPr lang="zh-CN" altLang="en-US" sz="2400" b="1" dirty="0"/>
              <a:t>一</a:t>
            </a:r>
            <a:r>
              <a:rPr lang="en-US" altLang="zh-CN" sz="2400" b="1" dirty="0"/>
              <a:t>.</a:t>
            </a:r>
            <a:r>
              <a:rPr lang="zh-CN" altLang="en-US" sz="2400" b="1" dirty="0"/>
              <a:t>何时需要呼叫</a:t>
            </a:r>
            <a:endParaRPr lang="en-US" altLang="zh-CN" sz="2400" b="1" dirty="0"/>
          </a:p>
          <a:p>
            <a:pPr marL="0" algn="l" rtl="0" eaLnBrk="1" latinLnBrk="0" hangingPunct="1">
              <a:spcBef>
                <a:spcPts val="0"/>
              </a:spcBef>
              <a:spcAft>
                <a:spcPts val="0"/>
              </a:spcAft>
            </a:pPr>
            <a:r>
              <a:rPr lang="en-US" altLang="zh-CN" sz="2400" b="1" dirty="0"/>
              <a:t>1.</a:t>
            </a:r>
            <a:r>
              <a:rPr lang="zh-CN" altLang="en-US" sz="2400" dirty="0"/>
              <a:t>气道问题（</a:t>
            </a:r>
            <a:r>
              <a:rPr lang="en-US" altLang="zh-CN" sz="2400" dirty="0"/>
              <a:t>Airway</a:t>
            </a:r>
            <a:r>
              <a:rPr lang="zh-CN" altLang="en-US" sz="2400" dirty="0"/>
              <a:t>）</a:t>
            </a:r>
            <a:endParaRPr lang="en-US" altLang="zh-CN" sz="2400" b="1" dirty="0"/>
          </a:p>
          <a:p>
            <a:r>
              <a:rPr lang="zh-CN" altLang="en-US" dirty="0"/>
              <a:t>表现：</a:t>
            </a:r>
          </a:p>
          <a:p>
            <a:r>
              <a:rPr lang="en-US" altLang="zh-CN" dirty="0"/>
              <a:t>	</a:t>
            </a:r>
            <a:r>
              <a:rPr lang="zh-CN" altLang="en-US" dirty="0"/>
              <a:t>无法说话</a:t>
            </a:r>
          </a:p>
          <a:p>
            <a:r>
              <a:rPr lang="en-US" altLang="zh-CN" dirty="0"/>
              <a:t>	</a:t>
            </a:r>
            <a:r>
              <a:rPr lang="zh-CN" altLang="en-US" dirty="0"/>
              <a:t>呼吸声异常（喘鸣、咕噜声）</a:t>
            </a:r>
          </a:p>
          <a:p>
            <a:r>
              <a:rPr lang="en-US" altLang="zh-CN" dirty="0"/>
              <a:t>	</a:t>
            </a:r>
            <a:r>
              <a:rPr lang="zh-CN" altLang="en-US" dirty="0"/>
              <a:t>呕吐堵塞气道</a:t>
            </a:r>
          </a:p>
          <a:p>
            <a:r>
              <a:rPr lang="en-US" altLang="zh-CN" dirty="0"/>
              <a:t>	</a:t>
            </a:r>
            <a:r>
              <a:rPr lang="zh-CN" altLang="en-US" dirty="0"/>
              <a:t>面部严重创伤</a:t>
            </a:r>
          </a:p>
          <a:p>
            <a:pPr marL="0" algn="l" rtl="0" eaLnBrk="1" latinLnBrk="0" hangingPunct="1">
              <a:spcBef>
                <a:spcPts val="0"/>
              </a:spcBef>
              <a:spcAft>
                <a:spcPts val="0"/>
              </a:spcAft>
            </a:pPr>
            <a:endParaRPr lang="en-US" altLang="zh-CN" dirty="0"/>
          </a:p>
        </p:txBody>
      </p:sp>
      <p:sp>
        <p:nvSpPr>
          <p:cNvPr id="15" name="文本框 14">
            <a:extLst>
              <a:ext uri="{FF2B5EF4-FFF2-40B4-BE49-F238E27FC236}">
                <a16:creationId xmlns:a16="http://schemas.microsoft.com/office/drawing/2014/main" id="{0A251797-F6F6-4B16-A1AD-974C506E5E07}"/>
              </a:ext>
            </a:extLst>
          </p:cNvPr>
          <p:cNvSpPr txBox="1"/>
          <p:nvPr/>
        </p:nvSpPr>
        <p:spPr>
          <a:xfrm>
            <a:off x="186527" y="4034070"/>
            <a:ext cx="4394200" cy="2123658"/>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2.</a:t>
            </a:r>
            <a:r>
              <a:rPr lang="zh-CN" altLang="en-US" sz="2400" dirty="0"/>
              <a:t>呼吸问题（</a:t>
            </a:r>
            <a:r>
              <a:rPr lang="en-US" altLang="zh-CN" sz="2400" dirty="0"/>
              <a:t>Breathing</a:t>
            </a:r>
            <a:r>
              <a:rPr lang="zh-CN" altLang="en-US" sz="2400" dirty="0"/>
              <a:t>）</a:t>
            </a:r>
            <a:endParaRPr lang="en-US" altLang="zh-CN" sz="2400" dirty="0"/>
          </a:p>
          <a:p>
            <a:pPr marL="0" algn="l" rtl="0" eaLnBrk="1" latinLnBrk="0" hangingPunct="1">
              <a:spcBef>
                <a:spcPts val="0"/>
              </a:spcBef>
              <a:spcAft>
                <a:spcPts val="0"/>
              </a:spcAft>
            </a:pPr>
            <a:r>
              <a:rPr lang="zh-CN" altLang="en-US" dirty="0"/>
              <a:t>表现：</a:t>
            </a:r>
          </a:p>
          <a:p>
            <a:r>
              <a:rPr lang="en-US" altLang="zh-CN" dirty="0"/>
              <a:t>	</a:t>
            </a:r>
            <a:r>
              <a:rPr lang="zh-CN" altLang="en-US" dirty="0"/>
              <a:t>呼吸频率非常快或非常慢</a:t>
            </a:r>
          </a:p>
          <a:p>
            <a:r>
              <a:rPr lang="en-US" altLang="zh-CN" dirty="0"/>
              <a:t>	</a:t>
            </a:r>
            <a:r>
              <a:rPr lang="zh-CN" altLang="en-US" dirty="0"/>
              <a:t>长时间呼吸困难</a:t>
            </a:r>
          </a:p>
          <a:p>
            <a:r>
              <a:rPr lang="en-US" altLang="zh-CN" dirty="0"/>
              <a:t>	</a:t>
            </a:r>
            <a:r>
              <a:rPr lang="zh-CN" altLang="en-US" dirty="0"/>
              <a:t>胸部穿透伤</a:t>
            </a:r>
          </a:p>
          <a:p>
            <a:r>
              <a:rPr lang="en-US" altLang="zh-CN" dirty="0"/>
              <a:t>	</a:t>
            </a:r>
            <a:r>
              <a:rPr lang="zh-CN" altLang="en-US" dirty="0"/>
              <a:t>胸部一侧起伏异常</a:t>
            </a:r>
          </a:p>
          <a:p>
            <a:pPr marL="0" algn="l" rtl="0" eaLnBrk="1" latinLnBrk="0" hangingPunct="1">
              <a:spcBef>
                <a:spcPts val="0"/>
              </a:spcBef>
              <a:spcAft>
                <a:spcPts val="0"/>
              </a:spcAft>
            </a:pPr>
            <a:endParaRPr lang="en-US" altLang="zh-CN" dirty="0"/>
          </a:p>
        </p:txBody>
      </p:sp>
      <p:sp>
        <p:nvSpPr>
          <p:cNvPr id="16" name="文本框 15">
            <a:extLst>
              <a:ext uri="{FF2B5EF4-FFF2-40B4-BE49-F238E27FC236}">
                <a16:creationId xmlns:a16="http://schemas.microsoft.com/office/drawing/2014/main" id="{0FE3215E-17AE-4357-B6E9-E1C3CCDD2AD3}"/>
              </a:ext>
            </a:extLst>
          </p:cNvPr>
          <p:cNvSpPr txBox="1"/>
          <p:nvPr/>
        </p:nvSpPr>
        <p:spPr>
          <a:xfrm>
            <a:off x="4244639" y="1877005"/>
            <a:ext cx="4394200" cy="2123658"/>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3.</a:t>
            </a:r>
            <a:r>
              <a:rPr lang="zh-CN" altLang="en-US" sz="2400" dirty="0"/>
              <a:t>严重出血（</a:t>
            </a:r>
            <a:r>
              <a:rPr lang="en-US" altLang="zh-CN" sz="2400" dirty="0"/>
              <a:t>Circulation</a:t>
            </a:r>
            <a:r>
              <a:rPr lang="zh-CN" altLang="en-US" sz="2400" dirty="0"/>
              <a:t>）</a:t>
            </a:r>
            <a:endParaRPr lang="en-US" altLang="zh-CN" sz="2400" dirty="0"/>
          </a:p>
          <a:p>
            <a:pPr marL="0" algn="l" rtl="0" eaLnBrk="1" latinLnBrk="0" hangingPunct="1">
              <a:spcBef>
                <a:spcPts val="0"/>
              </a:spcBef>
              <a:spcAft>
                <a:spcPts val="0"/>
              </a:spcAft>
            </a:pPr>
            <a:r>
              <a:rPr lang="zh-CN" altLang="en-US" dirty="0"/>
              <a:t>表现：</a:t>
            </a:r>
          </a:p>
          <a:p>
            <a:r>
              <a:rPr lang="en-US" altLang="zh-CN" dirty="0"/>
              <a:t>	</a:t>
            </a:r>
            <a:r>
              <a:rPr lang="zh-CN" altLang="en-US" dirty="0"/>
              <a:t>大量出血</a:t>
            </a:r>
            <a:endParaRPr lang="en-US" altLang="zh-CN" dirty="0"/>
          </a:p>
          <a:p>
            <a:r>
              <a:rPr lang="en-US" altLang="zh-CN" dirty="0"/>
              <a:t>	</a:t>
            </a:r>
            <a:r>
              <a:rPr lang="zh-CN" altLang="en-US" dirty="0"/>
              <a:t>血液喷射</a:t>
            </a:r>
          </a:p>
          <a:p>
            <a:r>
              <a:rPr lang="en-US" altLang="zh-CN" dirty="0"/>
              <a:t>	</a:t>
            </a:r>
            <a:r>
              <a:rPr lang="zh-CN" altLang="en-US" dirty="0"/>
              <a:t>地面明显血迹</a:t>
            </a:r>
          </a:p>
          <a:p>
            <a:r>
              <a:rPr lang="en-US" altLang="zh-CN" dirty="0"/>
              <a:t>	</a:t>
            </a:r>
            <a:r>
              <a:rPr lang="zh-CN" altLang="en-US" dirty="0"/>
              <a:t>面色苍白、冒冷汗</a:t>
            </a:r>
          </a:p>
          <a:p>
            <a:pPr marL="0" algn="l" rtl="0" eaLnBrk="1" latinLnBrk="0" hangingPunct="1">
              <a:spcBef>
                <a:spcPts val="0"/>
              </a:spcBef>
              <a:spcAft>
                <a:spcPts val="0"/>
              </a:spcAft>
            </a:pPr>
            <a:endParaRPr lang="en-US" altLang="zh-CN" dirty="0"/>
          </a:p>
        </p:txBody>
      </p:sp>
      <p:sp>
        <p:nvSpPr>
          <p:cNvPr id="17" name="文本框 16">
            <a:extLst>
              <a:ext uri="{FF2B5EF4-FFF2-40B4-BE49-F238E27FC236}">
                <a16:creationId xmlns:a16="http://schemas.microsoft.com/office/drawing/2014/main" id="{C140F82D-DC98-474E-9E19-216BE8B1E0BB}"/>
              </a:ext>
            </a:extLst>
          </p:cNvPr>
          <p:cNvSpPr txBox="1"/>
          <p:nvPr/>
        </p:nvSpPr>
        <p:spPr>
          <a:xfrm>
            <a:off x="4244639" y="4005959"/>
            <a:ext cx="4394200" cy="2123658"/>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3.</a:t>
            </a:r>
            <a:r>
              <a:rPr lang="zh-CN" altLang="en-US" sz="2400" dirty="0"/>
              <a:t>意识问题（</a:t>
            </a:r>
            <a:r>
              <a:rPr lang="en-US" altLang="zh-CN" sz="2400" dirty="0"/>
              <a:t>Disability</a:t>
            </a:r>
            <a:r>
              <a:rPr lang="zh-CN" altLang="en-US" sz="2400" dirty="0"/>
              <a:t>）</a:t>
            </a:r>
            <a:endParaRPr lang="en-US" altLang="zh-CN" sz="2400" dirty="0"/>
          </a:p>
          <a:p>
            <a:pPr marL="0" algn="l" rtl="0" eaLnBrk="1" latinLnBrk="0" hangingPunct="1">
              <a:spcBef>
                <a:spcPts val="0"/>
              </a:spcBef>
              <a:spcAft>
                <a:spcPts val="0"/>
              </a:spcAft>
            </a:pPr>
            <a:r>
              <a:rPr lang="zh-CN" altLang="en-US" dirty="0"/>
              <a:t>表现：</a:t>
            </a:r>
          </a:p>
          <a:p>
            <a:r>
              <a:rPr lang="en-US" altLang="zh-CN" dirty="0"/>
              <a:t>	</a:t>
            </a:r>
            <a:r>
              <a:rPr lang="zh-CN" altLang="en-US" dirty="0"/>
              <a:t>意识不清</a:t>
            </a:r>
            <a:endParaRPr lang="en-US" altLang="zh-CN" dirty="0"/>
          </a:p>
          <a:p>
            <a:r>
              <a:rPr lang="en-US" altLang="zh-CN" dirty="0"/>
              <a:t>	</a:t>
            </a:r>
            <a:r>
              <a:rPr lang="zh-CN" altLang="en-US" dirty="0"/>
              <a:t>无法回答问题</a:t>
            </a:r>
          </a:p>
          <a:p>
            <a:r>
              <a:rPr lang="en-US" altLang="zh-CN" dirty="0"/>
              <a:t>	</a:t>
            </a:r>
            <a:r>
              <a:rPr lang="zh-CN" altLang="en-US" dirty="0"/>
              <a:t>昏迷</a:t>
            </a:r>
          </a:p>
          <a:p>
            <a:r>
              <a:rPr lang="en-US" altLang="zh-CN" dirty="0"/>
              <a:t>	</a:t>
            </a:r>
            <a:r>
              <a:rPr lang="zh-CN" altLang="en-US" dirty="0"/>
              <a:t>抽搐</a:t>
            </a:r>
          </a:p>
          <a:p>
            <a:pPr marL="0" algn="l" rtl="0" eaLnBrk="1" latinLnBrk="0" hangingPunct="1">
              <a:spcBef>
                <a:spcPts val="0"/>
              </a:spcBef>
              <a:spcAft>
                <a:spcPts val="0"/>
              </a:spcAft>
            </a:pPr>
            <a:endParaRPr lang="en-US" altLang="zh-CN" dirty="0"/>
          </a:p>
        </p:txBody>
      </p:sp>
      <p:sp>
        <p:nvSpPr>
          <p:cNvPr id="18" name="文本框 17">
            <a:extLst>
              <a:ext uri="{FF2B5EF4-FFF2-40B4-BE49-F238E27FC236}">
                <a16:creationId xmlns:a16="http://schemas.microsoft.com/office/drawing/2014/main" id="{F65B2E90-F012-4873-9D0D-9AD4770BF414}"/>
              </a:ext>
            </a:extLst>
          </p:cNvPr>
          <p:cNvSpPr txBox="1"/>
          <p:nvPr/>
        </p:nvSpPr>
        <p:spPr>
          <a:xfrm>
            <a:off x="7785099" y="1871709"/>
            <a:ext cx="4394200" cy="2400657"/>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3.</a:t>
            </a:r>
            <a:r>
              <a:rPr lang="zh-CN" altLang="en-US" sz="2400" dirty="0"/>
              <a:t>生命体征异常</a:t>
            </a:r>
            <a:endParaRPr lang="en-US" altLang="zh-CN" sz="2400" dirty="0"/>
          </a:p>
          <a:p>
            <a:pPr marL="0" algn="l" rtl="0" eaLnBrk="1" latinLnBrk="0" hangingPunct="1">
              <a:spcBef>
                <a:spcPts val="0"/>
              </a:spcBef>
              <a:spcAft>
                <a:spcPts val="0"/>
              </a:spcAft>
            </a:pPr>
            <a:r>
              <a:rPr lang="zh-CN" altLang="en-US" dirty="0"/>
              <a:t>例如：</a:t>
            </a:r>
          </a:p>
          <a:p>
            <a:r>
              <a:rPr lang="en-US" altLang="zh-CN" dirty="0"/>
              <a:t>	</a:t>
            </a:r>
            <a:r>
              <a:rPr lang="zh-CN" altLang="en-US" dirty="0"/>
              <a:t>收缩压</a:t>
            </a:r>
            <a:r>
              <a:rPr lang="en-US" altLang="zh-CN" dirty="0"/>
              <a:t>&lt;90mmHg</a:t>
            </a:r>
          </a:p>
          <a:p>
            <a:r>
              <a:rPr lang="en-US" altLang="zh-CN" dirty="0"/>
              <a:t>	</a:t>
            </a:r>
            <a:r>
              <a:rPr lang="zh-CN" altLang="en-US" dirty="0"/>
              <a:t>血氧</a:t>
            </a:r>
            <a:r>
              <a:rPr lang="en-US" altLang="zh-CN" dirty="0"/>
              <a:t>&lt;90%</a:t>
            </a:r>
            <a:endParaRPr lang="zh-CN" altLang="en-US" dirty="0"/>
          </a:p>
          <a:p>
            <a:r>
              <a:rPr lang="en-US" altLang="zh-CN" dirty="0"/>
              <a:t>	</a:t>
            </a:r>
            <a:r>
              <a:rPr lang="zh-CN" altLang="en-US" dirty="0"/>
              <a:t>血糖</a:t>
            </a:r>
            <a:r>
              <a:rPr lang="en-US" altLang="zh-CN" dirty="0"/>
              <a:t>&lt; 3 mmol/L</a:t>
            </a:r>
            <a:r>
              <a:rPr lang="zh-CN" altLang="en-US" dirty="0"/>
              <a:t>，并伴随意识改变无法吞咽 昏迷</a:t>
            </a:r>
          </a:p>
          <a:p>
            <a:r>
              <a:rPr lang="en-US" altLang="zh-CN" dirty="0"/>
              <a:t>	</a:t>
            </a:r>
            <a:r>
              <a:rPr lang="zh-CN" altLang="en-US" dirty="0"/>
              <a:t>心率</a:t>
            </a:r>
            <a:r>
              <a:rPr lang="en-US" altLang="zh-CN" dirty="0"/>
              <a:t>&gt;120</a:t>
            </a:r>
            <a:r>
              <a:rPr lang="zh-CN" altLang="en-US" dirty="0"/>
              <a:t>次</a:t>
            </a:r>
            <a:r>
              <a:rPr lang="en-US" altLang="zh-CN" dirty="0"/>
              <a:t>/</a:t>
            </a:r>
            <a:r>
              <a:rPr lang="zh-CN" altLang="en-US" dirty="0"/>
              <a:t>分钟、</a:t>
            </a:r>
            <a:r>
              <a:rPr lang="en-US" altLang="zh-CN" dirty="0"/>
              <a:t>&lt;60</a:t>
            </a:r>
            <a:r>
              <a:rPr lang="zh-CN" altLang="en-US" dirty="0"/>
              <a:t>次</a:t>
            </a:r>
            <a:r>
              <a:rPr lang="en-US" altLang="zh-CN" dirty="0"/>
              <a:t>/</a:t>
            </a:r>
            <a:r>
              <a:rPr lang="zh-CN" altLang="en-US" dirty="0"/>
              <a:t>分钟</a:t>
            </a:r>
          </a:p>
          <a:p>
            <a:pPr marL="0" algn="l" rtl="0" eaLnBrk="1" latinLnBrk="0" hangingPunct="1">
              <a:spcBef>
                <a:spcPts val="0"/>
              </a:spcBef>
              <a:spcAft>
                <a:spcPts val="0"/>
              </a:spcAft>
            </a:pPr>
            <a:endParaRPr lang="en-US" altLang="zh-CN" dirty="0"/>
          </a:p>
        </p:txBody>
      </p:sp>
      <p:sp>
        <p:nvSpPr>
          <p:cNvPr id="20" name="文本框 19">
            <a:extLst>
              <a:ext uri="{FF2B5EF4-FFF2-40B4-BE49-F238E27FC236}">
                <a16:creationId xmlns:a16="http://schemas.microsoft.com/office/drawing/2014/main" id="{8E9AF0DC-38DB-47BD-B385-4F178686A8D3}"/>
              </a:ext>
            </a:extLst>
          </p:cNvPr>
          <p:cNvSpPr txBox="1"/>
          <p:nvPr/>
        </p:nvSpPr>
        <p:spPr>
          <a:xfrm>
            <a:off x="7785099" y="4172570"/>
            <a:ext cx="4394200" cy="1846659"/>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4.</a:t>
            </a:r>
            <a:r>
              <a:rPr lang="zh-CN" altLang="en-US" sz="2400" b="1" dirty="0"/>
              <a:t>补充</a:t>
            </a:r>
            <a:endParaRPr lang="en-US" altLang="zh-CN" sz="2400" dirty="0"/>
          </a:p>
          <a:p>
            <a:pPr marL="0" algn="l" rtl="0" eaLnBrk="1" latinLnBrk="0" hangingPunct="1">
              <a:spcBef>
                <a:spcPts val="0"/>
              </a:spcBef>
              <a:spcAft>
                <a:spcPts val="0"/>
              </a:spcAft>
            </a:pPr>
            <a:r>
              <a:rPr lang="zh-CN" altLang="en-US" dirty="0"/>
              <a:t>不一定所有在这里面出现的问题都需要</a:t>
            </a:r>
            <a:r>
              <a:rPr lang="en-US" altLang="zh-CN" dirty="0"/>
              <a:t>ALS</a:t>
            </a:r>
            <a:r>
              <a:rPr lang="zh-CN" altLang="en-US" dirty="0"/>
              <a:t>介入，也不是不在这里面的就一定不需要介入，比如血糖和心率血氧还有呼吸频率，部分是现场使用物品纠正之后不需要</a:t>
            </a:r>
            <a:r>
              <a:rPr lang="en-US" altLang="zh-CN" dirty="0"/>
              <a:t>ALS</a:t>
            </a:r>
            <a:r>
              <a:rPr lang="zh-CN" altLang="en-US" dirty="0"/>
              <a:t>，观察时间大约是 </a:t>
            </a:r>
            <a:r>
              <a:rPr lang="en-US" altLang="zh-CN" dirty="0"/>
              <a:t>5–10 </a:t>
            </a:r>
            <a:r>
              <a:rPr lang="zh-CN" altLang="en-US" dirty="0"/>
              <a:t>分钟</a:t>
            </a:r>
            <a:endParaRPr lang="en-US" altLang="zh-CN" dirty="0"/>
          </a:p>
        </p:txBody>
      </p:sp>
    </p:spTree>
    <p:extLst>
      <p:ext uri="{BB962C8B-B14F-4D97-AF65-F5344CB8AC3E}">
        <p14:creationId xmlns:p14="http://schemas.microsoft.com/office/powerpoint/2010/main" val="421760161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1015663"/>
          </a:xfrm>
          <a:prstGeom prst="rect">
            <a:avLst/>
          </a:prstGeom>
          <a:noFill/>
        </p:spPr>
        <p:txBody>
          <a:bodyPr wrap="square" rtlCol="0">
            <a:spAutoFit/>
          </a:bodyPr>
          <a:lstStyle/>
          <a:p>
            <a:r>
              <a:rPr lang="zh-CN" altLang="en-US" sz="3200" dirty="0"/>
              <a:t>何时需要</a:t>
            </a:r>
            <a:r>
              <a:rPr lang="en-US" altLang="zh-CN" sz="3200" dirty="0"/>
              <a:t>ALS/</a:t>
            </a:r>
            <a:r>
              <a:rPr lang="zh-CN" altLang="en-US" sz="3200" dirty="0"/>
              <a:t>如何呼叫</a:t>
            </a:r>
            <a:r>
              <a:rPr lang="en-US" altLang="zh-CN" sz="3200" dirty="0"/>
              <a:t>ALS	</a:t>
            </a:r>
            <a:r>
              <a:rPr lang="zh-CN" altLang="en-US" sz="3200" dirty="0"/>
              <a:t>技能类型：</a:t>
            </a:r>
            <a:r>
              <a:rPr lang="en-US" altLang="zh-CN" sz="3200" dirty="0">
                <a:solidFill>
                  <a:srgbClr val="FF0000"/>
                </a:solidFill>
              </a:rPr>
              <a:t>Z S </a:t>
            </a:r>
          </a:p>
          <a:p>
            <a:r>
              <a:rPr lang="en-US" altLang="zh-CN" sz="2800" dirty="0">
                <a:solidFill>
                  <a:srgbClr val="FFC000"/>
                </a:solidFill>
              </a:rPr>
              <a:t>(</a:t>
            </a:r>
            <a:r>
              <a:rPr lang="zh-CN" altLang="en-US" sz="2800" dirty="0">
                <a:solidFill>
                  <a:srgbClr val="FFC000"/>
                </a:solidFill>
              </a:rPr>
              <a:t>这里将救护车设定为</a:t>
            </a:r>
            <a:r>
              <a:rPr lang="en-US" altLang="zh-CN" sz="2800" dirty="0">
                <a:solidFill>
                  <a:srgbClr val="FFC000"/>
                </a:solidFill>
              </a:rPr>
              <a:t>ALS</a:t>
            </a:r>
            <a:r>
              <a:rPr lang="zh-CN" altLang="en-US" sz="2800" dirty="0">
                <a:solidFill>
                  <a:srgbClr val="FFC000"/>
                </a:solidFill>
              </a:rPr>
              <a:t>高级生命支持单位</a:t>
            </a:r>
            <a:r>
              <a:rPr lang="en-US" altLang="zh-CN" sz="2800" dirty="0">
                <a:solidFill>
                  <a:srgbClr val="FFC000"/>
                </a:solidFill>
              </a:rPr>
              <a:t>)</a:t>
            </a:r>
            <a:endParaRPr lang="zh-CN" altLang="en-US" sz="2800" dirty="0">
              <a:solidFill>
                <a:srgbClr val="FFC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0" name="文本框 9">
            <a:extLst>
              <a:ext uri="{FF2B5EF4-FFF2-40B4-BE49-F238E27FC236}">
                <a16:creationId xmlns:a16="http://schemas.microsoft.com/office/drawing/2014/main" id="{489E0B32-09CD-40B0-AAFC-A29E90FA45C6}"/>
              </a:ext>
            </a:extLst>
          </p:cNvPr>
          <p:cNvSpPr txBox="1"/>
          <p:nvPr/>
        </p:nvSpPr>
        <p:spPr>
          <a:xfrm>
            <a:off x="310352" y="1463590"/>
            <a:ext cx="4394200" cy="2492990"/>
          </a:xfrm>
          <a:prstGeom prst="rect">
            <a:avLst/>
          </a:prstGeom>
          <a:noFill/>
        </p:spPr>
        <p:txBody>
          <a:bodyPr wrap="square" rtlCol="0">
            <a:spAutoFit/>
          </a:bodyPr>
          <a:lstStyle/>
          <a:p>
            <a:pPr marL="0" algn="l" rtl="0" eaLnBrk="1" latinLnBrk="0" hangingPunct="1">
              <a:spcBef>
                <a:spcPts val="0"/>
              </a:spcBef>
              <a:spcAft>
                <a:spcPts val="0"/>
              </a:spcAft>
            </a:pPr>
            <a:r>
              <a:rPr lang="zh-CN" altLang="en-US" sz="2400" b="1" dirty="0"/>
              <a:t>二</a:t>
            </a:r>
            <a:r>
              <a:rPr lang="en-US" altLang="zh-CN" sz="2400" b="1" dirty="0"/>
              <a:t>.</a:t>
            </a:r>
            <a:r>
              <a:rPr lang="zh-CN" altLang="en-US" sz="2400" b="1" dirty="0"/>
              <a:t>如何呼叫</a:t>
            </a:r>
            <a:r>
              <a:rPr lang="en-US" altLang="zh-CN" sz="2400" b="1" dirty="0"/>
              <a:t>ALS</a:t>
            </a:r>
          </a:p>
          <a:p>
            <a:pPr marL="0" algn="l" rtl="0" eaLnBrk="1" latinLnBrk="0" hangingPunct="1">
              <a:spcBef>
                <a:spcPts val="0"/>
              </a:spcBef>
              <a:spcAft>
                <a:spcPts val="0"/>
              </a:spcAft>
            </a:pPr>
            <a:r>
              <a:rPr lang="en-US" altLang="zh-CN" sz="2400" b="1" dirty="0"/>
              <a:t>1.</a:t>
            </a:r>
            <a:r>
              <a:rPr lang="zh-CN" altLang="en-US" sz="2400" b="1" dirty="0"/>
              <a:t>有意识流程</a:t>
            </a:r>
            <a:endParaRPr lang="en-US" altLang="zh-CN" sz="2400" b="1" dirty="0"/>
          </a:p>
          <a:p>
            <a:pPr marL="0" algn="l" rtl="0" eaLnBrk="1" latinLnBrk="0" hangingPunct="1">
              <a:spcBef>
                <a:spcPts val="0"/>
              </a:spcBef>
              <a:spcAft>
                <a:spcPts val="0"/>
              </a:spcAft>
            </a:pPr>
            <a:r>
              <a:rPr lang="en-US" altLang="zh-CN" dirty="0"/>
              <a:t>	(1)</a:t>
            </a:r>
            <a:r>
              <a:rPr lang="zh-CN" altLang="en-US" dirty="0"/>
              <a:t>所在位置</a:t>
            </a:r>
            <a:endParaRPr lang="en-US" altLang="zh-CN" dirty="0"/>
          </a:p>
          <a:p>
            <a:pPr marL="0" algn="l" rtl="0" eaLnBrk="1" latinLnBrk="0" hangingPunct="1">
              <a:spcBef>
                <a:spcPts val="0"/>
              </a:spcBef>
              <a:spcAft>
                <a:spcPts val="0"/>
              </a:spcAft>
            </a:pPr>
            <a:r>
              <a:rPr lang="en-US" altLang="zh-CN" dirty="0"/>
              <a:t>	(2)</a:t>
            </a:r>
            <a:r>
              <a:rPr lang="zh-CN" altLang="en-US" dirty="0"/>
              <a:t>伤情描述</a:t>
            </a:r>
            <a:endParaRPr lang="en-US" altLang="zh-CN" dirty="0"/>
          </a:p>
          <a:p>
            <a:pPr marL="0" algn="l" rtl="0" eaLnBrk="1" latinLnBrk="0" hangingPunct="1">
              <a:spcBef>
                <a:spcPts val="0"/>
              </a:spcBef>
              <a:spcAft>
                <a:spcPts val="0"/>
              </a:spcAft>
            </a:pPr>
            <a:r>
              <a:rPr lang="en-US" altLang="zh-CN" dirty="0"/>
              <a:t>	(3)</a:t>
            </a:r>
            <a:r>
              <a:rPr lang="zh-CN" altLang="en-US" dirty="0"/>
              <a:t>报告数据（血压 血氧 脉搏 血糖</a:t>
            </a:r>
            <a:r>
              <a:rPr lang="en-US" altLang="zh-CN" dirty="0"/>
              <a:t>)</a:t>
            </a:r>
          </a:p>
          <a:p>
            <a:pPr marL="0" algn="l" rtl="0" eaLnBrk="1" latinLnBrk="0" hangingPunct="1">
              <a:spcBef>
                <a:spcPts val="0"/>
              </a:spcBef>
              <a:spcAft>
                <a:spcPts val="0"/>
              </a:spcAft>
            </a:pPr>
            <a:r>
              <a:rPr lang="en-US" altLang="zh-CN" dirty="0"/>
              <a:t>	(4)</a:t>
            </a:r>
            <a:r>
              <a:rPr lang="zh-CN" altLang="en-US" dirty="0"/>
              <a:t>进行的措施</a:t>
            </a:r>
            <a:endParaRPr lang="en-US" altLang="zh-CN" dirty="0"/>
          </a:p>
          <a:p>
            <a:pPr marL="0" algn="l" rtl="0" eaLnBrk="1" latinLnBrk="0" hangingPunct="1">
              <a:spcBef>
                <a:spcPts val="0"/>
              </a:spcBef>
              <a:spcAft>
                <a:spcPts val="0"/>
              </a:spcAft>
            </a:pPr>
            <a:endParaRPr lang="en-US" altLang="zh-CN" dirty="0"/>
          </a:p>
        </p:txBody>
      </p:sp>
      <p:sp>
        <p:nvSpPr>
          <p:cNvPr id="11" name="文本框 10">
            <a:extLst>
              <a:ext uri="{FF2B5EF4-FFF2-40B4-BE49-F238E27FC236}">
                <a16:creationId xmlns:a16="http://schemas.microsoft.com/office/drawing/2014/main" id="{8CC3CFAC-A85B-4072-8523-51303881E409}"/>
              </a:ext>
            </a:extLst>
          </p:cNvPr>
          <p:cNvSpPr txBox="1"/>
          <p:nvPr/>
        </p:nvSpPr>
        <p:spPr>
          <a:xfrm>
            <a:off x="4803932" y="1506753"/>
            <a:ext cx="4394200" cy="2492990"/>
          </a:xfrm>
          <a:prstGeom prst="rect">
            <a:avLst/>
          </a:prstGeom>
          <a:noFill/>
        </p:spPr>
        <p:txBody>
          <a:bodyPr wrap="square" rtlCol="0">
            <a:spAutoFit/>
          </a:bodyPr>
          <a:lstStyle/>
          <a:p>
            <a:pPr marL="0" algn="l" rtl="0" eaLnBrk="1" latinLnBrk="0" hangingPunct="1">
              <a:spcBef>
                <a:spcPts val="0"/>
              </a:spcBef>
              <a:spcAft>
                <a:spcPts val="0"/>
              </a:spcAft>
            </a:pPr>
            <a:endParaRPr lang="en-US" altLang="zh-CN" sz="2400" b="1" dirty="0"/>
          </a:p>
          <a:p>
            <a:pPr marL="0" algn="l" rtl="0" eaLnBrk="1" latinLnBrk="0" hangingPunct="1">
              <a:spcBef>
                <a:spcPts val="0"/>
              </a:spcBef>
              <a:spcAft>
                <a:spcPts val="0"/>
              </a:spcAft>
            </a:pPr>
            <a:r>
              <a:rPr lang="en-US" altLang="zh-CN" sz="2400" b="1" dirty="0"/>
              <a:t>2.</a:t>
            </a:r>
            <a:r>
              <a:rPr lang="zh-CN" altLang="en-US" sz="2400" b="1" dirty="0"/>
              <a:t>无意识流程</a:t>
            </a:r>
            <a:endParaRPr lang="en-US" altLang="zh-CN" sz="2400" b="1" dirty="0"/>
          </a:p>
          <a:p>
            <a:pPr marL="0" algn="l" rtl="0" eaLnBrk="1" latinLnBrk="0" hangingPunct="1">
              <a:spcBef>
                <a:spcPts val="0"/>
              </a:spcBef>
              <a:spcAft>
                <a:spcPts val="0"/>
              </a:spcAft>
            </a:pPr>
            <a:r>
              <a:rPr lang="en-US" altLang="zh-CN" dirty="0"/>
              <a:t>	(1)</a:t>
            </a:r>
            <a:r>
              <a:rPr lang="zh-CN" altLang="en-US" dirty="0"/>
              <a:t>所在位置</a:t>
            </a:r>
            <a:endParaRPr lang="en-US" altLang="zh-CN" dirty="0"/>
          </a:p>
          <a:p>
            <a:pPr marL="0" algn="l" rtl="0" eaLnBrk="1" latinLnBrk="0" hangingPunct="1">
              <a:spcBef>
                <a:spcPts val="0"/>
              </a:spcBef>
              <a:spcAft>
                <a:spcPts val="0"/>
              </a:spcAft>
            </a:pPr>
            <a:r>
              <a:rPr lang="en-US" altLang="zh-CN" dirty="0"/>
              <a:t>	(2)</a:t>
            </a:r>
            <a:r>
              <a:rPr lang="zh-CN" altLang="en-US" dirty="0"/>
              <a:t>伤情描述</a:t>
            </a:r>
            <a:endParaRPr lang="en-US" altLang="zh-CN" dirty="0"/>
          </a:p>
          <a:p>
            <a:pPr marL="0" algn="l" rtl="0" eaLnBrk="1" latinLnBrk="0" hangingPunct="1">
              <a:spcBef>
                <a:spcPts val="0"/>
              </a:spcBef>
              <a:spcAft>
                <a:spcPts val="0"/>
              </a:spcAft>
            </a:pPr>
            <a:r>
              <a:rPr lang="en-US" altLang="zh-CN" dirty="0"/>
              <a:t>	(3)</a:t>
            </a:r>
            <a:r>
              <a:rPr lang="zh-CN" altLang="en-US" dirty="0"/>
              <a:t>进行的措施</a:t>
            </a:r>
            <a:endParaRPr lang="en-US" altLang="zh-CN" dirty="0"/>
          </a:p>
          <a:p>
            <a:pPr marL="0" algn="l" rtl="0" eaLnBrk="1" latinLnBrk="0" hangingPunct="1">
              <a:spcBef>
                <a:spcPts val="0"/>
              </a:spcBef>
              <a:spcAft>
                <a:spcPts val="0"/>
              </a:spcAft>
            </a:pPr>
            <a:r>
              <a:rPr lang="en-US" altLang="zh-CN" dirty="0"/>
              <a:t>	(4)</a:t>
            </a:r>
            <a:r>
              <a:rPr lang="zh-CN" altLang="en-US" dirty="0"/>
              <a:t>报告数据</a:t>
            </a:r>
            <a:endParaRPr lang="en-US" altLang="zh-CN" dirty="0"/>
          </a:p>
          <a:p>
            <a:pPr marL="0" algn="l" rtl="0" eaLnBrk="1" latinLnBrk="0" hangingPunct="1">
              <a:spcBef>
                <a:spcPts val="0"/>
              </a:spcBef>
              <a:spcAft>
                <a:spcPts val="0"/>
              </a:spcAft>
            </a:pPr>
            <a:r>
              <a:rPr lang="zh-CN" altLang="en-US" dirty="0"/>
              <a:t>补充：如果进行的心肺复苏需要告知</a:t>
            </a:r>
            <a:r>
              <a:rPr lang="en-US" altLang="zh-CN" dirty="0"/>
              <a:t>CPR</a:t>
            </a:r>
            <a:r>
              <a:rPr lang="zh-CN" altLang="en-US" dirty="0"/>
              <a:t>的时间</a:t>
            </a:r>
            <a:endParaRPr lang="en-US" altLang="zh-CN" dirty="0"/>
          </a:p>
        </p:txBody>
      </p:sp>
      <p:sp>
        <p:nvSpPr>
          <p:cNvPr id="12" name="文本框 11">
            <a:extLst>
              <a:ext uri="{FF2B5EF4-FFF2-40B4-BE49-F238E27FC236}">
                <a16:creationId xmlns:a16="http://schemas.microsoft.com/office/drawing/2014/main" id="{1E7DE80B-77C5-40CA-A3ED-901780FFBD8D}"/>
              </a:ext>
            </a:extLst>
          </p:cNvPr>
          <p:cNvSpPr txBox="1"/>
          <p:nvPr/>
        </p:nvSpPr>
        <p:spPr>
          <a:xfrm>
            <a:off x="310352" y="3956580"/>
            <a:ext cx="4394200" cy="1846659"/>
          </a:xfrm>
          <a:prstGeom prst="rect">
            <a:avLst/>
          </a:prstGeom>
          <a:noFill/>
        </p:spPr>
        <p:txBody>
          <a:bodyPr wrap="square" rtlCol="0">
            <a:spAutoFit/>
          </a:bodyPr>
          <a:lstStyle/>
          <a:p>
            <a:pPr marL="0" algn="l" rtl="0" eaLnBrk="1" latinLnBrk="0" hangingPunct="1">
              <a:spcBef>
                <a:spcPts val="0"/>
              </a:spcBef>
              <a:spcAft>
                <a:spcPts val="0"/>
              </a:spcAft>
            </a:pPr>
            <a:endParaRPr lang="en-US" altLang="zh-CN" sz="2400" b="1" dirty="0"/>
          </a:p>
          <a:p>
            <a:pPr marL="0" algn="l" rtl="0" eaLnBrk="1" latinLnBrk="0" hangingPunct="1">
              <a:spcBef>
                <a:spcPts val="0"/>
              </a:spcBef>
              <a:spcAft>
                <a:spcPts val="0"/>
              </a:spcAft>
            </a:pPr>
            <a:r>
              <a:rPr lang="en-US" altLang="zh-CN" sz="2400" b="1" dirty="0"/>
              <a:t>3.</a:t>
            </a:r>
            <a:r>
              <a:rPr lang="zh-CN" altLang="en-US" sz="2400" b="1" dirty="0"/>
              <a:t>让调度员知道我们的身份（优先级低）</a:t>
            </a:r>
            <a:endParaRPr lang="en-US" altLang="zh-CN" sz="2400" b="1" dirty="0"/>
          </a:p>
          <a:p>
            <a:pPr marL="0" algn="l" rtl="0" eaLnBrk="1" latinLnBrk="0" hangingPunct="1">
              <a:spcBef>
                <a:spcPts val="0"/>
              </a:spcBef>
              <a:spcAft>
                <a:spcPts val="0"/>
              </a:spcAft>
            </a:pPr>
            <a:r>
              <a:rPr lang="zh-CN" altLang="en-US" sz="2400" b="1" dirty="0"/>
              <a:t> </a:t>
            </a:r>
            <a:r>
              <a:rPr lang="en-US" altLang="zh-CN" dirty="0"/>
              <a:t>	(1)</a:t>
            </a:r>
            <a:r>
              <a:rPr lang="zh-CN" altLang="en-US" dirty="0"/>
              <a:t>表明志愿者身份</a:t>
            </a:r>
            <a:endParaRPr lang="en-US" altLang="zh-CN" dirty="0"/>
          </a:p>
          <a:p>
            <a:pPr marL="0" algn="l" rtl="0" eaLnBrk="1" latinLnBrk="0" hangingPunct="1">
              <a:spcBef>
                <a:spcPts val="0"/>
              </a:spcBef>
              <a:spcAft>
                <a:spcPts val="0"/>
              </a:spcAft>
            </a:pPr>
            <a:r>
              <a:rPr lang="en-US" altLang="zh-CN" dirty="0"/>
              <a:t>	(2)</a:t>
            </a:r>
            <a:r>
              <a:rPr lang="zh-CN" altLang="en-US" dirty="0"/>
              <a:t>告知参与急救的人员数量</a:t>
            </a:r>
            <a:endParaRPr lang="en-US" altLang="zh-CN" dirty="0"/>
          </a:p>
        </p:txBody>
      </p:sp>
      <p:sp>
        <p:nvSpPr>
          <p:cNvPr id="13" name="文本框 12">
            <a:extLst>
              <a:ext uri="{FF2B5EF4-FFF2-40B4-BE49-F238E27FC236}">
                <a16:creationId xmlns:a16="http://schemas.microsoft.com/office/drawing/2014/main" id="{92915A7F-47AE-4C9C-959C-7379E650C0FC}"/>
              </a:ext>
            </a:extLst>
          </p:cNvPr>
          <p:cNvSpPr txBox="1"/>
          <p:nvPr/>
        </p:nvSpPr>
        <p:spPr>
          <a:xfrm>
            <a:off x="4704552" y="3993454"/>
            <a:ext cx="4394200" cy="2585323"/>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4.</a:t>
            </a:r>
            <a:r>
              <a:rPr lang="zh-CN" altLang="en-US" sz="2400" b="1" dirty="0"/>
              <a:t>展览活动举例（以大连博览中心</a:t>
            </a:r>
            <a:r>
              <a:rPr lang="en-US" altLang="zh-CN" sz="2400" b="1" dirty="0"/>
              <a:t>C</a:t>
            </a:r>
            <a:r>
              <a:rPr lang="zh-CN" altLang="en-US" sz="2400" b="1" dirty="0"/>
              <a:t>馆为例）</a:t>
            </a:r>
            <a:endParaRPr lang="en-US" altLang="zh-CN" sz="2400" b="1" dirty="0"/>
          </a:p>
          <a:p>
            <a:pPr marL="0" algn="l" rtl="0" eaLnBrk="1" latinLnBrk="0" hangingPunct="1">
              <a:spcBef>
                <a:spcPts val="0"/>
              </a:spcBef>
              <a:spcAft>
                <a:spcPts val="0"/>
              </a:spcAft>
            </a:pPr>
            <a:r>
              <a:rPr lang="zh-CN" altLang="en-US" sz="2400" b="1" dirty="0"/>
              <a:t> </a:t>
            </a:r>
            <a:r>
              <a:rPr lang="en-US" altLang="zh-CN" dirty="0"/>
              <a:t>(1)</a:t>
            </a:r>
            <a:r>
              <a:rPr lang="zh-CN" altLang="en-US" dirty="0"/>
              <a:t>有意识</a:t>
            </a:r>
            <a:endParaRPr lang="en-US" altLang="zh-CN" dirty="0"/>
          </a:p>
          <a:p>
            <a:pPr marL="0" algn="l" rtl="0" eaLnBrk="1" latinLnBrk="0" hangingPunct="1">
              <a:spcBef>
                <a:spcPts val="0"/>
              </a:spcBef>
              <a:spcAft>
                <a:spcPts val="0"/>
              </a:spcAft>
            </a:pPr>
            <a:r>
              <a:rPr lang="zh-CN" altLang="en-US" dirty="0"/>
              <a:t>您好老师，位于</a:t>
            </a:r>
            <a:r>
              <a:rPr lang="zh-CN" altLang="en-US" sz="1800" dirty="0"/>
              <a:t>大连博览中心</a:t>
            </a:r>
            <a:r>
              <a:rPr lang="en-US" altLang="zh-CN" sz="1800" dirty="0"/>
              <a:t>C</a:t>
            </a:r>
            <a:r>
              <a:rPr lang="zh-CN" altLang="en-US" sz="1800" dirty="0"/>
              <a:t>馆，一名男性，右小腿 铁丝刮伤，持续出血，止血效果差，当前血压</a:t>
            </a:r>
            <a:r>
              <a:rPr lang="en-US" altLang="zh-CN" dirty="0"/>
              <a:t>90 / 60 </a:t>
            </a:r>
            <a:r>
              <a:rPr lang="zh-CN" altLang="en-US" dirty="0"/>
              <a:t>（严重低血压），</a:t>
            </a:r>
            <a:r>
              <a:rPr lang="en-US" altLang="zh-CN" dirty="0"/>
              <a:t>GCS</a:t>
            </a:r>
            <a:r>
              <a:rPr lang="zh-CN" altLang="en-US" dirty="0"/>
              <a:t>评分</a:t>
            </a:r>
            <a:r>
              <a:rPr lang="en-US" altLang="zh-CN" dirty="0"/>
              <a:t>13</a:t>
            </a:r>
            <a:r>
              <a:rPr lang="zh-CN" altLang="en-US" dirty="0"/>
              <a:t>，血氧</a:t>
            </a:r>
            <a:r>
              <a:rPr lang="en-US" altLang="zh-CN" dirty="0"/>
              <a:t>93%</a:t>
            </a:r>
            <a:r>
              <a:rPr lang="zh-CN" altLang="en-US" dirty="0"/>
              <a:t>，我们是志愿急救员，目前三人参与急救</a:t>
            </a:r>
            <a:endParaRPr lang="en-US" altLang="zh-CN" dirty="0"/>
          </a:p>
        </p:txBody>
      </p:sp>
      <p:sp>
        <p:nvSpPr>
          <p:cNvPr id="2" name="文本框 1">
            <a:extLst>
              <a:ext uri="{FF2B5EF4-FFF2-40B4-BE49-F238E27FC236}">
                <a16:creationId xmlns:a16="http://schemas.microsoft.com/office/drawing/2014/main" id="{A393EE93-AEB5-4818-88A4-563D0D5C39AE}"/>
              </a:ext>
            </a:extLst>
          </p:cNvPr>
          <p:cNvSpPr txBox="1"/>
          <p:nvPr/>
        </p:nvSpPr>
        <p:spPr>
          <a:xfrm>
            <a:off x="9383697" y="1926454"/>
            <a:ext cx="2583402" cy="3693319"/>
          </a:xfrm>
          <a:prstGeom prst="rect">
            <a:avLst/>
          </a:prstGeom>
          <a:noFill/>
        </p:spPr>
        <p:txBody>
          <a:bodyPr wrap="square" rtlCol="0">
            <a:spAutoFit/>
          </a:bodyPr>
          <a:lstStyle/>
          <a:p>
            <a:r>
              <a:rPr lang="en-US" altLang="zh-CN" dirty="0"/>
              <a:t>(2)</a:t>
            </a:r>
            <a:r>
              <a:rPr lang="zh-CN" altLang="en-US" dirty="0"/>
              <a:t>无意识</a:t>
            </a:r>
            <a:endParaRPr lang="en-US" altLang="zh-CN" dirty="0"/>
          </a:p>
          <a:p>
            <a:r>
              <a:rPr lang="zh-CN" altLang="en-US" dirty="0"/>
              <a:t>您好老师，位于</a:t>
            </a:r>
            <a:r>
              <a:rPr lang="zh-CN" altLang="en-US" sz="1800" dirty="0"/>
              <a:t>大连博览中心</a:t>
            </a:r>
            <a:r>
              <a:rPr lang="en-US" altLang="zh-CN" sz="1800" dirty="0"/>
              <a:t>C</a:t>
            </a:r>
            <a:r>
              <a:rPr lang="zh-CN" altLang="en-US" sz="1800" dirty="0"/>
              <a:t>馆，一名男性，无呼吸无意识，进行</a:t>
            </a:r>
            <a:r>
              <a:rPr lang="en-US" altLang="zh-CN" sz="1800" dirty="0"/>
              <a:t>CPR</a:t>
            </a:r>
            <a:r>
              <a:rPr lang="zh-CN" altLang="en-US" sz="1800" dirty="0"/>
              <a:t>第二组，氧气使用，无</a:t>
            </a:r>
            <a:r>
              <a:rPr lang="en-US" altLang="zh-CN" sz="1800" dirty="0"/>
              <a:t>AED</a:t>
            </a:r>
            <a:r>
              <a:rPr lang="zh-CN" altLang="en-US" sz="1800" dirty="0"/>
              <a:t>可用，</a:t>
            </a:r>
            <a:r>
              <a:rPr lang="zh-CN" altLang="en-US" dirty="0"/>
              <a:t>我们是志愿急救员，目前三人参与急救，血压，脉搏，血氧（这种情况通讯员可以要求三方通话让调度员把出车医生拉进通话然后告知数据）</a:t>
            </a:r>
            <a:endParaRPr lang="en-US" altLang="zh-CN" dirty="0"/>
          </a:p>
          <a:p>
            <a:endParaRPr lang="zh-CN" altLang="en-US" dirty="0"/>
          </a:p>
        </p:txBody>
      </p:sp>
    </p:spTree>
    <p:extLst>
      <p:ext uri="{BB962C8B-B14F-4D97-AF65-F5344CB8AC3E}">
        <p14:creationId xmlns:p14="http://schemas.microsoft.com/office/powerpoint/2010/main" val="18718598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1015663"/>
          </a:xfrm>
          <a:prstGeom prst="rect">
            <a:avLst/>
          </a:prstGeom>
          <a:noFill/>
        </p:spPr>
        <p:txBody>
          <a:bodyPr wrap="square" rtlCol="0">
            <a:spAutoFit/>
          </a:bodyPr>
          <a:lstStyle/>
          <a:p>
            <a:r>
              <a:rPr lang="zh-CN" altLang="en-US" sz="3200" dirty="0"/>
              <a:t>何时需要</a:t>
            </a:r>
            <a:r>
              <a:rPr lang="en-US" altLang="zh-CN" sz="3200" dirty="0"/>
              <a:t>ALS/</a:t>
            </a:r>
            <a:r>
              <a:rPr lang="zh-CN" altLang="en-US" sz="3200" dirty="0"/>
              <a:t>如何呼叫</a:t>
            </a:r>
            <a:r>
              <a:rPr lang="en-US" altLang="zh-CN" sz="3200" dirty="0"/>
              <a:t>ALS	</a:t>
            </a:r>
            <a:r>
              <a:rPr lang="zh-CN" altLang="en-US" sz="3200" dirty="0"/>
              <a:t>技能类型：</a:t>
            </a:r>
            <a:r>
              <a:rPr lang="en-US" altLang="zh-CN" sz="3200" dirty="0">
                <a:solidFill>
                  <a:srgbClr val="FF0000"/>
                </a:solidFill>
              </a:rPr>
              <a:t>Z S </a:t>
            </a:r>
          </a:p>
          <a:p>
            <a:r>
              <a:rPr lang="en-US" altLang="zh-CN" sz="2800" dirty="0">
                <a:solidFill>
                  <a:srgbClr val="FFC000"/>
                </a:solidFill>
              </a:rPr>
              <a:t>(</a:t>
            </a:r>
            <a:r>
              <a:rPr lang="zh-CN" altLang="en-US" sz="2800" dirty="0">
                <a:solidFill>
                  <a:srgbClr val="FFC000"/>
                </a:solidFill>
              </a:rPr>
              <a:t>这里将救护车设定为</a:t>
            </a:r>
            <a:r>
              <a:rPr lang="en-US" altLang="zh-CN" sz="2800" dirty="0">
                <a:solidFill>
                  <a:srgbClr val="FFC000"/>
                </a:solidFill>
              </a:rPr>
              <a:t>ALS</a:t>
            </a:r>
            <a:r>
              <a:rPr lang="zh-CN" altLang="en-US" sz="2800" dirty="0">
                <a:solidFill>
                  <a:srgbClr val="FFC000"/>
                </a:solidFill>
              </a:rPr>
              <a:t>高级生命支持单位</a:t>
            </a:r>
            <a:r>
              <a:rPr lang="en-US" altLang="zh-CN" sz="2800" dirty="0">
                <a:solidFill>
                  <a:srgbClr val="FFC000"/>
                </a:solidFill>
              </a:rPr>
              <a:t>)</a:t>
            </a:r>
            <a:endParaRPr lang="zh-CN" altLang="en-US" sz="2800" dirty="0">
              <a:solidFill>
                <a:srgbClr val="FFC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3" name="文本框 12">
            <a:extLst>
              <a:ext uri="{FF2B5EF4-FFF2-40B4-BE49-F238E27FC236}">
                <a16:creationId xmlns:a16="http://schemas.microsoft.com/office/drawing/2014/main" id="{92915A7F-47AE-4C9C-959C-7379E650C0FC}"/>
              </a:ext>
            </a:extLst>
          </p:cNvPr>
          <p:cNvSpPr txBox="1"/>
          <p:nvPr/>
        </p:nvSpPr>
        <p:spPr>
          <a:xfrm>
            <a:off x="319230" y="1617478"/>
            <a:ext cx="4394200" cy="3139321"/>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4.</a:t>
            </a:r>
            <a:r>
              <a:rPr lang="zh-CN" altLang="en-US" sz="2400" b="1" dirty="0"/>
              <a:t>体育赛事举例（以</a:t>
            </a:r>
            <a:r>
              <a:rPr lang="en-US" altLang="zh-CN" sz="2400" b="1" dirty="0"/>
              <a:t>15</a:t>
            </a:r>
            <a:r>
              <a:rPr lang="zh-CN" altLang="en-US" sz="2400" b="1" dirty="0"/>
              <a:t>公里处举例）一般使用对讲机</a:t>
            </a:r>
            <a:endParaRPr lang="en-US" altLang="zh-CN" sz="2400" b="1" dirty="0"/>
          </a:p>
          <a:p>
            <a:pPr marL="0" algn="l" rtl="0" eaLnBrk="1" latinLnBrk="0" hangingPunct="1">
              <a:spcBef>
                <a:spcPts val="0"/>
              </a:spcBef>
              <a:spcAft>
                <a:spcPts val="0"/>
              </a:spcAft>
            </a:pPr>
            <a:r>
              <a:rPr lang="zh-CN" altLang="en-US" sz="2400" b="1" dirty="0"/>
              <a:t> </a:t>
            </a:r>
            <a:r>
              <a:rPr lang="en-US" altLang="zh-CN" dirty="0"/>
              <a:t>(1)</a:t>
            </a:r>
            <a:r>
              <a:rPr lang="zh-CN" altLang="en-US" dirty="0"/>
              <a:t>有意识</a:t>
            </a:r>
            <a:endParaRPr lang="en-US" altLang="zh-CN" dirty="0"/>
          </a:p>
          <a:p>
            <a:pPr marL="0" algn="l" rtl="0" eaLnBrk="1" latinLnBrk="0" hangingPunct="1">
              <a:spcBef>
                <a:spcPts val="0"/>
              </a:spcBef>
              <a:spcAft>
                <a:spcPts val="0"/>
              </a:spcAft>
            </a:pPr>
            <a:r>
              <a:rPr lang="zh-CN" altLang="en-US" dirty="0"/>
              <a:t>紧急呼叫，紧急呼叫，</a:t>
            </a:r>
            <a:r>
              <a:rPr lang="en-US" altLang="zh-CN" dirty="0"/>
              <a:t>15</a:t>
            </a:r>
            <a:r>
              <a:rPr lang="zh-CN" altLang="en-US" dirty="0"/>
              <a:t>公里处，男性跑者编号</a:t>
            </a:r>
            <a:r>
              <a:rPr lang="en-US" altLang="zh-CN" dirty="0"/>
              <a:t>H1145</a:t>
            </a:r>
            <a:r>
              <a:rPr lang="zh-CN" altLang="en-US" dirty="0"/>
              <a:t>，腿部刮伤止血效果差，需要救护车</a:t>
            </a:r>
            <a:endParaRPr lang="en-US" altLang="zh-CN" dirty="0"/>
          </a:p>
          <a:p>
            <a:pPr marL="0" algn="l" rtl="0" eaLnBrk="1" latinLnBrk="0" hangingPunct="1">
              <a:spcBef>
                <a:spcPts val="0"/>
              </a:spcBef>
              <a:spcAft>
                <a:spcPts val="0"/>
              </a:spcAft>
            </a:pPr>
            <a:r>
              <a:rPr lang="en-US" altLang="zh-CN" dirty="0"/>
              <a:t>(2)</a:t>
            </a:r>
            <a:r>
              <a:rPr lang="zh-CN" altLang="en-US" dirty="0"/>
              <a:t>无意识</a:t>
            </a:r>
            <a:endParaRPr lang="en-US" altLang="zh-CN" dirty="0"/>
          </a:p>
          <a:p>
            <a:r>
              <a:rPr lang="zh-CN" altLang="en-US" dirty="0"/>
              <a:t>紧急呼叫，紧急呼叫，</a:t>
            </a:r>
            <a:r>
              <a:rPr lang="en-US" altLang="zh-CN" dirty="0"/>
              <a:t>15</a:t>
            </a:r>
            <a:r>
              <a:rPr lang="zh-CN" altLang="en-US" dirty="0"/>
              <a:t>公里处，男性跑者编号</a:t>
            </a:r>
            <a:r>
              <a:rPr lang="en-US" altLang="zh-CN" dirty="0"/>
              <a:t>H1145</a:t>
            </a:r>
            <a:r>
              <a:rPr lang="zh-CN" altLang="en-US" dirty="0"/>
              <a:t>，无呼吸无意识开始心肺复苏，</a:t>
            </a:r>
            <a:r>
              <a:rPr lang="en-US" altLang="zh-CN" dirty="0"/>
              <a:t>AED</a:t>
            </a:r>
            <a:r>
              <a:rPr lang="zh-CN" altLang="en-US" dirty="0"/>
              <a:t>介入了，需要救护车</a:t>
            </a:r>
            <a:endParaRPr lang="en-US" altLang="zh-CN" dirty="0"/>
          </a:p>
        </p:txBody>
      </p:sp>
    </p:spTree>
    <p:extLst>
      <p:ext uri="{BB962C8B-B14F-4D97-AF65-F5344CB8AC3E}">
        <p14:creationId xmlns:p14="http://schemas.microsoft.com/office/powerpoint/2010/main" val="103097457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584775"/>
          </a:xfrm>
          <a:prstGeom prst="rect">
            <a:avLst/>
          </a:prstGeom>
          <a:noFill/>
        </p:spPr>
        <p:txBody>
          <a:bodyPr wrap="square" rtlCol="0">
            <a:spAutoFit/>
          </a:bodyPr>
          <a:lstStyle/>
          <a:p>
            <a:r>
              <a:rPr lang="zh-CN" altLang="en-US" sz="3200" dirty="0"/>
              <a:t>中度创伤处置（</a:t>
            </a:r>
            <a:r>
              <a:rPr lang="en-US" altLang="zh-CN" sz="3200" dirty="0"/>
              <a:t>Moderate Trauma</a:t>
            </a:r>
            <a:r>
              <a:rPr lang="zh-CN" altLang="en-US" sz="3200" dirty="0"/>
              <a:t>）技能类型：</a:t>
            </a:r>
            <a:r>
              <a:rPr lang="en-US" altLang="zh-CN" sz="3200" dirty="0">
                <a:solidFill>
                  <a:srgbClr val="FF0000"/>
                </a:solidFill>
              </a:rPr>
              <a:t>Z S </a:t>
            </a:r>
            <a:endParaRPr lang="zh-CN" altLang="en-US" sz="3200" dirty="0">
              <a:solidFill>
                <a:srgbClr val="FF0000"/>
              </a:solidFill>
            </a:endParaRPr>
          </a:p>
        </p:txBody>
      </p:sp>
      <p:sp>
        <p:nvSpPr>
          <p:cNvPr id="7" name="文本框 6">
            <a:extLst>
              <a:ext uri="{FF2B5EF4-FFF2-40B4-BE49-F238E27FC236}">
                <a16:creationId xmlns:a16="http://schemas.microsoft.com/office/drawing/2014/main" id="{67E5D763-4021-45CB-9C4E-F1BC3EE74D1F}"/>
              </a:ext>
            </a:extLst>
          </p:cNvPr>
          <p:cNvSpPr txBox="1"/>
          <p:nvPr/>
        </p:nvSpPr>
        <p:spPr>
          <a:xfrm>
            <a:off x="9069819" y="1646173"/>
            <a:ext cx="2788806" cy="461665"/>
          </a:xfrm>
          <a:prstGeom prst="rect">
            <a:avLst/>
          </a:prstGeom>
          <a:noFill/>
        </p:spPr>
        <p:txBody>
          <a:bodyPr wrap="square" rtlCol="0">
            <a:spAutoFit/>
          </a:bodyPr>
          <a:lstStyle/>
          <a:p>
            <a:pPr marL="0" algn="l" rtl="0" eaLnBrk="1" latinLnBrk="0" hangingPunct="1">
              <a:spcBef>
                <a:spcPts val="0"/>
              </a:spcBef>
              <a:spcAft>
                <a:spcPts val="0"/>
              </a:spcAft>
            </a:pPr>
            <a:r>
              <a:rPr lang="zh-CN" altLang="en-US" sz="2400" b="1" dirty="0"/>
              <a:t>中度创伤处置流程：</a:t>
            </a:r>
            <a:endParaRPr lang="en-US" altLang="zh-CN" sz="2400" b="1" dirty="0"/>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1" name="文本框 10">
            <a:extLst>
              <a:ext uri="{FF2B5EF4-FFF2-40B4-BE49-F238E27FC236}">
                <a16:creationId xmlns:a16="http://schemas.microsoft.com/office/drawing/2014/main" id="{943A8294-4391-4F1F-80CB-F788843F1B7B}"/>
              </a:ext>
            </a:extLst>
          </p:cNvPr>
          <p:cNvSpPr txBox="1"/>
          <p:nvPr/>
        </p:nvSpPr>
        <p:spPr>
          <a:xfrm>
            <a:off x="8955519" y="2246975"/>
            <a:ext cx="2722131" cy="4401205"/>
          </a:xfrm>
          <a:prstGeom prst="rect">
            <a:avLst/>
          </a:prstGeom>
          <a:noFill/>
        </p:spPr>
        <p:txBody>
          <a:bodyPr wrap="square" rtlCol="0">
            <a:spAutoFit/>
          </a:bodyPr>
          <a:lstStyle/>
          <a:p>
            <a:pPr marL="0" algn="l" rtl="0" eaLnBrk="1" latinLnBrk="0" hangingPunct="1">
              <a:spcBef>
                <a:spcPts val="0"/>
              </a:spcBef>
              <a:spcAft>
                <a:spcPts val="0"/>
              </a:spcAft>
            </a:pPr>
            <a:r>
              <a:rPr lang="en-US" altLang="zh-CN" sz="2000" dirty="0"/>
              <a:t>1.</a:t>
            </a:r>
            <a:r>
              <a:rPr lang="zh-CN" altLang="en-US" sz="2000" dirty="0"/>
              <a:t>周围环境安全</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2.</a:t>
            </a:r>
            <a:r>
              <a:rPr lang="zh-CN" altLang="en-US" sz="2000" dirty="0"/>
              <a:t>个人安全防护</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3.</a:t>
            </a:r>
            <a:r>
              <a:rPr lang="zh-CN" altLang="en-US" sz="2000" dirty="0"/>
              <a:t>评估伤情</a:t>
            </a:r>
            <a:endParaRPr lang="en-US" altLang="zh-CN" sz="2000" dirty="0"/>
          </a:p>
          <a:p>
            <a:pPr marL="0" algn="l" rtl="0" eaLnBrk="1" latinLnBrk="0" hangingPunct="1">
              <a:spcBef>
                <a:spcPts val="0"/>
              </a:spcBef>
              <a:spcAft>
                <a:spcPts val="0"/>
              </a:spcAft>
            </a:pPr>
            <a:r>
              <a:rPr lang="en-US" altLang="zh-CN" sz="2000" dirty="0"/>
              <a:t>(</a:t>
            </a:r>
            <a:r>
              <a:rPr lang="zh-CN" altLang="en-US" sz="2000" dirty="0"/>
              <a:t>观察伤口</a:t>
            </a:r>
            <a:r>
              <a:rPr lang="en-US" altLang="zh-CN" sz="2000" dirty="0"/>
              <a:t>+</a:t>
            </a:r>
            <a:r>
              <a:rPr lang="zh-CN" altLang="en-US" sz="2000" dirty="0"/>
              <a:t>询问伤者）</a:t>
            </a:r>
            <a:endParaRPr lang="en-US" altLang="zh-CN" sz="2000" dirty="0"/>
          </a:p>
          <a:p>
            <a:pPr marL="0" algn="l" rtl="0" eaLnBrk="1" latinLnBrk="0" hangingPunct="1">
              <a:spcBef>
                <a:spcPts val="0"/>
              </a:spcBef>
              <a:spcAft>
                <a:spcPts val="0"/>
              </a:spcAft>
            </a:pPr>
            <a:r>
              <a:rPr lang="en-US" altLang="zh-CN" sz="2000" dirty="0"/>
              <a:t>4.</a:t>
            </a:r>
            <a:r>
              <a:rPr lang="zh-CN" altLang="en-US" sz="2000" dirty="0"/>
              <a:t>出血控制</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5.</a:t>
            </a:r>
            <a:r>
              <a:rPr lang="zh-CN" altLang="en-US" sz="2000" dirty="0"/>
              <a:t>伤口处理</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6.</a:t>
            </a:r>
            <a:r>
              <a:rPr lang="zh-CN" altLang="en-US" sz="2000" dirty="0"/>
              <a:t>预防休克</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7.</a:t>
            </a:r>
            <a:r>
              <a:rPr lang="zh-CN" altLang="en-US" sz="2000" dirty="0"/>
              <a:t>记录与汇报</a:t>
            </a:r>
            <a:r>
              <a:rPr lang="en-US" altLang="zh-CN" sz="2000" dirty="0"/>
              <a:t>+</a:t>
            </a:r>
            <a:r>
              <a:rPr lang="zh-CN" altLang="en-US" sz="2000" dirty="0"/>
              <a:t>高级生命支持系统（</a:t>
            </a:r>
            <a:r>
              <a:rPr lang="en-US" altLang="zh-CN" sz="2000" dirty="0"/>
              <a:t>ALS</a:t>
            </a:r>
            <a:r>
              <a:rPr lang="zh-CN" altLang="en-US" sz="2000" dirty="0"/>
              <a:t>可选</a:t>
            </a:r>
            <a:r>
              <a:rPr lang="en-US" altLang="zh-CN" sz="2000" dirty="0"/>
              <a:t>)</a:t>
            </a:r>
          </a:p>
        </p:txBody>
      </p:sp>
      <p:sp>
        <p:nvSpPr>
          <p:cNvPr id="12" name="文本框 11">
            <a:extLst>
              <a:ext uri="{FF2B5EF4-FFF2-40B4-BE49-F238E27FC236}">
                <a16:creationId xmlns:a16="http://schemas.microsoft.com/office/drawing/2014/main" id="{AE35541F-5F3F-40C0-8D12-979A98267C99}"/>
              </a:ext>
            </a:extLst>
          </p:cNvPr>
          <p:cNvSpPr txBox="1"/>
          <p:nvPr/>
        </p:nvSpPr>
        <p:spPr>
          <a:xfrm>
            <a:off x="142226" y="1085538"/>
            <a:ext cx="4394200" cy="461665"/>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1.</a:t>
            </a:r>
            <a:r>
              <a:rPr lang="zh-CN" altLang="en-US" sz="2400" b="1" dirty="0"/>
              <a:t>周围环境安全 </a:t>
            </a:r>
            <a:r>
              <a:rPr lang="en-US" altLang="zh-CN" sz="2400" b="1" dirty="0">
                <a:solidFill>
                  <a:srgbClr val="FF0000"/>
                </a:solidFill>
              </a:rPr>
              <a:t>L</a:t>
            </a:r>
            <a:endParaRPr lang="en-US" altLang="zh-CN" sz="2400" b="1" dirty="0"/>
          </a:p>
        </p:txBody>
      </p:sp>
      <p:sp>
        <p:nvSpPr>
          <p:cNvPr id="13" name="文本框 12">
            <a:extLst>
              <a:ext uri="{FF2B5EF4-FFF2-40B4-BE49-F238E27FC236}">
                <a16:creationId xmlns:a16="http://schemas.microsoft.com/office/drawing/2014/main" id="{C3CC3023-FAB0-4EEB-9885-55073D462B70}"/>
              </a:ext>
            </a:extLst>
          </p:cNvPr>
          <p:cNvSpPr txBox="1"/>
          <p:nvPr/>
        </p:nvSpPr>
        <p:spPr>
          <a:xfrm>
            <a:off x="142226" y="1554657"/>
            <a:ext cx="4394200" cy="1384995"/>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2.</a:t>
            </a:r>
            <a:r>
              <a:rPr lang="zh-CN" altLang="en-US" sz="2400" b="1" dirty="0"/>
              <a:t>个人安全防护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dirty="0"/>
              <a:t>	</a:t>
            </a:r>
            <a:r>
              <a:rPr lang="en-US" altLang="zh-CN" dirty="0"/>
              <a:t>1.</a:t>
            </a:r>
            <a:r>
              <a:rPr lang="zh-CN" altLang="en-US" dirty="0"/>
              <a:t>丁晴手套</a:t>
            </a:r>
            <a:r>
              <a:rPr lang="zh-CN" altLang="en-US" dirty="0">
                <a:solidFill>
                  <a:srgbClr val="FF0000"/>
                </a:solidFill>
              </a:rPr>
              <a:t>（强制）</a:t>
            </a:r>
            <a:endParaRPr lang="en-US" altLang="zh-CN" dirty="0">
              <a:solidFill>
                <a:srgbClr val="FF0000"/>
              </a:solidFill>
            </a:endParaRPr>
          </a:p>
          <a:p>
            <a:pPr marL="0" algn="l" rtl="0" eaLnBrk="1" latinLnBrk="0" hangingPunct="1">
              <a:spcBef>
                <a:spcPts val="0"/>
              </a:spcBef>
              <a:spcAft>
                <a:spcPts val="0"/>
              </a:spcAft>
            </a:pPr>
            <a:r>
              <a:rPr lang="en-US" altLang="zh-CN" dirty="0"/>
              <a:t>	2.</a:t>
            </a:r>
            <a:r>
              <a:rPr lang="zh-CN" altLang="en-US" dirty="0"/>
              <a:t>护目镜（涉及到血液和体液飞溅的情况）</a:t>
            </a:r>
            <a:endParaRPr lang="en-US" altLang="zh-CN" dirty="0"/>
          </a:p>
        </p:txBody>
      </p:sp>
      <p:sp>
        <p:nvSpPr>
          <p:cNvPr id="14" name="文本框 13">
            <a:extLst>
              <a:ext uri="{FF2B5EF4-FFF2-40B4-BE49-F238E27FC236}">
                <a16:creationId xmlns:a16="http://schemas.microsoft.com/office/drawing/2014/main" id="{5B455846-0119-4EEE-BFF9-9BDB4CD7C14C}"/>
              </a:ext>
            </a:extLst>
          </p:cNvPr>
          <p:cNvSpPr txBox="1"/>
          <p:nvPr/>
        </p:nvSpPr>
        <p:spPr>
          <a:xfrm>
            <a:off x="142226" y="2939652"/>
            <a:ext cx="4394200" cy="3046988"/>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3.</a:t>
            </a:r>
            <a:r>
              <a:rPr lang="zh-CN" altLang="en-US" sz="2400" b="1" dirty="0"/>
              <a:t>评估伤情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dirty="0"/>
              <a:t>	</a:t>
            </a:r>
            <a:r>
              <a:rPr lang="en-US" altLang="zh-CN" dirty="0"/>
              <a:t>1.</a:t>
            </a:r>
            <a:r>
              <a:rPr lang="zh-CN" altLang="en-US" dirty="0"/>
              <a:t>观察伤口是否出血、出血量是否较多、是否有异物、是否伴随骨折或肢体畸形、是否出现头晕或面色苍白</a:t>
            </a:r>
            <a:endParaRPr lang="en-US" altLang="zh-CN" dirty="0"/>
          </a:p>
          <a:p>
            <a:pPr marL="0" algn="l" rtl="0" eaLnBrk="1" latinLnBrk="0" hangingPunct="1">
              <a:spcBef>
                <a:spcPts val="0"/>
              </a:spcBef>
              <a:spcAft>
                <a:spcPts val="0"/>
              </a:spcAft>
            </a:pPr>
            <a:r>
              <a:rPr lang="en-US" altLang="zh-CN" dirty="0"/>
              <a:t>	2.</a:t>
            </a:r>
            <a:r>
              <a:rPr lang="zh-CN" altLang="en-US" dirty="0"/>
              <a:t>询问伤者是否有其他不适</a:t>
            </a:r>
            <a:endParaRPr lang="en-US" altLang="zh-CN" dirty="0"/>
          </a:p>
          <a:p>
            <a:pPr marL="0" algn="l" rtl="0" eaLnBrk="1" latinLnBrk="0" hangingPunct="1">
              <a:spcBef>
                <a:spcPts val="0"/>
              </a:spcBef>
              <a:spcAft>
                <a:spcPts val="0"/>
              </a:spcAft>
            </a:pPr>
            <a:r>
              <a:rPr lang="en-US" altLang="zh-CN" dirty="0"/>
              <a:t>	3.</a:t>
            </a:r>
            <a:r>
              <a:rPr lang="zh-CN" altLang="en-US" dirty="0"/>
              <a:t>出现以下情况需 升级为</a:t>
            </a:r>
            <a:r>
              <a:rPr lang="zh-CN" altLang="en-US" b="1" dirty="0"/>
              <a:t>重伤</a:t>
            </a:r>
            <a:r>
              <a:rPr lang="zh-CN" altLang="en-US" dirty="0"/>
              <a:t>处理</a:t>
            </a:r>
            <a:endParaRPr lang="en-US" altLang="zh-CN" dirty="0"/>
          </a:p>
          <a:p>
            <a:pPr marL="0" algn="l" rtl="0" eaLnBrk="1" latinLnBrk="0" hangingPunct="1">
              <a:spcBef>
                <a:spcPts val="0"/>
              </a:spcBef>
              <a:spcAft>
                <a:spcPts val="0"/>
              </a:spcAft>
            </a:pPr>
            <a:r>
              <a:rPr lang="en-US" altLang="zh-CN" dirty="0"/>
              <a:t>	(1)</a:t>
            </a:r>
            <a:r>
              <a:rPr lang="zh-CN" altLang="en-US" dirty="0"/>
              <a:t>大量出血</a:t>
            </a:r>
            <a:endParaRPr lang="en-US" altLang="zh-CN" dirty="0"/>
          </a:p>
          <a:p>
            <a:pPr marL="0" algn="l" rtl="0" eaLnBrk="1" latinLnBrk="0" hangingPunct="1">
              <a:spcBef>
                <a:spcPts val="0"/>
              </a:spcBef>
              <a:spcAft>
                <a:spcPts val="0"/>
              </a:spcAft>
            </a:pPr>
            <a:r>
              <a:rPr lang="en-US" altLang="zh-CN" dirty="0"/>
              <a:t>	(2)</a:t>
            </a:r>
            <a:r>
              <a:rPr lang="zh-CN" altLang="en-US" dirty="0"/>
              <a:t>呼吸困难</a:t>
            </a:r>
            <a:endParaRPr lang="en-US" altLang="zh-CN" dirty="0"/>
          </a:p>
          <a:p>
            <a:pPr marL="0" algn="l" rtl="0" eaLnBrk="1" latinLnBrk="0" hangingPunct="1">
              <a:spcBef>
                <a:spcPts val="0"/>
              </a:spcBef>
              <a:spcAft>
                <a:spcPts val="0"/>
              </a:spcAft>
            </a:pPr>
            <a:r>
              <a:rPr lang="en-US" altLang="zh-CN" dirty="0"/>
              <a:t>	(3)</a:t>
            </a:r>
            <a:r>
              <a:rPr lang="zh-CN" altLang="en-US" dirty="0"/>
              <a:t>意识异常</a:t>
            </a:r>
            <a:endParaRPr lang="en-US" altLang="zh-CN" dirty="0"/>
          </a:p>
        </p:txBody>
      </p:sp>
      <p:sp>
        <p:nvSpPr>
          <p:cNvPr id="19" name="文本框 18">
            <a:extLst>
              <a:ext uri="{FF2B5EF4-FFF2-40B4-BE49-F238E27FC236}">
                <a16:creationId xmlns:a16="http://schemas.microsoft.com/office/drawing/2014/main" id="{1CBE7CA6-FDF1-48A4-BCAF-8545BDDA2453}"/>
              </a:ext>
            </a:extLst>
          </p:cNvPr>
          <p:cNvSpPr txBox="1"/>
          <p:nvPr/>
        </p:nvSpPr>
        <p:spPr>
          <a:xfrm>
            <a:off x="4305854" y="891625"/>
            <a:ext cx="4394200" cy="3508653"/>
          </a:xfrm>
          <a:prstGeom prst="rect">
            <a:avLst/>
          </a:prstGeom>
          <a:noFill/>
        </p:spPr>
        <p:txBody>
          <a:bodyPr wrap="square" rtlCol="0">
            <a:spAutoFit/>
          </a:bodyPr>
          <a:lstStyle/>
          <a:p>
            <a:r>
              <a:rPr lang="en-US" altLang="zh-CN" sz="2400" b="1" dirty="0"/>
              <a:t>4.</a:t>
            </a:r>
            <a:r>
              <a:rPr lang="zh-CN" altLang="en-US" sz="2400" b="1" dirty="0"/>
              <a:t>持续出血控制 </a:t>
            </a:r>
            <a:r>
              <a:rPr lang="en-US" altLang="zh-CN" sz="2400" b="1" dirty="0">
                <a:solidFill>
                  <a:srgbClr val="FF0000"/>
                </a:solidFill>
              </a:rPr>
              <a:t>H</a:t>
            </a:r>
          </a:p>
          <a:p>
            <a:r>
              <a:rPr lang="zh-CN" altLang="en-US" b="1" dirty="0"/>
              <a:t>（涉及到大量持续出血均视为重伤需要呼叫救护车单位）</a:t>
            </a:r>
            <a:endParaRPr lang="en-US" altLang="zh-CN" b="1" dirty="0"/>
          </a:p>
          <a:p>
            <a:r>
              <a:rPr lang="en-US" altLang="zh-CN" sz="2400" dirty="0"/>
              <a:t>	</a:t>
            </a:r>
            <a:r>
              <a:rPr lang="en-US" altLang="zh-CN" dirty="0"/>
              <a:t>1.</a:t>
            </a:r>
            <a:r>
              <a:rPr lang="zh-CN" altLang="en-US" dirty="0"/>
              <a:t>准备物品</a:t>
            </a:r>
            <a:r>
              <a:rPr lang="en-US" altLang="zh-CN" dirty="0"/>
              <a:t>:</a:t>
            </a:r>
            <a:r>
              <a:rPr lang="zh-CN" altLang="en-US" dirty="0"/>
              <a:t>曲线纱布、敷料块、止血带、绷带</a:t>
            </a:r>
            <a:endParaRPr lang="en-US" altLang="zh-CN" dirty="0"/>
          </a:p>
          <a:p>
            <a:r>
              <a:rPr lang="en-US" altLang="zh-CN" dirty="0"/>
              <a:t>	2.</a:t>
            </a:r>
            <a:r>
              <a:rPr lang="zh-CN" altLang="en-US" dirty="0"/>
              <a:t>四肢大量持续出血需要使用止血带在伤口上方进行捆扎（记录时间）</a:t>
            </a:r>
            <a:endParaRPr lang="en-US" altLang="zh-CN" dirty="0"/>
          </a:p>
          <a:p>
            <a:r>
              <a:rPr lang="en-US" altLang="zh-CN" sz="1600" dirty="0">
                <a:highlight>
                  <a:srgbClr val="C0C0C0"/>
                </a:highlight>
              </a:rPr>
              <a:t>	CAT</a:t>
            </a:r>
            <a:r>
              <a:rPr lang="zh-CN" altLang="en-US" sz="1600" dirty="0">
                <a:highlight>
                  <a:srgbClr val="C0C0C0"/>
                </a:highlight>
              </a:rPr>
              <a:t>止血带的使用目标是完全阻断流向肢体的血流并在捆扎时会导致剧烈疼痛，以用来控制致命的大出血</a:t>
            </a:r>
            <a:endParaRPr lang="en-US" altLang="zh-CN" sz="1600" dirty="0">
              <a:highlight>
                <a:srgbClr val="C0C0C0"/>
              </a:highlight>
            </a:endParaRPr>
          </a:p>
          <a:p>
            <a:r>
              <a:rPr lang="en-US" altLang="zh-CN" dirty="0"/>
              <a:t>	3.</a:t>
            </a:r>
            <a:r>
              <a:rPr lang="zh-CN" altLang="en-US" dirty="0"/>
              <a:t>用敷料 </a:t>
            </a:r>
            <a:r>
              <a:rPr lang="zh-CN" altLang="en-US" b="1" dirty="0"/>
              <a:t>直接压迫止血</a:t>
            </a:r>
            <a:endParaRPr lang="en-US" altLang="zh-CN" b="1" dirty="0"/>
          </a:p>
          <a:p>
            <a:r>
              <a:rPr lang="en-US" altLang="zh-CN" b="1" dirty="0"/>
              <a:t>	</a:t>
            </a:r>
            <a:r>
              <a:rPr lang="en-US" altLang="zh-CN" dirty="0"/>
              <a:t>4.</a:t>
            </a:r>
            <a:r>
              <a:rPr lang="zh-CN" altLang="en-US" dirty="0"/>
              <a:t>使用绷带固定</a:t>
            </a:r>
            <a:endParaRPr lang="en-US" altLang="zh-CN" dirty="0"/>
          </a:p>
        </p:txBody>
      </p:sp>
    </p:spTree>
    <p:extLst>
      <p:ext uri="{BB962C8B-B14F-4D97-AF65-F5344CB8AC3E}">
        <p14:creationId xmlns:p14="http://schemas.microsoft.com/office/powerpoint/2010/main" val="84428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584775"/>
          </a:xfrm>
          <a:prstGeom prst="rect">
            <a:avLst/>
          </a:prstGeom>
          <a:noFill/>
        </p:spPr>
        <p:txBody>
          <a:bodyPr wrap="square" rtlCol="0">
            <a:spAutoFit/>
          </a:bodyPr>
          <a:lstStyle/>
          <a:p>
            <a:r>
              <a:rPr lang="zh-CN" altLang="en-US" sz="3200" dirty="0"/>
              <a:t>中度创伤处置（</a:t>
            </a:r>
            <a:r>
              <a:rPr lang="en-US" altLang="zh-CN" sz="3200" dirty="0"/>
              <a:t>Moderate Trauma</a:t>
            </a:r>
            <a:r>
              <a:rPr lang="zh-CN" altLang="en-US" sz="3200" dirty="0"/>
              <a:t>）技能类型：</a:t>
            </a:r>
            <a:r>
              <a:rPr lang="en-US" altLang="zh-CN" sz="3200" dirty="0">
                <a:solidFill>
                  <a:srgbClr val="FF0000"/>
                </a:solidFill>
              </a:rPr>
              <a:t>Z S </a:t>
            </a:r>
            <a:endParaRPr lang="zh-CN" altLang="en-US" sz="3200" dirty="0">
              <a:solidFill>
                <a:srgbClr val="FF0000"/>
              </a:solidFill>
            </a:endParaRPr>
          </a:p>
        </p:txBody>
      </p:sp>
      <p:sp>
        <p:nvSpPr>
          <p:cNvPr id="7" name="文本框 6">
            <a:extLst>
              <a:ext uri="{FF2B5EF4-FFF2-40B4-BE49-F238E27FC236}">
                <a16:creationId xmlns:a16="http://schemas.microsoft.com/office/drawing/2014/main" id="{67E5D763-4021-45CB-9C4E-F1BC3EE74D1F}"/>
              </a:ext>
            </a:extLst>
          </p:cNvPr>
          <p:cNvSpPr txBox="1"/>
          <p:nvPr/>
        </p:nvSpPr>
        <p:spPr>
          <a:xfrm>
            <a:off x="9069819" y="1646173"/>
            <a:ext cx="2788806" cy="461665"/>
          </a:xfrm>
          <a:prstGeom prst="rect">
            <a:avLst/>
          </a:prstGeom>
          <a:noFill/>
        </p:spPr>
        <p:txBody>
          <a:bodyPr wrap="square" rtlCol="0">
            <a:spAutoFit/>
          </a:bodyPr>
          <a:lstStyle/>
          <a:p>
            <a:pPr marL="0" algn="l" rtl="0" eaLnBrk="1" latinLnBrk="0" hangingPunct="1">
              <a:spcBef>
                <a:spcPts val="0"/>
              </a:spcBef>
              <a:spcAft>
                <a:spcPts val="0"/>
              </a:spcAft>
            </a:pPr>
            <a:r>
              <a:rPr lang="zh-CN" altLang="en-US" sz="2400" b="1" dirty="0"/>
              <a:t>中度创伤处置流程：</a:t>
            </a:r>
            <a:endParaRPr lang="en-US" altLang="zh-CN" sz="2400" b="1" dirty="0"/>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1" name="文本框 10">
            <a:extLst>
              <a:ext uri="{FF2B5EF4-FFF2-40B4-BE49-F238E27FC236}">
                <a16:creationId xmlns:a16="http://schemas.microsoft.com/office/drawing/2014/main" id="{943A8294-4391-4F1F-80CB-F788843F1B7B}"/>
              </a:ext>
            </a:extLst>
          </p:cNvPr>
          <p:cNvSpPr txBox="1"/>
          <p:nvPr/>
        </p:nvSpPr>
        <p:spPr>
          <a:xfrm>
            <a:off x="8955519" y="2246975"/>
            <a:ext cx="2722131" cy="4401205"/>
          </a:xfrm>
          <a:prstGeom prst="rect">
            <a:avLst/>
          </a:prstGeom>
          <a:noFill/>
        </p:spPr>
        <p:txBody>
          <a:bodyPr wrap="square" rtlCol="0">
            <a:spAutoFit/>
          </a:bodyPr>
          <a:lstStyle/>
          <a:p>
            <a:pPr marL="0" algn="l" rtl="0" eaLnBrk="1" latinLnBrk="0" hangingPunct="1">
              <a:spcBef>
                <a:spcPts val="0"/>
              </a:spcBef>
              <a:spcAft>
                <a:spcPts val="0"/>
              </a:spcAft>
            </a:pPr>
            <a:r>
              <a:rPr lang="en-US" altLang="zh-CN" sz="2000" dirty="0"/>
              <a:t>1.</a:t>
            </a:r>
            <a:r>
              <a:rPr lang="zh-CN" altLang="en-US" sz="2000" dirty="0"/>
              <a:t>周围环境安全</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2.</a:t>
            </a:r>
            <a:r>
              <a:rPr lang="zh-CN" altLang="en-US" sz="2000" dirty="0"/>
              <a:t>个人安全防护</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3.</a:t>
            </a:r>
            <a:r>
              <a:rPr lang="zh-CN" altLang="en-US" sz="2000" dirty="0"/>
              <a:t>评估伤情</a:t>
            </a:r>
            <a:endParaRPr lang="en-US" altLang="zh-CN" sz="2000" dirty="0"/>
          </a:p>
          <a:p>
            <a:pPr marL="0" algn="l" rtl="0" eaLnBrk="1" latinLnBrk="0" hangingPunct="1">
              <a:spcBef>
                <a:spcPts val="0"/>
              </a:spcBef>
              <a:spcAft>
                <a:spcPts val="0"/>
              </a:spcAft>
            </a:pPr>
            <a:r>
              <a:rPr lang="en-US" altLang="zh-CN" sz="2000" dirty="0"/>
              <a:t>(</a:t>
            </a:r>
            <a:r>
              <a:rPr lang="zh-CN" altLang="en-US" sz="2000" dirty="0"/>
              <a:t>观察伤口</a:t>
            </a:r>
            <a:r>
              <a:rPr lang="en-US" altLang="zh-CN" sz="2000" dirty="0"/>
              <a:t>+</a:t>
            </a:r>
            <a:r>
              <a:rPr lang="zh-CN" altLang="en-US" sz="2000" dirty="0"/>
              <a:t>询问伤者）</a:t>
            </a:r>
            <a:endParaRPr lang="en-US" altLang="zh-CN" sz="2000" dirty="0"/>
          </a:p>
          <a:p>
            <a:pPr marL="0" algn="l" rtl="0" eaLnBrk="1" latinLnBrk="0" hangingPunct="1">
              <a:spcBef>
                <a:spcPts val="0"/>
              </a:spcBef>
              <a:spcAft>
                <a:spcPts val="0"/>
              </a:spcAft>
            </a:pPr>
            <a:r>
              <a:rPr lang="en-US" altLang="zh-CN" sz="2000" dirty="0"/>
              <a:t>4.</a:t>
            </a:r>
            <a:r>
              <a:rPr lang="zh-CN" altLang="en-US" sz="2000" dirty="0"/>
              <a:t>出血控制</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5.</a:t>
            </a:r>
            <a:r>
              <a:rPr lang="zh-CN" altLang="en-US" sz="2000" dirty="0"/>
              <a:t>伤口处理</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6.</a:t>
            </a:r>
            <a:r>
              <a:rPr lang="zh-CN" altLang="en-US" sz="2000" dirty="0"/>
              <a:t>预防休克</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7.</a:t>
            </a:r>
            <a:r>
              <a:rPr lang="zh-CN" altLang="en-US" sz="2000" dirty="0"/>
              <a:t>记录与汇报</a:t>
            </a:r>
            <a:r>
              <a:rPr lang="en-US" altLang="zh-CN" sz="2000" dirty="0"/>
              <a:t>+</a:t>
            </a:r>
            <a:r>
              <a:rPr lang="zh-CN" altLang="en-US" sz="2000" dirty="0"/>
              <a:t>高级生命支持系统（</a:t>
            </a:r>
            <a:r>
              <a:rPr lang="en-US" altLang="zh-CN" sz="2000" dirty="0"/>
              <a:t>ALS</a:t>
            </a:r>
            <a:r>
              <a:rPr lang="zh-CN" altLang="en-US" sz="2000" dirty="0"/>
              <a:t>可选</a:t>
            </a:r>
            <a:r>
              <a:rPr lang="en-US" altLang="zh-CN" sz="2000" dirty="0"/>
              <a:t>)</a:t>
            </a:r>
          </a:p>
        </p:txBody>
      </p:sp>
      <p:sp>
        <p:nvSpPr>
          <p:cNvPr id="18" name="文本框 17">
            <a:extLst>
              <a:ext uri="{FF2B5EF4-FFF2-40B4-BE49-F238E27FC236}">
                <a16:creationId xmlns:a16="http://schemas.microsoft.com/office/drawing/2014/main" id="{6AC42F80-9833-4520-8512-815AD898957F}"/>
              </a:ext>
            </a:extLst>
          </p:cNvPr>
          <p:cNvSpPr txBox="1"/>
          <p:nvPr/>
        </p:nvSpPr>
        <p:spPr>
          <a:xfrm>
            <a:off x="207839" y="1052677"/>
            <a:ext cx="4394200" cy="2492990"/>
          </a:xfrm>
          <a:prstGeom prst="rect">
            <a:avLst/>
          </a:prstGeom>
          <a:noFill/>
        </p:spPr>
        <p:txBody>
          <a:bodyPr wrap="square" rtlCol="0">
            <a:spAutoFit/>
          </a:bodyPr>
          <a:lstStyle/>
          <a:p>
            <a:r>
              <a:rPr lang="en-US" altLang="zh-CN" sz="2400" b="1" dirty="0"/>
              <a:t>5.</a:t>
            </a:r>
            <a:r>
              <a:rPr lang="zh-CN" altLang="en-US" sz="2400" b="1" dirty="0"/>
              <a:t>伤口处理 </a:t>
            </a:r>
            <a:r>
              <a:rPr lang="en-US" altLang="zh-CN" sz="2400" b="1" dirty="0">
                <a:solidFill>
                  <a:srgbClr val="FF0000"/>
                </a:solidFill>
              </a:rPr>
              <a:t>L</a:t>
            </a:r>
            <a:endParaRPr lang="en-US" altLang="zh-CN" sz="2400" b="1" dirty="0"/>
          </a:p>
          <a:p>
            <a:r>
              <a:rPr lang="en-US" altLang="zh-CN" sz="2400" dirty="0"/>
              <a:t>	</a:t>
            </a:r>
            <a:r>
              <a:rPr lang="en-US" altLang="zh-CN" dirty="0"/>
              <a:t>1.</a:t>
            </a:r>
            <a:r>
              <a:rPr lang="zh-CN" altLang="en-US" dirty="0"/>
              <a:t>准备物品</a:t>
            </a:r>
            <a:r>
              <a:rPr lang="en-US" altLang="zh-CN" dirty="0"/>
              <a:t>:</a:t>
            </a:r>
            <a:r>
              <a:rPr lang="zh-CN" altLang="en-US" dirty="0"/>
              <a:t>碘伏喷雾、大瓶生理盐水、配药针头、无菌棉签、敷料块、绷带、曲线纱布</a:t>
            </a:r>
            <a:endParaRPr lang="en-US" altLang="zh-CN" dirty="0"/>
          </a:p>
          <a:p>
            <a:pPr marL="0" algn="l" rtl="0" eaLnBrk="1" latinLnBrk="0" hangingPunct="1">
              <a:spcBef>
                <a:spcPts val="0"/>
              </a:spcBef>
              <a:spcAft>
                <a:spcPts val="0"/>
              </a:spcAft>
            </a:pPr>
            <a:r>
              <a:rPr lang="en-US" altLang="zh-CN" dirty="0"/>
              <a:t>	2.</a:t>
            </a:r>
            <a:r>
              <a:rPr lang="zh-CN" altLang="en-US" dirty="0"/>
              <a:t>检查是否有异物在伤口上，如果结果是肯定的可以使用生理盐水</a:t>
            </a:r>
            <a:r>
              <a:rPr lang="en-US" altLang="zh-CN" dirty="0"/>
              <a:t>+</a:t>
            </a:r>
            <a:r>
              <a:rPr lang="zh-CN" altLang="en-US" dirty="0"/>
              <a:t>棉签进行冲洗</a:t>
            </a:r>
            <a:endParaRPr lang="en-US" altLang="zh-CN" dirty="0"/>
          </a:p>
          <a:p>
            <a:pPr marL="0" algn="l" rtl="0" eaLnBrk="1" latinLnBrk="0" hangingPunct="1">
              <a:spcBef>
                <a:spcPts val="0"/>
              </a:spcBef>
              <a:spcAft>
                <a:spcPts val="0"/>
              </a:spcAft>
            </a:pPr>
            <a:r>
              <a:rPr lang="en-US" altLang="zh-CN" dirty="0"/>
              <a:t>	3.</a:t>
            </a:r>
            <a:r>
              <a:rPr lang="zh-CN" altLang="en-US" dirty="0"/>
              <a:t>敷料和绷带配合固定</a:t>
            </a:r>
            <a:endParaRPr lang="en-US" altLang="zh-CN" dirty="0"/>
          </a:p>
        </p:txBody>
      </p:sp>
      <p:sp>
        <p:nvSpPr>
          <p:cNvPr id="16" name="文本框 15">
            <a:extLst>
              <a:ext uri="{FF2B5EF4-FFF2-40B4-BE49-F238E27FC236}">
                <a16:creationId xmlns:a16="http://schemas.microsoft.com/office/drawing/2014/main" id="{8DE311FF-F76D-4735-AE65-75D2ECB7EF8F}"/>
              </a:ext>
            </a:extLst>
          </p:cNvPr>
          <p:cNvSpPr txBox="1"/>
          <p:nvPr/>
        </p:nvSpPr>
        <p:spPr>
          <a:xfrm>
            <a:off x="207839" y="3545667"/>
            <a:ext cx="4394200" cy="1107996"/>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6.</a:t>
            </a:r>
            <a:r>
              <a:rPr lang="zh-CN" altLang="en-US" sz="2400" b="1" dirty="0"/>
              <a:t>记录与汇报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b="1" dirty="0"/>
              <a:t>	</a:t>
            </a:r>
            <a:r>
              <a:rPr lang="en-US" altLang="zh-CN" dirty="0"/>
              <a:t>1.</a:t>
            </a:r>
            <a:r>
              <a:rPr lang="zh-CN" altLang="en-US" dirty="0"/>
              <a:t>使用表单平台进行拍照伤口，登记信息</a:t>
            </a:r>
            <a:endParaRPr lang="en-US" altLang="zh-CN" sz="2400" dirty="0"/>
          </a:p>
        </p:txBody>
      </p:sp>
    </p:spTree>
    <p:extLst>
      <p:ext uri="{BB962C8B-B14F-4D97-AF65-F5344CB8AC3E}">
        <p14:creationId xmlns:p14="http://schemas.microsoft.com/office/powerpoint/2010/main" val="401837795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584775"/>
          </a:xfrm>
          <a:prstGeom prst="rect">
            <a:avLst/>
          </a:prstGeom>
          <a:noFill/>
        </p:spPr>
        <p:txBody>
          <a:bodyPr wrap="square" rtlCol="0">
            <a:spAutoFit/>
          </a:bodyPr>
          <a:lstStyle/>
          <a:p>
            <a:r>
              <a:rPr lang="zh-CN" altLang="en-US" sz="3200" dirty="0"/>
              <a:t>中度创伤处置（</a:t>
            </a:r>
            <a:r>
              <a:rPr lang="en-US" altLang="zh-CN" sz="3200" dirty="0"/>
              <a:t>Moderate Trauma</a:t>
            </a:r>
            <a:r>
              <a:rPr lang="zh-CN" altLang="en-US" sz="3200" dirty="0"/>
              <a:t>）技能类型：</a:t>
            </a:r>
            <a:r>
              <a:rPr lang="en-US" altLang="zh-CN" sz="3200" dirty="0">
                <a:solidFill>
                  <a:srgbClr val="FF0000"/>
                </a:solidFill>
              </a:rPr>
              <a:t>Z S </a:t>
            </a:r>
            <a:endParaRPr lang="zh-CN" altLang="en-US" sz="32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1756" y="0"/>
            <a:ext cx="2223437" cy="1482291"/>
          </a:xfrm>
          <a:prstGeom prst="rect">
            <a:avLst/>
          </a:prstGeom>
        </p:spPr>
      </p:pic>
      <p:sp>
        <p:nvSpPr>
          <p:cNvPr id="2" name="文本框 1">
            <a:extLst>
              <a:ext uri="{FF2B5EF4-FFF2-40B4-BE49-F238E27FC236}">
                <a16:creationId xmlns:a16="http://schemas.microsoft.com/office/drawing/2014/main" id="{0782DE52-19FC-41E3-893A-8D909434C3D3}"/>
              </a:ext>
            </a:extLst>
          </p:cNvPr>
          <p:cNvSpPr txBox="1"/>
          <p:nvPr/>
        </p:nvSpPr>
        <p:spPr>
          <a:xfrm>
            <a:off x="490214" y="876332"/>
            <a:ext cx="3853186" cy="523220"/>
          </a:xfrm>
          <a:prstGeom prst="rect">
            <a:avLst/>
          </a:prstGeom>
          <a:noFill/>
        </p:spPr>
        <p:txBody>
          <a:bodyPr wrap="square" rtlCol="0">
            <a:spAutoFit/>
          </a:bodyPr>
          <a:lstStyle/>
          <a:p>
            <a:r>
              <a:rPr lang="zh-CN" altLang="en-US" sz="2800" dirty="0">
                <a:hlinkClick r:id="rId3"/>
              </a:rPr>
              <a:t>绷带固定方法 </a:t>
            </a:r>
            <a:r>
              <a:rPr lang="zh-CN" altLang="en-US" sz="2800" dirty="0">
                <a:solidFill>
                  <a:srgbClr val="FF0000"/>
                </a:solidFill>
              </a:rPr>
              <a:t>难度：</a:t>
            </a:r>
            <a:r>
              <a:rPr lang="en-US" altLang="zh-CN" sz="2800" dirty="0">
                <a:solidFill>
                  <a:srgbClr val="FF0000"/>
                </a:solidFill>
              </a:rPr>
              <a:t>L</a:t>
            </a:r>
            <a:r>
              <a:rPr lang="zh-CN" altLang="en-US" sz="2800" dirty="0">
                <a:solidFill>
                  <a:srgbClr val="FF0000"/>
                </a:solidFill>
              </a:rPr>
              <a:t> </a:t>
            </a:r>
          </a:p>
        </p:txBody>
      </p:sp>
      <p:pic>
        <p:nvPicPr>
          <p:cNvPr id="10242" name="Picture 2" descr="绷带包扎法(院前急救)">
            <a:extLst>
              <a:ext uri="{FF2B5EF4-FFF2-40B4-BE49-F238E27FC236}">
                <a16:creationId xmlns:a16="http://schemas.microsoft.com/office/drawing/2014/main" id="{21C66E47-0958-451C-8DE6-AF30AB8356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177" y="2812184"/>
            <a:ext cx="3606223" cy="226023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受伤后如何用绷带简单包扎？4种方法一定要学-ENJOYZ足球装备网手机版">
            <a:extLst>
              <a:ext uri="{FF2B5EF4-FFF2-40B4-BE49-F238E27FC236}">
                <a16:creationId xmlns:a16="http://schemas.microsoft.com/office/drawing/2014/main" id="{931C6B52-6135-4571-850A-442C8951EA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8829" y="2545341"/>
            <a:ext cx="3800105" cy="3098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68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584775"/>
          </a:xfrm>
          <a:prstGeom prst="rect">
            <a:avLst/>
          </a:prstGeom>
          <a:noFill/>
        </p:spPr>
        <p:txBody>
          <a:bodyPr wrap="square" rtlCol="0">
            <a:spAutoFit/>
          </a:bodyPr>
          <a:lstStyle/>
          <a:p>
            <a:r>
              <a:rPr lang="zh-CN" altLang="en-US" sz="3200" dirty="0"/>
              <a:t>中度创伤处置（</a:t>
            </a:r>
            <a:r>
              <a:rPr lang="en-US" altLang="zh-CN" sz="3200" dirty="0"/>
              <a:t>Moderate Trauma</a:t>
            </a:r>
            <a:r>
              <a:rPr lang="zh-CN" altLang="en-US" sz="3200" dirty="0"/>
              <a:t>）技能类型：</a:t>
            </a:r>
            <a:r>
              <a:rPr lang="en-US" altLang="zh-CN" sz="3200" dirty="0">
                <a:solidFill>
                  <a:srgbClr val="FF0000"/>
                </a:solidFill>
              </a:rPr>
              <a:t>Z S </a:t>
            </a:r>
            <a:endParaRPr lang="zh-CN" altLang="en-US" sz="32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3851"/>
            <a:ext cx="2223437" cy="1482291"/>
          </a:xfrm>
          <a:prstGeom prst="rect">
            <a:avLst/>
          </a:prstGeom>
        </p:spPr>
      </p:pic>
      <p:sp>
        <p:nvSpPr>
          <p:cNvPr id="2" name="文本框 1">
            <a:extLst>
              <a:ext uri="{FF2B5EF4-FFF2-40B4-BE49-F238E27FC236}">
                <a16:creationId xmlns:a16="http://schemas.microsoft.com/office/drawing/2014/main" id="{0782DE52-19FC-41E3-893A-8D909434C3D3}"/>
              </a:ext>
            </a:extLst>
          </p:cNvPr>
          <p:cNvSpPr txBox="1"/>
          <p:nvPr/>
        </p:nvSpPr>
        <p:spPr>
          <a:xfrm>
            <a:off x="490214" y="876332"/>
            <a:ext cx="2947387" cy="523220"/>
          </a:xfrm>
          <a:prstGeom prst="rect">
            <a:avLst/>
          </a:prstGeom>
          <a:noFill/>
        </p:spPr>
        <p:txBody>
          <a:bodyPr wrap="square" rtlCol="0">
            <a:spAutoFit/>
          </a:bodyPr>
          <a:lstStyle/>
          <a:p>
            <a:r>
              <a:rPr lang="en-US" altLang="zh-CN" sz="2800" dirty="0">
                <a:hlinkClick r:id="rId3"/>
              </a:rPr>
              <a:t>CAT</a:t>
            </a:r>
            <a:r>
              <a:rPr lang="zh-CN" altLang="en-US" sz="2800" dirty="0">
                <a:hlinkClick r:id="rId3"/>
              </a:rPr>
              <a:t>止血带方法 </a:t>
            </a:r>
            <a:r>
              <a:rPr lang="en-US" altLang="zh-CN" sz="2800" b="1" dirty="0">
                <a:solidFill>
                  <a:srgbClr val="FF0000"/>
                </a:solidFill>
              </a:rPr>
              <a:t>L</a:t>
            </a:r>
            <a:endParaRPr lang="zh-CN" altLang="en-US" sz="2800" dirty="0"/>
          </a:p>
        </p:txBody>
      </p:sp>
      <p:pic>
        <p:nvPicPr>
          <p:cNvPr id="9218" name="Picture 2" descr="CAT Tourniquet GEN7 Orange">
            <a:extLst>
              <a:ext uri="{FF2B5EF4-FFF2-40B4-BE49-F238E27FC236}">
                <a16:creationId xmlns:a16="http://schemas.microsoft.com/office/drawing/2014/main" id="{61C6C8F6-6E8A-498F-AF0F-F7AB5225CF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958109"/>
            <a:ext cx="4934843" cy="424396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CAT® GEN 7 TOURNIQUET – Refuge Medical">
            <a:extLst>
              <a:ext uri="{FF2B5EF4-FFF2-40B4-BE49-F238E27FC236}">
                <a16:creationId xmlns:a16="http://schemas.microsoft.com/office/drawing/2014/main" id="{A2832179-C8C7-4467-8EBB-FCBCA77D97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813" y="1623506"/>
            <a:ext cx="4780538" cy="4780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547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319230" y="291557"/>
            <a:ext cx="9662969" cy="584775"/>
          </a:xfrm>
          <a:prstGeom prst="rect">
            <a:avLst/>
          </a:prstGeom>
          <a:noFill/>
        </p:spPr>
        <p:txBody>
          <a:bodyPr wrap="square" rtlCol="0">
            <a:spAutoFit/>
          </a:bodyPr>
          <a:lstStyle/>
          <a:p>
            <a:r>
              <a:rPr lang="zh-CN" altLang="en-US" sz="3200" dirty="0"/>
              <a:t>中度创伤处置（</a:t>
            </a:r>
            <a:r>
              <a:rPr lang="en-US" altLang="zh-CN" sz="3200" dirty="0"/>
              <a:t>Moderate Trauma</a:t>
            </a:r>
            <a:r>
              <a:rPr lang="zh-CN" altLang="en-US" sz="3200" dirty="0"/>
              <a:t>）技能类型：</a:t>
            </a:r>
            <a:r>
              <a:rPr lang="en-US" altLang="zh-CN" sz="3200" dirty="0">
                <a:solidFill>
                  <a:srgbClr val="FF0000"/>
                </a:solidFill>
              </a:rPr>
              <a:t>Z S </a:t>
            </a:r>
            <a:endParaRPr lang="zh-CN" altLang="en-US" sz="32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0991" y="0"/>
            <a:ext cx="2223437" cy="1482291"/>
          </a:xfrm>
          <a:prstGeom prst="rect">
            <a:avLst/>
          </a:prstGeom>
        </p:spPr>
      </p:pic>
      <p:sp>
        <p:nvSpPr>
          <p:cNvPr id="2" name="文本框 1">
            <a:extLst>
              <a:ext uri="{FF2B5EF4-FFF2-40B4-BE49-F238E27FC236}">
                <a16:creationId xmlns:a16="http://schemas.microsoft.com/office/drawing/2014/main" id="{0782DE52-19FC-41E3-893A-8D909434C3D3}"/>
              </a:ext>
            </a:extLst>
          </p:cNvPr>
          <p:cNvSpPr txBox="1"/>
          <p:nvPr/>
        </p:nvSpPr>
        <p:spPr>
          <a:xfrm>
            <a:off x="537839" y="876332"/>
            <a:ext cx="3462661" cy="523220"/>
          </a:xfrm>
          <a:prstGeom prst="rect">
            <a:avLst/>
          </a:prstGeom>
          <a:noFill/>
        </p:spPr>
        <p:txBody>
          <a:bodyPr wrap="square" rtlCol="0">
            <a:spAutoFit/>
          </a:bodyPr>
          <a:lstStyle/>
          <a:p>
            <a:r>
              <a:rPr lang="zh-CN" altLang="en-US" sz="2800" b="1" i="0" dirty="0">
                <a:solidFill>
                  <a:srgbClr val="333333"/>
                </a:solidFill>
                <a:effectLst/>
                <a:latin typeface="Chinese Quote"/>
              </a:rPr>
              <a:t>格拉斯哥昏迷量表 </a:t>
            </a:r>
            <a:r>
              <a:rPr lang="en-US" altLang="zh-CN" sz="2800" b="1" dirty="0">
                <a:solidFill>
                  <a:srgbClr val="FF0000"/>
                </a:solidFill>
              </a:rPr>
              <a:t>L</a:t>
            </a:r>
            <a:endParaRPr lang="zh-CN" altLang="en-US" sz="2800" dirty="0"/>
          </a:p>
        </p:txBody>
      </p:sp>
      <p:pic>
        <p:nvPicPr>
          <p:cNvPr id="6" name="图片 5">
            <a:extLst>
              <a:ext uri="{FF2B5EF4-FFF2-40B4-BE49-F238E27FC236}">
                <a16:creationId xmlns:a16="http://schemas.microsoft.com/office/drawing/2014/main" id="{3177EE9C-4F9D-4365-9B53-4F049E7135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750" y="1461107"/>
            <a:ext cx="8686800" cy="5283781"/>
          </a:xfrm>
          <a:prstGeom prst="rect">
            <a:avLst/>
          </a:prstGeom>
        </p:spPr>
      </p:pic>
    </p:spTree>
    <p:extLst>
      <p:ext uri="{BB962C8B-B14F-4D97-AF65-F5344CB8AC3E}">
        <p14:creationId xmlns:p14="http://schemas.microsoft.com/office/powerpoint/2010/main" val="62515766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585930" y="106492"/>
            <a:ext cx="9805845" cy="892552"/>
          </a:xfrm>
          <a:prstGeom prst="rect">
            <a:avLst/>
          </a:prstGeom>
          <a:noFill/>
        </p:spPr>
        <p:txBody>
          <a:bodyPr wrap="square" rtlCol="0">
            <a:spAutoFit/>
          </a:bodyPr>
          <a:lstStyle/>
          <a:p>
            <a:pPr algn="ctr"/>
            <a:r>
              <a:rPr lang="zh-CN" altLang="en-US" sz="3200" dirty="0"/>
              <a:t>气道管理与呼吸支持（</a:t>
            </a:r>
            <a:r>
              <a:rPr lang="en-US" altLang="zh-CN" sz="3200" dirty="0"/>
              <a:t>Airway &amp; Breathing</a:t>
            </a:r>
            <a:r>
              <a:rPr lang="zh-CN" altLang="en-US" sz="3200" dirty="0"/>
              <a:t>）</a:t>
            </a:r>
            <a:endParaRPr lang="en-US" altLang="zh-CN" sz="3200" dirty="0"/>
          </a:p>
          <a:p>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6" name="文本框 15">
            <a:extLst>
              <a:ext uri="{FF2B5EF4-FFF2-40B4-BE49-F238E27FC236}">
                <a16:creationId xmlns:a16="http://schemas.microsoft.com/office/drawing/2014/main" id="{EDEF7DEE-4BB2-4A82-987C-C32307D34CF4}"/>
              </a:ext>
            </a:extLst>
          </p:cNvPr>
          <p:cNvSpPr txBox="1"/>
          <p:nvPr/>
        </p:nvSpPr>
        <p:spPr>
          <a:xfrm>
            <a:off x="333375" y="999044"/>
            <a:ext cx="4394200" cy="3600986"/>
          </a:xfrm>
          <a:prstGeom prst="rect">
            <a:avLst/>
          </a:prstGeom>
          <a:noFill/>
        </p:spPr>
        <p:txBody>
          <a:bodyPr wrap="square" rtlCol="0">
            <a:spAutoFit/>
          </a:bodyPr>
          <a:lstStyle/>
          <a:p>
            <a:r>
              <a:rPr lang="zh-CN" altLang="en-US" sz="2400" b="1" dirty="0"/>
              <a:t>一、气道评估 </a:t>
            </a:r>
            <a:r>
              <a:rPr lang="en-US" altLang="zh-CN" sz="2400" b="1" dirty="0">
                <a:solidFill>
                  <a:srgbClr val="FF0000"/>
                </a:solidFill>
              </a:rPr>
              <a:t>L</a:t>
            </a:r>
            <a:endParaRPr lang="zh-CN" altLang="en-US" sz="2400" b="1" dirty="0"/>
          </a:p>
          <a:p>
            <a:r>
              <a:rPr lang="zh-CN" altLang="en-US" sz="2000" dirty="0"/>
              <a:t>首先判断伤者 气道是否通畅：</a:t>
            </a:r>
          </a:p>
          <a:p>
            <a:r>
              <a:rPr lang="zh-CN" altLang="en-US" dirty="0"/>
              <a:t>观察：</a:t>
            </a:r>
          </a:p>
          <a:p>
            <a:r>
              <a:rPr lang="en-US" altLang="zh-CN" dirty="0"/>
              <a:t>	1.</a:t>
            </a:r>
            <a:r>
              <a:rPr lang="zh-CN" altLang="en-US" dirty="0"/>
              <a:t>是否能够正常说话</a:t>
            </a:r>
          </a:p>
          <a:p>
            <a:r>
              <a:rPr lang="en-US" altLang="zh-CN" dirty="0"/>
              <a:t>	2.</a:t>
            </a:r>
            <a:r>
              <a:rPr lang="zh-CN" altLang="en-US" dirty="0"/>
              <a:t>是否有喘鸣、鼾声或咕噜声</a:t>
            </a:r>
          </a:p>
          <a:p>
            <a:r>
              <a:rPr lang="en-US" altLang="zh-CN" dirty="0"/>
              <a:t>	3.</a:t>
            </a:r>
            <a:r>
              <a:rPr lang="zh-CN" altLang="en-US" dirty="0"/>
              <a:t>是否有呕吐物、血液或异物</a:t>
            </a:r>
          </a:p>
          <a:p>
            <a:r>
              <a:rPr lang="en-US" altLang="zh-CN" dirty="0"/>
              <a:t>	4.</a:t>
            </a:r>
            <a:r>
              <a:rPr lang="zh-CN" altLang="en-US" dirty="0"/>
              <a:t>胸廓是否正常起伏</a:t>
            </a:r>
          </a:p>
          <a:p>
            <a:r>
              <a:rPr lang="zh-CN" altLang="en-US" sz="2000" dirty="0"/>
              <a:t>如果出现：</a:t>
            </a:r>
          </a:p>
          <a:p>
            <a:r>
              <a:rPr lang="en-US" altLang="zh-CN" dirty="0"/>
              <a:t>	1.</a:t>
            </a:r>
            <a:r>
              <a:rPr lang="zh-CN" altLang="en-US" dirty="0"/>
              <a:t>无意识</a:t>
            </a:r>
          </a:p>
          <a:p>
            <a:r>
              <a:rPr lang="en-US" altLang="zh-CN" dirty="0"/>
              <a:t>	2.</a:t>
            </a:r>
            <a:r>
              <a:rPr lang="zh-CN" altLang="en-US" dirty="0"/>
              <a:t>呼吸困难</a:t>
            </a:r>
          </a:p>
          <a:p>
            <a:r>
              <a:rPr lang="en-US" altLang="zh-CN" dirty="0"/>
              <a:t>	3.</a:t>
            </a:r>
            <a:r>
              <a:rPr lang="zh-CN" altLang="en-US" dirty="0"/>
              <a:t>鼾声样呼吸（舌后坠）</a:t>
            </a:r>
          </a:p>
          <a:p>
            <a:r>
              <a:rPr lang="zh-CN" altLang="en-US" sz="2000" b="1" dirty="0"/>
              <a:t>说明 气道可能受阻，需要立即处理。</a:t>
            </a:r>
          </a:p>
        </p:txBody>
      </p:sp>
      <p:sp>
        <p:nvSpPr>
          <p:cNvPr id="17" name="文本框 16">
            <a:extLst>
              <a:ext uri="{FF2B5EF4-FFF2-40B4-BE49-F238E27FC236}">
                <a16:creationId xmlns:a16="http://schemas.microsoft.com/office/drawing/2014/main" id="{DDD8EB32-5314-49AC-B487-C23755064B73}"/>
              </a:ext>
            </a:extLst>
          </p:cNvPr>
          <p:cNvSpPr txBox="1"/>
          <p:nvPr/>
        </p:nvSpPr>
        <p:spPr>
          <a:xfrm>
            <a:off x="4435042" y="999044"/>
            <a:ext cx="4394200" cy="4647426"/>
          </a:xfrm>
          <a:prstGeom prst="rect">
            <a:avLst/>
          </a:prstGeom>
          <a:noFill/>
        </p:spPr>
        <p:txBody>
          <a:bodyPr wrap="square" rtlCol="0">
            <a:spAutoFit/>
          </a:bodyPr>
          <a:lstStyle/>
          <a:p>
            <a:r>
              <a:rPr lang="zh-CN" altLang="en-US" sz="2400" b="1" dirty="0"/>
              <a:t>二、气道开放 </a:t>
            </a:r>
            <a:r>
              <a:rPr lang="en-US" altLang="zh-CN" sz="2400" b="1" dirty="0">
                <a:solidFill>
                  <a:srgbClr val="FF0000"/>
                </a:solidFill>
              </a:rPr>
              <a:t>L</a:t>
            </a:r>
            <a:endParaRPr lang="zh-CN" altLang="en-US" sz="2400" b="1" dirty="0"/>
          </a:p>
          <a:p>
            <a:r>
              <a:rPr lang="en-US" altLang="zh-CN" sz="2000" dirty="0"/>
              <a:t>(1)</a:t>
            </a:r>
            <a:r>
              <a:rPr lang="zh-CN" altLang="en-US" sz="2000" dirty="0"/>
              <a:t>仰头抬颏法</a:t>
            </a:r>
          </a:p>
          <a:p>
            <a:r>
              <a:rPr lang="zh-CN" altLang="en-US" dirty="0"/>
              <a:t>适用于：</a:t>
            </a:r>
          </a:p>
          <a:p>
            <a:r>
              <a:rPr lang="en-US" altLang="zh-CN" dirty="0"/>
              <a:t>	</a:t>
            </a:r>
            <a:r>
              <a:rPr lang="zh-CN" altLang="en-US" dirty="0"/>
              <a:t>无颈椎损伤的伤者</a:t>
            </a:r>
          </a:p>
          <a:p>
            <a:r>
              <a:rPr lang="zh-CN" altLang="en-US" dirty="0"/>
              <a:t>操作：</a:t>
            </a:r>
          </a:p>
          <a:p>
            <a:r>
              <a:rPr lang="en-US" altLang="zh-CN" dirty="0"/>
              <a:t>	1.</a:t>
            </a:r>
            <a:r>
              <a:rPr lang="zh-CN" altLang="en-US" dirty="0"/>
              <a:t>一手按额头</a:t>
            </a:r>
          </a:p>
          <a:p>
            <a:r>
              <a:rPr lang="en-US" altLang="zh-CN" dirty="0"/>
              <a:t>	2.</a:t>
            </a:r>
            <a:r>
              <a:rPr lang="zh-CN" altLang="en-US" dirty="0"/>
              <a:t>一手抬起下巴</a:t>
            </a:r>
          </a:p>
          <a:p>
            <a:r>
              <a:rPr lang="en-US" altLang="zh-CN" dirty="0"/>
              <a:t>	3.</a:t>
            </a:r>
            <a:r>
              <a:rPr lang="zh-CN" altLang="en-US" dirty="0"/>
              <a:t>打开气道</a:t>
            </a:r>
            <a:endParaRPr lang="en-US" altLang="zh-CN" dirty="0"/>
          </a:p>
          <a:p>
            <a:r>
              <a:rPr lang="en-US" altLang="zh-CN" sz="2000" dirty="0"/>
              <a:t>(2)</a:t>
            </a:r>
            <a:r>
              <a:rPr lang="zh-CN" altLang="en-US" sz="2000" dirty="0"/>
              <a:t>下颌前推法</a:t>
            </a:r>
          </a:p>
          <a:p>
            <a:r>
              <a:rPr lang="zh-CN" altLang="en-US" dirty="0"/>
              <a:t>适用于：</a:t>
            </a:r>
          </a:p>
          <a:p>
            <a:r>
              <a:rPr lang="en-US" altLang="zh-CN" dirty="0"/>
              <a:t>	</a:t>
            </a:r>
            <a:r>
              <a:rPr lang="zh-CN" altLang="en-US" dirty="0"/>
              <a:t>怀疑颈椎损伤</a:t>
            </a:r>
          </a:p>
          <a:p>
            <a:r>
              <a:rPr lang="zh-CN" altLang="en-US" dirty="0"/>
              <a:t>操作：</a:t>
            </a:r>
          </a:p>
          <a:p>
            <a:r>
              <a:rPr lang="en-US" altLang="zh-CN" dirty="0"/>
              <a:t>	2.</a:t>
            </a:r>
            <a:r>
              <a:rPr lang="zh-CN" altLang="en-US" dirty="0"/>
              <a:t>双手托住下颌角</a:t>
            </a:r>
          </a:p>
          <a:p>
            <a:r>
              <a:rPr lang="en-US" altLang="zh-CN" dirty="0"/>
              <a:t>	1.</a:t>
            </a:r>
            <a:r>
              <a:rPr lang="zh-CN" altLang="en-US" dirty="0"/>
              <a:t>向前抬起下颌</a:t>
            </a:r>
          </a:p>
          <a:p>
            <a:r>
              <a:rPr lang="zh-CN" altLang="en-US" b="1" dirty="0">
                <a:solidFill>
                  <a:srgbClr val="FF0000"/>
                </a:solidFill>
              </a:rPr>
              <a:t>可减少颈椎移动。</a:t>
            </a:r>
          </a:p>
          <a:p>
            <a:endParaRPr lang="zh-CN" altLang="en-US" dirty="0"/>
          </a:p>
        </p:txBody>
      </p:sp>
      <p:sp>
        <p:nvSpPr>
          <p:cNvPr id="2" name="文本框 1">
            <a:extLst>
              <a:ext uri="{FF2B5EF4-FFF2-40B4-BE49-F238E27FC236}">
                <a16:creationId xmlns:a16="http://schemas.microsoft.com/office/drawing/2014/main" id="{EBD61868-B25B-4A75-859A-4ED463274105}"/>
              </a:ext>
            </a:extLst>
          </p:cNvPr>
          <p:cNvSpPr txBox="1"/>
          <p:nvPr/>
        </p:nvSpPr>
        <p:spPr>
          <a:xfrm>
            <a:off x="7544326" y="1700470"/>
            <a:ext cx="4039249" cy="3231654"/>
          </a:xfrm>
          <a:prstGeom prst="rect">
            <a:avLst/>
          </a:prstGeom>
          <a:noFill/>
        </p:spPr>
        <p:txBody>
          <a:bodyPr wrap="square" rtlCol="0">
            <a:spAutoFit/>
          </a:bodyPr>
          <a:lstStyle/>
          <a:p>
            <a:r>
              <a:rPr lang="zh-CN" altLang="en-US" sz="2400" b="1" dirty="0"/>
              <a:t>三、气道辅助设备 </a:t>
            </a:r>
            <a:r>
              <a:rPr lang="en-US" altLang="zh-CN" sz="2400" b="1" dirty="0">
                <a:solidFill>
                  <a:srgbClr val="FF0000"/>
                </a:solidFill>
              </a:rPr>
              <a:t>H</a:t>
            </a:r>
            <a:endParaRPr lang="zh-CN" altLang="en-US" sz="2400" b="1" dirty="0">
              <a:solidFill>
                <a:srgbClr val="FF0000"/>
              </a:solidFill>
            </a:endParaRPr>
          </a:p>
          <a:p>
            <a:r>
              <a:rPr lang="zh-CN" altLang="en-US" dirty="0"/>
              <a:t>当伤者</a:t>
            </a:r>
            <a:r>
              <a:rPr lang="zh-CN" altLang="en-US" b="1" dirty="0"/>
              <a:t>意识丧失或气道不稳定</a:t>
            </a:r>
            <a:r>
              <a:rPr lang="zh-CN" altLang="en-US" dirty="0"/>
              <a:t>时</a:t>
            </a:r>
            <a:endParaRPr lang="en-US" altLang="zh-CN" dirty="0"/>
          </a:p>
          <a:p>
            <a:r>
              <a:rPr lang="zh-CN" altLang="en-US" dirty="0"/>
              <a:t>可以使用：</a:t>
            </a:r>
          </a:p>
          <a:p>
            <a:r>
              <a:rPr lang="en-US" altLang="zh-CN" dirty="0"/>
              <a:t>1.</a:t>
            </a:r>
            <a:r>
              <a:rPr lang="zh-CN" altLang="en-US" dirty="0"/>
              <a:t>口咽通气管</a:t>
            </a:r>
            <a:r>
              <a:rPr lang="en-US" altLang="zh-CN" dirty="0"/>
              <a:t>(</a:t>
            </a:r>
            <a:r>
              <a:rPr lang="zh-CN" altLang="en-US" dirty="0"/>
              <a:t>口咽气道</a:t>
            </a:r>
            <a:r>
              <a:rPr lang="en-US" altLang="zh-CN" dirty="0"/>
              <a:t>OPA)</a:t>
            </a:r>
            <a:br>
              <a:rPr lang="en-US" altLang="zh-CN" dirty="0"/>
            </a:br>
            <a:r>
              <a:rPr lang="en-US" altLang="zh-CN" dirty="0"/>
              <a:t>  </a:t>
            </a:r>
            <a:r>
              <a:rPr lang="zh-CN" altLang="en-US" dirty="0"/>
              <a:t>适用于</a:t>
            </a:r>
            <a:r>
              <a:rPr lang="zh-CN" altLang="en-US" b="1" dirty="0"/>
              <a:t>无意识且无呕吐反射的患者</a:t>
            </a:r>
            <a:endParaRPr lang="zh-CN" altLang="en-US" dirty="0"/>
          </a:p>
          <a:p>
            <a:r>
              <a:rPr lang="en-US" altLang="zh-CN" dirty="0"/>
              <a:t>2.</a:t>
            </a:r>
            <a:r>
              <a:rPr lang="zh-CN" altLang="en-US" dirty="0"/>
              <a:t>鼻咽通气管</a:t>
            </a:r>
            <a:r>
              <a:rPr lang="en-US" altLang="zh-CN" dirty="0"/>
              <a:t>(</a:t>
            </a:r>
            <a:r>
              <a:rPr lang="zh-CN" altLang="en-US" dirty="0"/>
              <a:t>鼻咽气道</a:t>
            </a:r>
            <a:r>
              <a:rPr lang="en-US" altLang="zh-CN" dirty="0"/>
              <a:t>NPA)</a:t>
            </a:r>
            <a:br>
              <a:rPr lang="en-US" altLang="zh-CN" dirty="0"/>
            </a:br>
            <a:r>
              <a:rPr lang="en-US" altLang="zh-CN" dirty="0"/>
              <a:t>  </a:t>
            </a:r>
            <a:r>
              <a:rPr lang="zh-CN" altLang="en-US" dirty="0"/>
              <a:t>适用于</a:t>
            </a:r>
            <a:r>
              <a:rPr lang="zh-CN" altLang="en-US" b="1" dirty="0"/>
              <a:t>半意识或存在咬合反射的患者</a:t>
            </a:r>
            <a:endParaRPr lang="zh-CN" altLang="en-US" dirty="0"/>
          </a:p>
          <a:p>
            <a:r>
              <a:rPr lang="zh-CN" altLang="en-US" dirty="0"/>
              <a:t>作用：</a:t>
            </a:r>
          </a:p>
          <a:p>
            <a:r>
              <a:rPr lang="en-US" altLang="zh-CN" dirty="0"/>
              <a:t>	(1)</a:t>
            </a:r>
            <a:r>
              <a:rPr lang="zh-CN" altLang="en-US" dirty="0"/>
              <a:t>防止舌头后坠</a:t>
            </a:r>
          </a:p>
          <a:p>
            <a:r>
              <a:rPr lang="en-US" altLang="zh-CN" dirty="0"/>
              <a:t>	(2)</a:t>
            </a:r>
            <a:r>
              <a:rPr lang="zh-CN" altLang="en-US" dirty="0"/>
              <a:t>保持气道通畅</a:t>
            </a:r>
          </a:p>
          <a:p>
            <a:endParaRPr lang="zh-CN" altLang="en-US" dirty="0"/>
          </a:p>
        </p:txBody>
      </p:sp>
    </p:spTree>
    <p:extLst>
      <p:ext uri="{BB962C8B-B14F-4D97-AF65-F5344CB8AC3E}">
        <p14:creationId xmlns:p14="http://schemas.microsoft.com/office/powerpoint/2010/main" val="297795553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585930" y="106492"/>
            <a:ext cx="9805845" cy="892552"/>
          </a:xfrm>
          <a:prstGeom prst="rect">
            <a:avLst/>
          </a:prstGeom>
          <a:noFill/>
        </p:spPr>
        <p:txBody>
          <a:bodyPr wrap="square" rtlCol="0">
            <a:spAutoFit/>
          </a:bodyPr>
          <a:lstStyle/>
          <a:p>
            <a:pPr algn="ctr"/>
            <a:r>
              <a:rPr lang="zh-CN" altLang="en-US" sz="3200" dirty="0"/>
              <a:t>气道管理与呼吸支持（</a:t>
            </a:r>
            <a:r>
              <a:rPr lang="en-US" altLang="zh-CN" sz="3200" dirty="0"/>
              <a:t>Airway &amp; Breathing</a:t>
            </a:r>
            <a:r>
              <a:rPr lang="zh-CN" altLang="en-US" sz="3200" dirty="0"/>
              <a:t>）</a:t>
            </a:r>
            <a:endParaRPr lang="en-US" altLang="zh-CN" sz="3200" dirty="0"/>
          </a:p>
          <a:p>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6" name="文本框 15">
            <a:extLst>
              <a:ext uri="{FF2B5EF4-FFF2-40B4-BE49-F238E27FC236}">
                <a16:creationId xmlns:a16="http://schemas.microsoft.com/office/drawing/2014/main" id="{EDEF7DEE-4BB2-4A82-987C-C32307D34CF4}"/>
              </a:ext>
            </a:extLst>
          </p:cNvPr>
          <p:cNvSpPr txBox="1"/>
          <p:nvPr/>
        </p:nvSpPr>
        <p:spPr>
          <a:xfrm>
            <a:off x="333374" y="999044"/>
            <a:ext cx="9805845" cy="1323439"/>
          </a:xfrm>
          <a:prstGeom prst="rect">
            <a:avLst/>
          </a:prstGeom>
          <a:noFill/>
        </p:spPr>
        <p:txBody>
          <a:bodyPr wrap="square" rtlCol="0">
            <a:spAutoFit/>
          </a:bodyPr>
          <a:lstStyle/>
          <a:p>
            <a:r>
              <a:rPr lang="en-US" altLang="zh-CN" sz="2000" b="1" dirty="0"/>
              <a:t>BVM </a:t>
            </a:r>
            <a:r>
              <a:rPr lang="zh-CN" altLang="en-US" sz="2000" b="1" dirty="0"/>
              <a:t>的使用（气囊面罩通气）</a:t>
            </a:r>
          </a:p>
          <a:p>
            <a:r>
              <a:rPr lang="en-US" altLang="zh-CN" sz="2000" dirty="0"/>
              <a:t>Bag Valve Mask </a:t>
            </a:r>
            <a:r>
              <a:rPr lang="zh-CN" altLang="en-US" sz="2000" dirty="0"/>
              <a:t>是院前急救中用于人工通气的重要设备，可在伤者呼吸停止或呼吸不足时提供氧气和通气支持，也是基础生命支持遇到心脏骤停事件里面唯一可以提高通气成功率的方法。</a:t>
            </a:r>
          </a:p>
        </p:txBody>
      </p:sp>
      <p:sp>
        <p:nvSpPr>
          <p:cNvPr id="2" name="文本框 1">
            <a:extLst>
              <a:ext uri="{FF2B5EF4-FFF2-40B4-BE49-F238E27FC236}">
                <a16:creationId xmlns:a16="http://schemas.microsoft.com/office/drawing/2014/main" id="{EBD61868-B25B-4A75-859A-4ED463274105}"/>
              </a:ext>
            </a:extLst>
          </p:cNvPr>
          <p:cNvSpPr txBox="1"/>
          <p:nvPr/>
        </p:nvSpPr>
        <p:spPr>
          <a:xfrm>
            <a:off x="333374" y="2431993"/>
            <a:ext cx="4039249" cy="2739211"/>
          </a:xfrm>
          <a:prstGeom prst="rect">
            <a:avLst/>
          </a:prstGeom>
          <a:noFill/>
        </p:spPr>
        <p:txBody>
          <a:bodyPr wrap="square" rtlCol="0">
            <a:spAutoFit/>
          </a:bodyPr>
          <a:lstStyle/>
          <a:p>
            <a:r>
              <a:rPr lang="zh-CN" altLang="en-US" sz="2400" b="1" dirty="0"/>
              <a:t>一、使用指征</a:t>
            </a:r>
          </a:p>
          <a:p>
            <a:r>
              <a:rPr lang="zh-CN" altLang="en-US" sz="2000" dirty="0"/>
              <a:t>在以下情况下可以使用 </a:t>
            </a:r>
            <a:r>
              <a:rPr lang="en-US" altLang="zh-CN" sz="2000" dirty="0"/>
              <a:t>BVM</a:t>
            </a:r>
            <a:r>
              <a:rPr lang="zh-CN" altLang="en-US" sz="2000" dirty="0"/>
              <a:t>：</a:t>
            </a:r>
            <a:endParaRPr lang="en-US" altLang="zh-CN" sz="2000" dirty="0"/>
          </a:p>
          <a:p>
            <a:endParaRPr lang="zh-CN" altLang="en-US" sz="2000" dirty="0"/>
          </a:p>
          <a:p>
            <a:pPr>
              <a:buFont typeface="+mj-lt"/>
              <a:buAutoNum type="arabicPeriod"/>
            </a:pPr>
            <a:r>
              <a:rPr lang="zh-CN" altLang="en-US" dirty="0"/>
              <a:t>呼吸停止</a:t>
            </a:r>
          </a:p>
          <a:p>
            <a:pPr>
              <a:buFont typeface="+mj-lt"/>
              <a:buAutoNum type="arabicPeriod"/>
            </a:pPr>
            <a:r>
              <a:rPr lang="zh-CN" altLang="en-US" dirty="0"/>
              <a:t>呼吸频率过慢或过浅</a:t>
            </a:r>
          </a:p>
          <a:p>
            <a:pPr>
              <a:buFont typeface="+mj-lt"/>
              <a:buAutoNum type="arabicPeriod"/>
            </a:pPr>
            <a:r>
              <a:rPr lang="zh-CN" altLang="en-US" dirty="0"/>
              <a:t>血氧持续下降</a:t>
            </a:r>
          </a:p>
          <a:p>
            <a:pPr>
              <a:buFont typeface="+mj-lt"/>
              <a:buAutoNum type="arabicPeriod"/>
            </a:pPr>
            <a:r>
              <a:rPr lang="zh-CN" altLang="en-US" dirty="0"/>
              <a:t>心脏骤停 </a:t>
            </a:r>
            <a:r>
              <a:rPr lang="en-US" altLang="zh-CN" dirty="0"/>
              <a:t>CPR </a:t>
            </a:r>
            <a:r>
              <a:rPr lang="zh-CN" altLang="en-US" dirty="0"/>
              <a:t>过程中</a:t>
            </a:r>
          </a:p>
          <a:p>
            <a:pPr>
              <a:buFont typeface="+mj-lt"/>
              <a:buAutoNum type="arabicPeriod"/>
            </a:pPr>
            <a:r>
              <a:rPr lang="zh-CN" altLang="en-US" dirty="0"/>
              <a:t>无法维持有效自主呼吸</a:t>
            </a:r>
          </a:p>
          <a:p>
            <a:endParaRPr lang="zh-CN" altLang="en-US" dirty="0"/>
          </a:p>
        </p:txBody>
      </p:sp>
      <p:sp>
        <p:nvSpPr>
          <p:cNvPr id="7" name="文本框 6">
            <a:extLst>
              <a:ext uri="{FF2B5EF4-FFF2-40B4-BE49-F238E27FC236}">
                <a16:creationId xmlns:a16="http://schemas.microsoft.com/office/drawing/2014/main" id="{231AA1C0-5D03-4185-A512-8F13CFCC1BC8}"/>
              </a:ext>
            </a:extLst>
          </p:cNvPr>
          <p:cNvSpPr txBox="1"/>
          <p:nvPr/>
        </p:nvSpPr>
        <p:spPr>
          <a:xfrm>
            <a:off x="333373" y="4837841"/>
            <a:ext cx="4039249" cy="2185214"/>
          </a:xfrm>
          <a:prstGeom prst="rect">
            <a:avLst/>
          </a:prstGeom>
          <a:noFill/>
        </p:spPr>
        <p:txBody>
          <a:bodyPr wrap="square" rtlCol="0">
            <a:spAutoFit/>
          </a:bodyPr>
          <a:lstStyle/>
          <a:p>
            <a:r>
              <a:rPr lang="zh-CN" altLang="en-US" sz="2400" b="1" dirty="0"/>
              <a:t>二、使用前准备</a:t>
            </a:r>
          </a:p>
          <a:p>
            <a:r>
              <a:rPr lang="zh-CN" altLang="en-US" sz="2000" dirty="0"/>
              <a:t>操作前需要：</a:t>
            </a:r>
            <a:endParaRPr lang="en-US" altLang="zh-CN" sz="2000" dirty="0"/>
          </a:p>
          <a:p>
            <a:endParaRPr lang="zh-CN" altLang="en-US" sz="2000" dirty="0"/>
          </a:p>
          <a:p>
            <a:pPr>
              <a:buFont typeface="+mj-lt"/>
              <a:buAutoNum type="arabicPeriod"/>
            </a:pPr>
            <a:r>
              <a:rPr lang="zh-CN" altLang="en-US" dirty="0"/>
              <a:t>打开气道（仰头抬颏或下颌前推）</a:t>
            </a:r>
          </a:p>
          <a:p>
            <a:pPr>
              <a:buFont typeface="+mj-lt"/>
              <a:buAutoNum type="arabicPeriod"/>
            </a:pPr>
            <a:r>
              <a:rPr lang="zh-CN" altLang="en-US" dirty="0"/>
              <a:t>清理口腔内异物或呕吐物</a:t>
            </a:r>
          </a:p>
          <a:p>
            <a:pPr>
              <a:buFont typeface="+mj-lt"/>
              <a:buAutoNum type="arabicPeriod"/>
            </a:pPr>
            <a:r>
              <a:rPr lang="zh-CN" altLang="en-US" dirty="0"/>
              <a:t>必要时放置气道辅助器械</a:t>
            </a:r>
          </a:p>
          <a:p>
            <a:endParaRPr lang="zh-CN" altLang="en-US" dirty="0"/>
          </a:p>
        </p:txBody>
      </p:sp>
      <p:sp>
        <p:nvSpPr>
          <p:cNvPr id="9" name="文本框 8">
            <a:extLst>
              <a:ext uri="{FF2B5EF4-FFF2-40B4-BE49-F238E27FC236}">
                <a16:creationId xmlns:a16="http://schemas.microsoft.com/office/drawing/2014/main" id="{1EDF723A-59CC-431C-B18A-F7986BCEFBE4}"/>
              </a:ext>
            </a:extLst>
          </p:cNvPr>
          <p:cNvSpPr txBox="1"/>
          <p:nvPr/>
        </p:nvSpPr>
        <p:spPr>
          <a:xfrm>
            <a:off x="3978721" y="2431993"/>
            <a:ext cx="3549543" cy="2985433"/>
          </a:xfrm>
          <a:prstGeom prst="rect">
            <a:avLst/>
          </a:prstGeom>
          <a:noFill/>
        </p:spPr>
        <p:txBody>
          <a:bodyPr wrap="square" rtlCol="0">
            <a:spAutoFit/>
          </a:bodyPr>
          <a:lstStyle/>
          <a:p>
            <a:r>
              <a:rPr lang="zh-CN" altLang="en-US" sz="2400" b="1" dirty="0"/>
              <a:t>三、操作方法 </a:t>
            </a:r>
            <a:r>
              <a:rPr lang="en-US" altLang="zh-CN" sz="2400" b="1" dirty="0">
                <a:solidFill>
                  <a:srgbClr val="FF0000"/>
                </a:solidFill>
              </a:rPr>
              <a:t>L</a:t>
            </a:r>
            <a:endParaRPr lang="zh-CN" altLang="en-US" sz="2400" b="1" dirty="0"/>
          </a:p>
          <a:p>
            <a:pPr>
              <a:buFont typeface="+mj-lt"/>
              <a:buAutoNum type="arabicPeriod"/>
            </a:pPr>
            <a:r>
              <a:rPr lang="zh-CN" altLang="en-US" dirty="0"/>
              <a:t>面罩覆盖患者口鼻</a:t>
            </a:r>
          </a:p>
          <a:p>
            <a:pPr>
              <a:buFont typeface="+mj-lt"/>
              <a:buAutoNum type="arabicPeriod"/>
            </a:pPr>
            <a:r>
              <a:rPr lang="zh-CN" altLang="en-US" dirty="0"/>
              <a:t>用</a:t>
            </a:r>
            <a:r>
              <a:rPr lang="en-US" altLang="zh-CN" dirty="0"/>
              <a:t>C</a:t>
            </a:r>
            <a:r>
              <a:rPr lang="zh-CN" altLang="en-US" dirty="0"/>
              <a:t>手法固定面罩密封</a:t>
            </a:r>
          </a:p>
          <a:p>
            <a:pPr>
              <a:buFont typeface="+mj-lt"/>
              <a:buAutoNum type="arabicPeriod"/>
            </a:pPr>
            <a:r>
              <a:rPr lang="zh-CN" altLang="en-US" dirty="0"/>
              <a:t>另一只手挤压气囊</a:t>
            </a:r>
          </a:p>
          <a:p>
            <a:pPr>
              <a:buFont typeface="+mj-lt"/>
              <a:buAutoNum type="arabicPeriod"/>
            </a:pPr>
            <a:r>
              <a:rPr lang="zh-CN" altLang="en-US" dirty="0"/>
              <a:t>观察胸廓是否起伏</a:t>
            </a:r>
          </a:p>
          <a:p>
            <a:r>
              <a:rPr lang="zh-CN" altLang="en-US" sz="2000" dirty="0"/>
              <a:t>原则：</a:t>
            </a:r>
          </a:p>
          <a:p>
            <a:r>
              <a:rPr lang="zh-CN" altLang="en-US" dirty="0"/>
              <a:t>每次通气 </a:t>
            </a:r>
            <a:r>
              <a:rPr lang="en-US" altLang="zh-CN" dirty="0"/>
              <a:t>1 </a:t>
            </a:r>
            <a:r>
              <a:rPr lang="zh-CN" altLang="en-US" dirty="0"/>
              <a:t>秒左右</a:t>
            </a:r>
          </a:p>
          <a:p>
            <a:r>
              <a:rPr lang="zh-CN" altLang="en-US" dirty="0"/>
              <a:t>看到胸廓起伏即可</a:t>
            </a:r>
            <a:r>
              <a:rPr lang="en-US" altLang="zh-CN" dirty="0"/>
              <a:t>(</a:t>
            </a:r>
            <a:r>
              <a:rPr lang="zh-CN" altLang="en-US" dirty="0"/>
              <a:t>请不要把</a:t>
            </a:r>
            <a:r>
              <a:rPr lang="en-US" altLang="zh-CN" dirty="0"/>
              <a:t>BVM</a:t>
            </a:r>
            <a:r>
              <a:rPr lang="zh-CN" altLang="en-US" dirty="0"/>
              <a:t>按压到底</a:t>
            </a:r>
            <a:r>
              <a:rPr lang="en-US" altLang="zh-CN" dirty="0"/>
              <a:t>)</a:t>
            </a:r>
            <a:endParaRPr lang="zh-CN" altLang="en-US" dirty="0"/>
          </a:p>
          <a:p>
            <a:r>
              <a:rPr lang="zh-CN" altLang="en-US" dirty="0"/>
              <a:t>避免过度通气</a:t>
            </a:r>
          </a:p>
        </p:txBody>
      </p:sp>
      <p:pic>
        <p:nvPicPr>
          <p:cNvPr id="5" name="图片 4">
            <a:extLst>
              <a:ext uri="{FF2B5EF4-FFF2-40B4-BE49-F238E27FC236}">
                <a16:creationId xmlns:a16="http://schemas.microsoft.com/office/drawing/2014/main" id="{97DC59F7-6752-4757-B319-A1C3C7F3A103}"/>
              </a:ext>
            </a:extLst>
          </p:cNvPr>
          <p:cNvPicPr>
            <a:picLocks noChangeAspect="1"/>
          </p:cNvPicPr>
          <p:nvPr/>
        </p:nvPicPr>
        <p:blipFill rotWithShape="1">
          <a:blip r:embed="rId3">
            <a:extLst>
              <a:ext uri="{28A0092B-C50C-407E-A947-70E740481C1C}">
                <a14:useLocalDpi xmlns:a14="http://schemas.microsoft.com/office/drawing/2010/main" val="0"/>
              </a:ext>
            </a:extLst>
          </a:blip>
          <a:srcRect l="-4"/>
          <a:stretch/>
        </p:blipFill>
        <p:spPr>
          <a:xfrm>
            <a:off x="7370331" y="2180929"/>
            <a:ext cx="4679443" cy="3487560"/>
          </a:xfrm>
          <a:prstGeom prst="rect">
            <a:avLst/>
          </a:prstGeom>
        </p:spPr>
      </p:pic>
    </p:spTree>
    <p:extLst>
      <p:ext uri="{BB962C8B-B14F-4D97-AF65-F5344CB8AC3E}">
        <p14:creationId xmlns:p14="http://schemas.microsoft.com/office/powerpoint/2010/main" val="36260748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585930" y="106492"/>
            <a:ext cx="9805845" cy="892552"/>
          </a:xfrm>
          <a:prstGeom prst="rect">
            <a:avLst/>
          </a:prstGeom>
          <a:noFill/>
        </p:spPr>
        <p:txBody>
          <a:bodyPr wrap="square" rtlCol="0">
            <a:spAutoFit/>
          </a:bodyPr>
          <a:lstStyle/>
          <a:p>
            <a:pPr algn="ctr"/>
            <a:r>
              <a:rPr lang="zh-CN" altLang="en-US" sz="3200" dirty="0"/>
              <a:t>气道管理与呼吸支持（</a:t>
            </a:r>
            <a:r>
              <a:rPr lang="en-US" altLang="zh-CN" sz="3200" dirty="0"/>
              <a:t>Airway &amp; Breathing</a:t>
            </a:r>
            <a:r>
              <a:rPr lang="zh-CN" altLang="en-US" sz="3200" dirty="0"/>
              <a:t>）</a:t>
            </a:r>
            <a:endParaRPr lang="en-US" altLang="zh-CN" sz="3200" dirty="0"/>
          </a:p>
          <a:p>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6" name="文本框 15">
            <a:extLst>
              <a:ext uri="{FF2B5EF4-FFF2-40B4-BE49-F238E27FC236}">
                <a16:creationId xmlns:a16="http://schemas.microsoft.com/office/drawing/2014/main" id="{EDEF7DEE-4BB2-4A82-987C-C32307D34CF4}"/>
              </a:ext>
            </a:extLst>
          </p:cNvPr>
          <p:cNvSpPr txBox="1"/>
          <p:nvPr/>
        </p:nvSpPr>
        <p:spPr>
          <a:xfrm>
            <a:off x="333374" y="999044"/>
            <a:ext cx="9805845" cy="1323439"/>
          </a:xfrm>
          <a:prstGeom prst="rect">
            <a:avLst/>
          </a:prstGeom>
          <a:noFill/>
        </p:spPr>
        <p:txBody>
          <a:bodyPr wrap="square" rtlCol="0">
            <a:spAutoFit/>
          </a:bodyPr>
          <a:lstStyle/>
          <a:p>
            <a:r>
              <a:rPr lang="en-US" altLang="zh-CN" sz="2000" b="1" dirty="0"/>
              <a:t>BVM </a:t>
            </a:r>
            <a:r>
              <a:rPr lang="zh-CN" altLang="en-US" sz="2000" b="1" dirty="0"/>
              <a:t>的使用（气囊面罩通气）</a:t>
            </a:r>
          </a:p>
          <a:p>
            <a:r>
              <a:rPr lang="en-US" altLang="zh-CN" sz="2000" dirty="0"/>
              <a:t>Bag Valve Mask </a:t>
            </a:r>
            <a:r>
              <a:rPr lang="zh-CN" altLang="en-US" sz="2000" dirty="0"/>
              <a:t>是院前急救中用于人工通气的重要设备，可在伤者呼吸停止或呼吸不足时提供氧气和通气支持，也是基础生命支持遇到心脏骤停事件里面唯一可以提高通气成功率的方法。</a:t>
            </a:r>
          </a:p>
        </p:txBody>
      </p:sp>
      <p:sp>
        <p:nvSpPr>
          <p:cNvPr id="9" name="文本框 8">
            <a:extLst>
              <a:ext uri="{FF2B5EF4-FFF2-40B4-BE49-F238E27FC236}">
                <a16:creationId xmlns:a16="http://schemas.microsoft.com/office/drawing/2014/main" id="{1EDF723A-59CC-431C-B18A-F7986BCEFBE4}"/>
              </a:ext>
            </a:extLst>
          </p:cNvPr>
          <p:cNvSpPr txBox="1"/>
          <p:nvPr/>
        </p:nvSpPr>
        <p:spPr>
          <a:xfrm>
            <a:off x="311152" y="2322483"/>
            <a:ext cx="7087176" cy="4339650"/>
          </a:xfrm>
          <a:prstGeom prst="rect">
            <a:avLst/>
          </a:prstGeom>
          <a:noFill/>
        </p:spPr>
        <p:txBody>
          <a:bodyPr wrap="square" rtlCol="0">
            <a:spAutoFit/>
          </a:bodyPr>
          <a:lstStyle/>
          <a:p>
            <a:r>
              <a:rPr lang="zh-CN" altLang="en-US" sz="2400" b="1" dirty="0"/>
              <a:t>四、进阶操作方法 </a:t>
            </a:r>
            <a:r>
              <a:rPr lang="en-US" altLang="zh-CN" sz="2400" b="1" dirty="0"/>
              <a:t>[</a:t>
            </a:r>
            <a:r>
              <a:rPr lang="zh-CN" altLang="en-US" sz="2400" b="1" dirty="0"/>
              <a:t>选学</a:t>
            </a:r>
            <a:r>
              <a:rPr lang="en-US" altLang="zh-CN" sz="2400" b="1" dirty="0"/>
              <a:t>] </a:t>
            </a:r>
            <a:r>
              <a:rPr lang="en-US" altLang="zh-CN" sz="2400" b="1" dirty="0">
                <a:solidFill>
                  <a:srgbClr val="FF0000"/>
                </a:solidFill>
              </a:rPr>
              <a:t>L</a:t>
            </a:r>
            <a:endParaRPr lang="en-US" altLang="zh-CN" sz="2400" b="1" dirty="0"/>
          </a:p>
          <a:p>
            <a:pPr algn="ctr"/>
            <a:r>
              <a:rPr lang="zh-CN" altLang="en-US" sz="1600" dirty="0"/>
              <a:t>双手下颌前推</a:t>
            </a:r>
            <a:r>
              <a:rPr lang="en-US" altLang="zh-CN" sz="1600" dirty="0"/>
              <a:t>+</a:t>
            </a:r>
            <a:r>
              <a:rPr lang="zh-CN" altLang="en-US" sz="1600" dirty="0"/>
              <a:t>面罩固定</a:t>
            </a:r>
            <a:endParaRPr lang="en-US" altLang="zh-CN" sz="1600" dirty="0"/>
          </a:p>
          <a:p>
            <a:pPr algn="ctr"/>
            <a:r>
              <a:rPr lang="zh-CN" altLang="en-US" sz="1400" b="0" u="none" strike="noStrike" dirty="0">
                <a:effectLst/>
                <a:latin typeface="Arial" panose="020B0604020202020204" pitchFamily="34" charset="0"/>
              </a:rPr>
              <a:t>使用球囊面罩（</a:t>
            </a:r>
            <a:r>
              <a:rPr lang="en-US" altLang="zh-CN" sz="1400" b="0" u="none" strike="noStrike" dirty="0">
                <a:effectLst/>
                <a:latin typeface="Arial" panose="020B0604020202020204" pitchFamily="34" charset="0"/>
              </a:rPr>
              <a:t>BVM</a:t>
            </a:r>
            <a:r>
              <a:rPr lang="zh-CN" altLang="en-US" sz="1400" b="0" u="none" strike="noStrike" dirty="0">
                <a:effectLst/>
                <a:latin typeface="Arial" panose="020B0604020202020204" pitchFamily="34" charset="0"/>
              </a:rPr>
              <a:t>）进行下颌前推术</a:t>
            </a:r>
            <a:endParaRPr lang="zh-CN" altLang="en-US" sz="1400" b="1" dirty="0"/>
          </a:p>
          <a:p>
            <a:pPr>
              <a:buFont typeface="+mj-lt"/>
              <a:buAutoNum type="arabicPeriod"/>
            </a:pPr>
            <a:r>
              <a:rPr lang="zh-CN" altLang="en-US" dirty="0"/>
              <a:t>面罩覆盖患者口鼻</a:t>
            </a:r>
          </a:p>
          <a:p>
            <a:pPr>
              <a:buFont typeface="+mj-lt"/>
              <a:buAutoNum type="arabicPeriod"/>
            </a:pPr>
            <a:r>
              <a:rPr lang="zh-CN" altLang="en-US" dirty="0"/>
              <a:t>使用图示方法使伤者面板与面罩紧密贴合</a:t>
            </a:r>
            <a:endParaRPr lang="en-US" altLang="zh-CN" dirty="0"/>
          </a:p>
          <a:p>
            <a:pPr>
              <a:buFont typeface="+mj-lt"/>
              <a:buAutoNum type="arabicPeriod"/>
            </a:pPr>
            <a:r>
              <a:rPr lang="zh-CN" altLang="en-US" dirty="0"/>
              <a:t>使用小臂或大臂来挤压球囊</a:t>
            </a:r>
          </a:p>
          <a:p>
            <a:pPr>
              <a:buFont typeface="+mj-lt"/>
              <a:buAutoNum type="arabicPeriod"/>
            </a:pPr>
            <a:r>
              <a:rPr lang="zh-CN" altLang="en-US" dirty="0"/>
              <a:t>观察胸廓是否起伏</a:t>
            </a:r>
            <a:endParaRPr lang="en-US" altLang="zh-CN" dirty="0"/>
          </a:p>
          <a:p>
            <a:endParaRPr lang="en-US" altLang="zh-CN" dirty="0"/>
          </a:p>
          <a:p>
            <a:r>
              <a:rPr lang="zh-CN" altLang="en-US" sz="2400" b="1" dirty="0"/>
              <a:t>相比与标准</a:t>
            </a:r>
            <a:r>
              <a:rPr lang="en-US" altLang="zh-CN" sz="2400" b="1" dirty="0"/>
              <a:t>EC</a:t>
            </a:r>
            <a:r>
              <a:rPr lang="zh-CN" altLang="en-US" sz="2400" b="1" dirty="0"/>
              <a:t>手法的优点：</a:t>
            </a:r>
            <a:endParaRPr lang="en-US" altLang="zh-CN" sz="2400" b="1" dirty="0"/>
          </a:p>
          <a:p>
            <a:r>
              <a:rPr lang="en-US" altLang="zh-CN" dirty="0"/>
              <a:t>1.</a:t>
            </a:r>
            <a:r>
              <a:rPr lang="zh-CN" altLang="en-US" dirty="0"/>
              <a:t>面罩密封更加好，特别是遇到脸瘦</a:t>
            </a:r>
            <a:r>
              <a:rPr lang="en-US" altLang="zh-CN" dirty="0"/>
              <a:t>/</a:t>
            </a:r>
            <a:r>
              <a:rPr lang="zh-CN" altLang="en-US" dirty="0"/>
              <a:t>脸塌的伤者</a:t>
            </a:r>
            <a:endParaRPr lang="en-US" altLang="zh-CN" dirty="0"/>
          </a:p>
          <a:p>
            <a:r>
              <a:rPr lang="en-US" altLang="zh-CN" dirty="0"/>
              <a:t>2.</a:t>
            </a:r>
            <a:r>
              <a:rPr lang="zh-CN" altLang="en-US" dirty="0"/>
              <a:t>不会因为长时间使用抬头仰额法导致的从推下颚到扣下颚导致气道空间变小</a:t>
            </a:r>
            <a:endParaRPr lang="en-US" altLang="zh-CN" dirty="0"/>
          </a:p>
          <a:p>
            <a:endParaRPr lang="en-US" altLang="zh-CN" dirty="0"/>
          </a:p>
          <a:p>
            <a:r>
              <a:rPr lang="en-US" altLang="zh-CN" dirty="0"/>
              <a:t>3.</a:t>
            </a:r>
            <a:r>
              <a:rPr lang="zh-CN" altLang="en-US" dirty="0"/>
              <a:t>抗疲劳更强，</a:t>
            </a:r>
            <a:r>
              <a:rPr lang="en-US" altLang="zh-CN" dirty="0"/>
              <a:t>EC</a:t>
            </a:r>
            <a:r>
              <a:rPr lang="zh-CN" altLang="en-US" dirty="0"/>
              <a:t>是捏住</a:t>
            </a:r>
            <a:r>
              <a:rPr lang="en-US" altLang="zh-CN" dirty="0"/>
              <a:t>/</a:t>
            </a:r>
            <a:r>
              <a:rPr lang="zh-CN" altLang="en-US" dirty="0"/>
              <a:t>拖住，而</a:t>
            </a:r>
            <a:r>
              <a:rPr lang="zh-CN" altLang="en-US" sz="1800" b="0" u="none" strike="noStrike" dirty="0">
                <a:effectLst/>
                <a:latin typeface="Arial" panose="020B0604020202020204" pitchFamily="34" charset="0"/>
              </a:rPr>
              <a:t>使用球囊面罩（</a:t>
            </a:r>
            <a:r>
              <a:rPr lang="en-US" altLang="zh-CN" sz="1800" b="0" u="none" strike="noStrike" dirty="0">
                <a:effectLst/>
                <a:latin typeface="Arial" panose="020B0604020202020204" pitchFamily="34" charset="0"/>
              </a:rPr>
              <a:t>BVM</a:t>
            </a:r>
            <a:r>
              <a:rPr lang="zh-CN" altLang="en-US" sz="1800" b="0" u="none" strike="noStrike" dirty="0">
                <a:effectLst/>
                <a:latin typeface="Arial" panose="020B0604020202020204" pitchFamily="34" charset="0"/>
              </a:rPr>
              <a:t>）进行下颌前推术是使用双手手指挂在上面，可以明显减轻疲劳</a:t>
            </a:r>
            <a:endParaRPr lang="zh-CN" altLang="en-US" sz="1800" b="1" dirty="0"/>
          </a:p>
        </p:txBody>
      </p:sp>
      <p:pic>
        <p:nvPicPr>
          <p:cNvPr id="6" name="图片 5">
            <a:extLst>
              <a:ext uri="{FF2B5EF4-FFF2-40B4-BE49-F238E27FC236}">
                <a16:creationId xmlns:a16="http://schemas.microsoft.com/office/drawing/2014/main" id="{3631DFF3-BC0F-4908-A0DE-F75612394536}"/>
              </a:ext>
            </a:extLst>
          </p:cNvPr>
          <p:cNvPicPr>
            <a:picLocks noChangeAspect="1"/>
          </p:cNvPicPr>
          <p:nvPr/>
        </p:nvPicPr>
        <p:blipFill>
          <a:blip r:embed="rId3"/>
          <a:stretch>
            <a:fillRect/>
          </a:stretch>
        </p:blipFill>
        <p:spPr>
          <a:xfrm>
            <a:off x="7521000" y="2322483"/>
            <a:ext cx="4473997" cy="4018500"/>
          </a:xfrm>
          <a:prstGeom prst="rect">
            <a:avLst/>
          </a:prstGeom>
        </p:spPr>
      </p:pic>
    </p:spTree>
    <p:extLst>
      <p:ext uri="{BB962C8B-B14F-4D97-AF65-F5344CB8AC3E}">
        <p14:creationId xmlns:p14="http://schemas.microsoft.com/office/powerpoint/2010/main" val="36486710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585930" y="106492"/>
            <a:ext cx="9805845" cy="892552"/>
          </a:xfrm>
          <a:prstGeom prst="rect">
            <a:avLst/>
          </a:prstGeom>
          <a:noFill/>
        </p:spPr>
        <p:txBody>
          <a:bodyPr wrap="square" rtlCol="0">
            <a:spAutoFit/>
          </a:bodyPr>
          <a:lstStyle/>
          <a:p>
            <a:pPr algn="ctr"/>
            <a:r>
              <a:rPr lang="zh-CN" altLang="en-US" sz="3200" dirty="0"/>
              <a:t>气道管理与呼吸支持（</a:t>
            </a:r>
            <a:r>
              <a:rPr lang="en-US" altLang="zh-CN" sz="3200" dirty="0"/>
              <a:t>Airway &amp; Breathing</a:t>
            </a:r>
            <a:r>
              <a:rPr lang="zh-CN" altLang="en-US" sz="3200" dirty="0"/>
              <a:t>）</a:t>
            </a:r>
            <a:endParaRPr lang="en-US" altLang="zh-CN" sz="3200" dirty="0"/>
          </a:p>
          <a:p>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5" name="文本框 4">
            <a:extLst>
              <a:ext uri="{FF2B5EF4-FFF2-40B4-BE49-F238E27FC236}">
                <a16:creationId xmlns:a16="http://schemas.microsoft.com/office/drawing/2014/main" id="{813CA8A6-0B76-442A-B0A8-573506CAB007}"/>
              </a:ext>
            </a:extLst>
          </p:cNvPr>
          <p:cNvSpPr txBox="1"/>
          <p:nvPr/>
        </p:nvSpPr>
        <p:spPr>
          <a:xfrm>
            <a:off x="333374" y="999044"/>
            <a:ext cx="9805845" cy="400110"/>
          </a:xfrm>
          <a:prstGeom prst="rect">
            <a:avLst/>
          </a:prstGeom>
          <a:noFill/>
        </p:spPr>
        <p:txBody>
          <a:bodyPr wrap="square" rtlCol="0">
            <a:spAutoFit/>
          </a:bodyPr>
          <a:lstStyle/>
          <a:p>
            <a:r>
              <a:rPr lang="en-US" altLang="zh-CN" sz="2000" b="1" dirty="0">
                <a:hlinkClick r:id="rId3"/>
              </a:rPr>
              <a:t>BVM </a:t>
            </a:r>
            <a:r>
              <a:rPr lang="zh-CN" altLang="en-US" sz="2000" b="1" dirty="0">
                <a:hlinkClick r:id="rId3"/>
              </a:rPr>
              <a:t>的使用（气囊面罩通气）</a:t>
            </a:r>
            <a:r>
              <a:rPr lang="en-US" altLang="zh-CN" sz="2000" b="1" dirty="0">
                <a:solidFill>
                  <a:srgbClr val="FF0000"/>
                </a:solidFill>
              </a:rPr>
              <a:t>L</a:t>
            </a:r>
            <a:endParaRPr lang="zh-CN" altLang="en-US" sz="2000" b="1" dirty="0">
              <a:solidFill>
                <a:srgbClr val="FF0000"/>
              </a:solidFill>
            </a:endParaRPr>
          </a:p>
        </p:txBody>
      </p:sp>
      <p:pic>
        <p:nvPicPr>
          <p:cNvPr id="7172" name="Picture 4" descr="Critical Care Device Series: Bag-Valve-Mask EMRA">
            <a:extLst>
              <a:ext uri="{FF2B5EF4-FFF2-40B4-BE49-F238E27FC236}">
                <a16:creationId xmlns:a16="http://schemas.microsoft.com/office/drawing/2014/main" id="{63059631-C70B-46B1-A8D4-AAB480A3E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6618" y="1891596"/>
            <a:ext cx="7620000"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42786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0782DE52-19FC-41E3-893A-8D909434C3D3}"/>
              </a:ext>
            </a:extLst>
          </p:cNvPr>
          <p:cNvSpPr txBox="1"/>
          <p:nvPr/>
        </p:nvSpPr>
        <p:spPr>
          <a:xfrm>
            <a:off x="319230" y="876332"/>
            <a:ext cx="5062395" cy="523220"/>
          </a:xfrm>
          <a:prstGeom prst="rect">
            <a:avLst/>
          </a:prstGeom>
          <a:noFill/>
        </p:spPr>
        <p:txBody>
          <a:bodyPr wrap="square" rtlCol="0">
            <a:spAutoFit/>
          </a:bodyPr>
          <a:lstStyle/>
          <a:p>
            <a:pPr algn="l"/>
            <a:r>
              <a:rPr lang="zh-CN" altLang="en-US" sz="2800" b="1" i="0" dirty="0">
                <a:effectLst/>
                <a:latin typeface="-apple-system"/>
                <a:hlinkClick r:id="rId3"/>
              </a:rPr>
              <a:t>口咽气道与鼻咽气道 </a:t>
            </a:r>
            <a:r>
              <a:rPr lang="zh-CN" altLang="en-US" sz="2800" i="0" dirty="0">
                <a:solidFill>
                  <a:srgbClr val="FF0000"/>
                </a:solidFill>
                <a:effectLst/>
                <a:latin typeface="-apple-system"/>
              </a:rPr>
              <a:t>难度：</a:t>
            </a:r>
            <a:r>
              <a:rPr lang="en-US" altLang="zh-CN" sz="2800" i="0" dirty="0">
                <a:solidFill>
                  <a:srgbClr val="FF0000"/>
                </a:solidFill>
                <a:effectLst/>
                <a:latin typeface="-apple-system"/>
              </a:rPr>
              <a:t>H</a:t>
            </a:r>
            <a:endParaRPr lang="zh-CN" altLang="en-US" sz="2800" i="0" dirty="0">
              <a:solidFill>
                <a:srgbClr val="FF0000"/>
              </a:solidFill>
              <a:effectLst/>
              <a:latin typeface="-apple-system"/>
            </a:endParaRPr>
          </a:p>
        </p:txBody>
      </p:sp>
      <p:sp>
        <p:nvSpPr>
          <p:cNvPr id="7" name="文本框 6">
            <a:extLst>
              <a:ext uri="{FF2B5EF4-FFF2-40B4-BE49-F238E27FC236}">
                <a16:creationId xmlns:a16="http://schemas.microsoft.com/office/drawing/2014/main" id="{9BBBAE83-E79E-4FDD-8222-A6F825882FEF}"/>
              </a:ext>
            </a:extLst>
          </p:cNvPr>
          <p:cNvSpPr txBox="1"/>
          <p:nvPr/>
        </p:nvSpPr>
        <p:spPr>
          <a:xfrm>
            <a:off x="585930" y="106492"/>
            <a:ext cx="9805845" cy="892552"/>
          </a:xfrm>
          <a:prstGeom prst="rect">
            <a:avLst/>
          </a:prstGeom>
          <a:noFill/>
        </p:spPr>
        <p:txBody>
          <a:bodyPr wrap="square" rtlCol="0">
            <a:spAutoFit/>
          </a:bodyPr>
          <a:lstStyle/>
          <a:p>
            <a:pPr algn="ctr"/>
            <a:r>
              <a:rPr lang="zh-CN" altLang="en-US" sz="3200" dirty="0"/>
              <a:t>气道管理与呼吸支持（</a:t>
            </a:r>
            <a:r>
              <a:rPr lang="en-US" altLang="zh-CN" sz="3200" dirty="0"/>
              <a:t>Airway &amp; Breathing</a:t>
            </a:r>
            <a:r>
              <a:rPr lang="zh-CN" altLang="en-US" sz="3200" dirty="0"/>
              <a:t>）</a:t>
            </a:r>
            <a:endParaRPr lang="en-US" altLang="zh-CN" sz="3200" dirty="0"/>
          </a:p>
          <a:p>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194" name="Picture 2" descr="Amazon.com: Endure Complete Airway Emergency Kit - 8 Sizes Berman OPA + 2  Packs Nasopharyngeal Airway (28 FR) + 2 Packs Lubricating Jelly :  Industrial &amp; Scientific">
            <a:extLst>
              <a:ext uri="{FF2B5EF4-FFF2-40B4-BE49-F238E27FC236}">
                <a16:creationId xmlns:a16="http://schemas.microsoft.com/office/drawing/2014/main" id="{6A66EA30-A398-4274-9D66-CC2D569111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2654" y="1949247"/>
            <a:ext cx="6877627" cy="433978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OPA vs NPA: Which Airway Device Is Right for Your Kit?">
            <a:extLst>
              <a:ext uri="{FF2B5EF4-FFF2-40B4-BE49-F238E27FC236}">
                <a16:creationId xmlns:a16="http://schemas.microsoft.com/office/drawing/2014/main" id="{94A39A61-CE0D-4177-909C-CA93B53F08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52689" y="3029272"/>
            <a:ext cx="4346344" cy="2173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399591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6" name="文本框 15">
            <a:extLst>
              <a:ext uri="{FF2B5EF4-FFF2-40B4-BE49-F238E27FC236}">
                <a16:creationId xmlns:a16="http://schemas.microsoft.com/office/drawing/2014/main" id="{EDEF7DEE-4BB2-4A82-987C-C32307D34CF4}"/>
              </a:ext>
            </a:extLst>
          </p:cNvPr>
          <p:cNvSpPr txBox="1"/>
          <p:nvPr/>
        </p:nvSpPr>
        <p:spPr>
          <a:xfrm>
            <a:off x="333375" y="999044"/>
            <a:ext cx="4394200" cy="5816977"/>
          </a:xfrm>
          <a:prstGeom prst="rect">
            <a:avLst/>
          </a:prstGeom>
          <a:noFill/>
        </p:spPr>
        <p:txBody>
          <a:bodyPr wrap="square" rtlCol="0">
            <a:spAutoFit/>
          </a:bodyPr>
          <a:lstStyle/>
          <a:p>
            <a:r>
              <a:rPr lang="zh-CN" altLang="en-US" sz="2400" b="1" dirty="0"/>
              <a:t>一、氧气辅助 </a:t>
            </a:r>
            <a:r>
              <a:rPr lang="en-US" altLang="zh-CN" sz="2400" b="1" dirty="0">
                <a:solidFill>
                  <a:srgbClr val="FF0000"/>
                </a:solidFill>
              </a:rPr>
              <a:t>H</a:t>
            </a:r>
            <a:endParaRPr lang="zh-CN" altLang="en-US" sz="2400" b="1" dirty="0">
              <a:solidFill>
                <a:srgbClr val="FF0000"/>
              </a:solidFill>
            </a:endParaRPr>
          </a:p>
          <a:p>
            <a:r>
              <a:rPr lang="zh-CN" altLang="en-US" dirty="0"/>
              <a:t>氧气用于改善组织缺氧状态，在院前急救中是常见的支持措施。</a:t>
            </a:r>
          </a:p>
          <a:p>
            <a:r>
              <a:rPr lang="en-US" altLang="zh-CN" dirty="0"/>
              <a:t>1.</a:t>
            </a:r>
            <a:r>
              <a:rPr lang="zh-CN" altLang="en-US" dirty="0"/>
              <a:t>适用情况：</a:t>
            </a:r>
          </a:p>
          <a:p>
            <a:r>
              <a:rPr lang="en-US" altLang="zh-CN" dirty="0"/>
              <a:t>	1.</a:t>
            </a:r>
            <a:r>
              <a:rPr lang="zh-CN" altLang="en-US" dirty="0"/>
              <a:t>呼吸困难</a:t>
            </a:r>
          </a:p>
          <a:p>
            <a:r>
              <a:rPr lang="en-US" altLang="zh-CN" dirty="0"/>
              <a:t>	2.</a:t>
            </a:r>
            <a:r>
              <a:rPr lang="zh-CN" altLang="en-US" dirty="0"/>
              <a:t>血氧下降</a:t>
            </a:r>
          </a:p>
          <a:p>
            <a:r>
              <a:rPr lang="en-US" altLang="zh-CN" dirty="0"/>
              <a:t>	3.</a:t>
            </a:r>
            <a:r>
              <a:rPr lang="zh-CN" altLang="en-US" dirty="0"/>
              <a:t>胸痛或疑似心脏问题</a:t>
            </a:r>
          </a:p>
          <a:p>
            <a:r>
              <a:rPr lang="en-US" altLang="zh-CN" dirty="0"/>
              <a:t>	4.</a:t>
            </a:r>
            <a:r>
              <a:rPr lang="zh-CN" altLang="en-US" dirty="0"/>
              <a:t>严重创伤</a:t>
            </a:r>
          </a:p>
          <a:p>
            <a:r>
              <a:rPr lang="en-US" altLang="zh-CN" sz="2000" dirty="0"/>
              <a:t>	</a:t>
            </a:r>
            <a:r>
              <a:rPr lang="en-US" altLang="zh-CN" dirty="0"/>
              <a:t>5.</a:t>
            </a:r>
            <a:r>
              <a:rPr lang="zh-CN" altLang="en-US" dirty="0"/>
              <a:t>心脏骤停复苏过程中</a:t>
            </a:r>
          </a:p>
          <a:p>
            <a:r>
              <a:rPr lang="en-US" altLang="zh-CN" sz="2000" dirty="0"/>
              <a:t>2.</a:t>
            </a:r>
            <a:r>
              <a:rPr lang="zh-CN" altLang="en-US" sz="2000" dirty="0"/>
              <a:t>常见给氧方式：</a:t>
            </a:r>
          </a:p>
          <a:p>
            <a:r>
              <a:rPr lang="zh-CN" altLang="en-US" dirty="0"/>
              <a:t>鼻导管</a:t>
            </a:r>
            <a:r>
              <a:rPr lang="en-US" altLang="zh-CN" dirty="0"/>
              <a:t>——</a:t>
            </a:r>
            <a:r>
              <a:rPr lang="zh-CN" altLang="en-US" dirty="0"/>
              <a:t>流量：</a:t>
            </a:r>
            <a:r>
              <a:rPr lang="en-US" altLang="zh-CN" dirty="0">
                <a:highlight>
                  <a:srgbClr val="FFFF00"/>
                </a:highlight>
              </a:rPr>
              <a:t>2–6 L/min</a:t>
            </a:r>
          </a:p>
          <a:p>
            <a:r>
              <a:rPr lang="zh-CN" altLang="en-US" dirty="0"/>
              <a:t>  适用于轻度缺氧</a:t>
            </a:r>
            <a:endParaRPr lang="en-US" altLang="zh-CN" dirty="0"/>
          </a:p>
          <a:p>
            <a:endParaRPr lang="zh-CN" altLang="en-US" dirty="0"/>
          </a:p>
          <a:p>
            <a:r>
              <a:rPr lang="zh-CN" altLang="en-US" dirty="0"/>
              <a:t>简易面罩吸氧</a:t>
            </a:r>
            <a:r>
              <a:rPr lang="en-US" altLang="zh-CN" dirty="0"/>
              <a:t>——</a:t>
            </a:r>
            <a:r>
              <a:rPr lang="zh-CN" altLang="en-US" dirty="0"/>
              <a:t>流量：</a:t>
            </a:r>
            <a:r>
              <a:rPr lang="en-US" altLang="zh-CN" dirty="0">
                <a:highlight>
                  <a:srgbClr val="FFFF00"/>
                </a:highlight>
              </a:rPr>
              <a:t>6–10 L/min</a:t>
            </a:r>
          </a:p>
          <a:p>
            <a:r>
              <a:rPr lang="zh-CN" altLang="en-US" dirty="0"/>
              <a:t>  适用于呼吸困难患者</a:t>
            </a:r>
            <a:endParaRPr lang="en-US" altLang="zh-CN" dirty="0"/>
          </a:p>
          <a:p>
            <a:endParaRPr lang="zh-CN" altLang="en-US" dirty="0"/>
          </a:p>
          <a:p>
            <a:r>
              <a:rPr lang="zh-CN" altLang="en-US" dirty="0"/>
              <a:t>高流量氧气</a:t>
            </a:r>
            <a:r>
              <a:rPr lang="en-US" altLang="zh-CN" dirty="0"/>
              <a:t>——</a:t>
            </a:r>
            <a:r>
              <a:rPr lang="zh-CN" altLang="en-US" dirty="0"/>
              <a:t>流量：</a:t>
            </a:r>
            <a:r>
              <a:rPr lang="en-US" altLang="zh-CN" dirty="0">
                <a:highlight>
                  <a:srgbClr val="FFFF00"/>
                </a:highlight>
              </a:rPr>
              <a:t>10–15 L/min</a:t>
            </a:r>
          </a:p>
          <a:p>
            <a:r>
              <a:rPr lang="zh-CN" altLang="en-US" dirty="0"/>
              <a:t>  适用于严重缺氧或复苏患者</a:t>
            </a:r>
            <a:endParaRPr lang="en-US" altLang="zh-CN" dirty="0"/>
          </a:p>
          <a:p>
            <a:r>
              <a:rPr lang="en-US" altLang="zh-CN" dirty="0"/>
              <a:t> PS:</a:t>
            </a:r>
            <a:r>
              <a:rPr lang="zh-CN" altLang="en-US" dirty="0"/>
              <a:t>一般配合</a:t>
            </a:r>
            <a:r>
              <a:rPr lang="en-US" altLang="zh-CN" dirty="0"/>
              <a:t>BVM</a:t>
            </a:r>
            <a:r>
              <a:rPr lang="zh-CN" altLang="en-US" dirty="0"/>
              <a:t>使用（呼吸球囊）</a:t>
            </a:r>
          </a:p>
          <a:p>
            <a:endParaRPr lang="zh-CN" altLang="en-US" sz="2000" b="1" dirty="0"/>
          </a:p>
        </p:txBody>
      </p:sp>
      <p:sp>
        <p:nvSpPr>
          <p:cNvPr id="17" name="文本框 16">
            <a:extLst>
              <a:ext uri="{FF2B5EF4-FFF2-40B4-BE49-F238E27FC236}">
                <a16:creationId xmlns:a16="http://schemas.microsoft.com/office/drawing/2014/main" id="{DDD8EB32-5314-49AC-B487-C23755064B73}"/>
              </a:ext>
            </a:extLst>
          </p:cNvPr>
          <p:cNvSpPr txBox="1"/>
          <p:nvPr/>
        </p:nvSpPr>
        <p:spPr>
          <a:xfrm>
            <a:off x="4727575" y="1028270"/>
            <a:ext cx="4394200" cy="4647426"/>
          </a:xfrm>
          <a:prstGeom prst="rect">
            <a:avLst/>
          </a:prstGeom>
          <a:noFill/>
        </p:spPr>
        <p:txBody>
          <a:bodyPr wrap="square" rtlCol="0">
            <a:spAutoFit/>
          </a:bodyPr>
          <a:lstStyle/>
          <a:p>
            <a:r>
              <a:rPr lang="zh-CN" altLang="en-US" sz="2400" b="1" dirty="0"/>
              <a:t>二、气道开放 </a:t>
            </a:r>
            <a:r>
              <a:rPr lang="en-US" altLang="zh-CN" sz="2400" b="1" dirty="0">
                <a:solidFill>
                  <a:srgbClr val="FF0000"/>
                </a:solidFill>
              </a:rPr>
              <a:t>L</a:t>
            </a:r>
            <a:endParaRPr lang="zh-CN" altLang="en-US" sz="2400" b="1" dirty="0"/>
          </a:p>
          <a:p>
            <a:r>
              <a:rPr lang="en-US" altLang="zh-CN" sz="2000" dirty="0"/>
              <a:t>(1)</a:t>
            </a:r>
            <a:r>
              <a:rPr lang="zh-CN" altLang="en-US" sz="2000" dirty="0"/>
              <a:t>仰头抬颏法</a:t>
            </a:r>
          </a:p>
          <a:p>
            <a:r>
              <a:rPr lang="zh-CN" altLang="en-US" dirty="0"/>
              <a:t>适用于：</a:t>
            </a:r>
          </a:p>
          <a:p>
            <a:r>
              <a:rPr lang="en-US" altLang="zh-CN" dirty="0"/>
              <a:t>	</a:t>
            </a:r>
            <a:r>
              <a:rPr lang="zh-CN" altLang="en-US" dirty="0"/>
              <a:t>无颈椎损伤的伤者</a:t>
            </a:r>
          </a:p>
          <a:p>
            <a:r>
              <a:rPr lang="zh-CN" altLang="en-US" dirty="0"/>
              <a:t>操作：</a:t>
            </a:r>
          </a:p>
          <a:p>
            <a:r>
              <a:rPr lang="en-US" altLang="zh-CN" dirty="0"/>
              <a:t>	1.</a:t>
            </a:r>
            <a:r>
              <a:rPr lang="zh-CN" altLang="en-US" dirty="0"/>
              <a:t>一手按额头</a:t>
            </a:r>
          </a:p>
          <a:p>
            <a:r>
              <a:rPr lang="en-US" altLang="zh-CN" dirty="0"/>
              <a:t>	2.</a:t>
            </a:r>
            <a:r>
              <a:rPr lang="zh-CN" altLang="en-US" dirty="0"/>
              <a:t>一手抬起下巴</a:t>
            </a:r>
          </a:p>
          <a:p>
            <a:r>
              <a:rPr lang="en-US" altLang="zh-CN" dirty="0"/>
              <a:t>	3.</a:t>
            </a:r>
            <a:r>
              <a:rPr lang="zh-CN" altLang="en-US" dirty="0"/>
              <a:t>打开气道</a:t>
            </a:r>
            <a:endParaRPr lang="en-US" altLang="zh-CN" dirty="0"/>
          </a:p>
          <a:p>
            <a:r>
              <a:rPr lang="en-US" altLang="zh-CN" sz="2000" dirty="0"/>
              <a:t>(2)</a:t>
            </a:r>
            <a:r>
              <a:rPr lang="zh-CN" altLang="en-US" sz="2000" dirty="0"/>
              <a:t>下颌前推法</a:t>
            </a:r>
          </a:p>
          <a:p>
            <a:r>
              <a:rPr lang="zh-CN" altLang="en-US" dirty="0"/>
              <a:t>适用于：</a:t>
            </a:r>
          </a:p>
          <a:p>
            <a:r>
              <a:rPr lang="en-US" altLang="zh-CN" dirty="0"/>
              <a:t>	</a:t>
            </a:r>
            <a:r>
              <a:rPr lang="zh-CN" altLang="en-US" dirty="0"/>
              <a:t>怀疑颈椎损伤</a:t>
            </a:r>
          </a:p>
          <a:p>
            <a:r>
              <a:rPr lang="zh-CN" altLang="en-US" dirty="0"/>
              <a:t>操作：</a:t>
            </a:r>
          </a:p>
          <a:p>
            <a:r>
              <a:rPr lang="en-US" altLang="zh-CN" dirty="0"/>
              <a:t>	2.</a:t>
            </a:r>
            <a:r>
              <a:rPr lang="zh-CN" altLang="en-US" dirty="0"/>
              <a:t>双手托住下颌角</a:t>
            </a:r>
          </a:p>
          <a:p>
            <a:r>
              <a:rPr lang="en-US" altLang="zh-CN" dirty="0"/>
              <a:t>	1.</a:t>
            </a:r>
            <a:r>
              <a:rPr lang="zh-CN" altLang="en-US" dirty="0"/>
              <a:t>向前抬起下颌</a:t>
            </a:r>
          </a:p>
          <a:p>
            <a:r>
              <a:rPr lang="zh-CN" altLang="en-US" b="1" dirty="0">
                <a:solidFill>
                  <a:srgbClr val="FF0000"/>
                </a:solidFill>
              </a:rPr>
              <a:t>可减少颈椎移动。</a:t>
            </a:r>
          </a:p>
          <a:p>
            <a:endParaRPr lang="zh-CN" altLang="en-US" dirty="0"/>
          </a:p>
        </p:txBody>
      </p:sp>
    </p:spTree>
    <p:extLst>
      <p:ext uri="{BB962C8B-B14F-4D97-AF65-F5344CB8AC3E}">
        <p14:creationId xmlns:p14="http://schemas.microsoft.com/office/powerpoint/2010/main" val="6708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65187" y="1279037"/>
            <a:ext cx="4677330" cy="2554545"/>
          </a:xfrm>
          <a:prstGeom prst="rect">
            <a:avLst/>
          </a:prstGeom>
          <a:noFill/>
        </p:spPr>
        <p:txBody>
          <a:bodyPr wrap="square" rtlCol="0">
            <a:spAutoFit/>
          </a:bodyPr>
          <a:lstStyle/>
          <a:p>
            <a:r>
              <a:rPr lang="zh-CN" altLang="en-US" sz="2400" b="1" dirty="0"/>
              <a:t>一、血压（</a:t>
            </a:r>
            <a:r>
              <a:rPr lang="en-US" altLang="zh-CN" sz="2400" b="1" dirty="0"/>
              <a:t>Blood Pressure</a:t>
            </a:r>
            <a:r>
              <a:rPr lang="zh-CN" altLang="en-US" sz="2400" b="1" dirty="0"/>
              <a:t>）</a:t>
            </a:r>
            <a:r>
              <a:rPr lang="en-US" altLang="zh-CN" sz="2400" b="1" dirty="0"/>
              <a:t>BP</a:t>
            </a:r>
          </a:p>
          <a:p>
            <a:r>
              <a:rPr lang="en-US" altLang="zh-CN" sz="2400" b="1" dirty="0">
                <a:solidFill>
                  <a:srgbClr val="FF0000"/>
                </a:solidFill>
              </a:rPr>
              <a:t>L</a:t>
            </a:r>
            <a:endParaRPr lang="zh-CN" altLang="en-US" sz="2400" b="1" dirty="0"/>
          </a:p>
          <a:p>
            <a:r>
              <a:rPr lang="zh-CN" altLang="en-US" sz="2000" dirty="0"/>
              <a:t>正常成人参考值：</a:t>
            </a:r>
          </a:p>
          <a:p>
            <a:r>
              <a:rPr lang="zh-CN" altLang="en-US" dirty="0"/>
              <a:t>收缩压：</a:t>
            </a:r>
            <a:r>
              <a:rPr lang="en-US" altLang="zh-CN" b="1" dirty="0"/>
              <a:t>90–120 mmHg</a:t>
            </a:r>
            <a:endParaRPr lang="zh-CN" altLang="en-US" dirty="0"/>
          </a:p>
          <a:p>
            <a:r>
              <a:rPr lang="zh-CN" altLang="en-US" dirty="0"/>
              <a:t>舒张压：</a:t>
            </a:r>
            <a:r>
              <a:rPr lang="en-US" altLang="zh-CN" b="1" dirty="0"/>
              <a:t>60–80 mmHg</a:t>
            </a:r>
            <a:endParaRPr lang="zh-CN" altLang="en-US" dirty="0"/>
          </a:p>
          <a:p>
            <a:r>
              <a:rPr lang="zh-CN" altLang="en-US" sz="2000" dirty="0"/>
              <a:t>异常情况：</a:t>
            </a:r>
          </a:p>
          <a:p>
            <a:r>
              <a:rPr lang="zh-CN" altLang="en-US" dirty="0"/>
              <a:t>收缩压</a:t>
            </a:r>
            <a:r>
              <a:rPr lang="en-US" altLang="zh-CN" b="1" dirty="0"/>
              <a:t>&lt;90 mmHg</a:t>
            </a:r>
            <a:r>
              <a:rPr lang="zh-CN" altLang="en-US" dirty="0"/>
              <a:t>可能为低血压</a:t>
            </a:r>
          </a:p>
          <a:p>
            <a:r>
              <a:rPr lang="zh-CN" altLang="en-US" dirty="0"/>
              <a:t>持续下降需警惕失血或休克</a:t>
            </a:r>
          </a:p>
        </p:txBody>
      </p:sp>
      <p:sp>
        <p:nvSpPr>
          <p:cNvPr id="7" name="文本框 6">
            <a:extLst>
              <a:ext uri="{FF2B5EF4-FFF2-40B4-BE49-F238E27FC236}">
                <a16:creationId xmlns:a16="http://schemas.microsoft.com/office/drawing/2014/main" id="{30B2D6C3-CD62-4791-8AC2-B7579C66DC9B}"/>
              </a:ext>
            </a:extLst>
          </p:cNvPr>
          <p:cNvSpPr txBox="1"/>
          <p:nvPr/>
        </p:nvSpPr>
        <p:spPr>
          <a:xfrm>
            <a:off x="328797" y="3924584"/>
            <a:ext cx="4677330" cy="2215991"/>
          </a:xfrm>
          <a:prstGeom prst="rect">
            <a:avLst/>
          </a:prstGeom>
          <a:noFill/>
        </p:spPr>
        <p:txBody>
          <a:bodyPr wrap="square" rtlCol="0">
            <a:spAutoFit/>
          </a:bodyPr>
          <a:lstStyle/>
          <a:p>
            <a:r>
              <a:rPr lang="zh-CN" altLang="en-US" sz="2400" b="1" dirty="0"/>
              <a:t>二、脉率（</a:t>
            </a:r>
            <a:r>
              <a:rPr lang="en-US" altLang="zh-CN" sz="2400" b="1" dirty="0"/>
              <a:t>Pulse Rate</a:t>
            </a:r>
            <a:r>
              <a:rPr lang="zh-CN" altLang="en-US" sz="2400" b="1" dirty="0"/>
              <a:t>）</a:t>
            </a:r>
            <a:r>
              <a:rPr lang="en-US" altLang="zh-CN" sz="2400" b="1" dirty="0"/>
              <a:t>PR </a:t>
            </a:r>
            <a:r>
              <a:rPr lang="en-US" altLang="zh-CN" sz="2400" b="1" dirty="0">
                <a:solidFill>
                  <a:srgbClr val="FF0000"/>
                </a:solidFill>
              </a:rPr>
              <a:t>L</a:t>
            </a:r>
            <a:endParaRPr lang="zh-CN" altLang="en-US" sz="2400" b="1" dirty="0"/>
          </a:p>
          <a:p>
            <a:r>
              <a:rPr lang="zh-CN" altLang="en-US" sz="2000" dirty="0"/>
              <a:t>正常成人：</a:t>
            </a:r>
          </a:p>
          <a:p>
            <a:r>
              <a:rPr lang="en-US" altLang="zh-CN" dirty="0"/>
              <a:t>60–100 </a:t>
            </a:r>
            <a:r>
              <a:rPr lang="zh-CN" altLang="en-US" dirty="0"/>
              <a:t>次</a:t>
            </a:r>
            <a:r>
              <a:rPr lang="en-US" altLang="zh-CN" dirty="0"/>
              <a:t>/</a:t>
            </a:r>
            <a:r>
              <a:rPr lang="zh-CN" altLang="en-US" dirty="0"/>
              <a:t>分钟</a:t>
            </a:r>
          </a:p>
          <a:p>
            <a:r>
              <a:rPr lang="zh-CN" altLang="en-US" sz="2000" dirty="0"/>
              <a:t>异常情况：</a:t>
            </a:r>
          </a:p>
          <a:p>
            <a:r>
              <a:rPr lang="en-US" altLang="zh-CN" dirty="0">
                <a:highlight>
                  <a:srgbClr val="FFFF00"/>
                </a:highlight>
              </a:rPr>
              <a:t>&gt;100 </a:t>
            </a:r>
            <a:r>
              <a:rPr lang="zh-CN" altLang="en-US" dirty="0">
                <a:highlight>
                  <a:srgbClr val="FFFF00"/>
                </a:highlight>
              </a:rPr>
              <a:t>次</a:t>
            </a:r>
            <a:r>
              <a:rPr lang="en-US" altLang="zh-CN" dirty="0">
                <a:highlight>
                  <a:srgbClr val="FFFF00"/>
                </a:highlight>
              </a:rPr>
              <a:t>/</a:t>
            </a:r>
            <a:r>
              <a:rPr lang="zh-CN" altLang="en-US" dirty="0">
                <a:highlight>
                  <a:srgbClr val="FFFF00"/>
                </a:highlight>
              </a:rPr>
              <a:t>分钟</a:t>
            </a:r>
            <a:r>
              <a:rPr lang="zh-CN" altLang="en-US" dirty="0"/>
              <a:t>可能为疼痛、紧张、出血或休克</a:t>
            </a:r>
          </a:p>
          <a:p>
            <a:r>
              <a:rPr lang="en-US" altLang="zh-CN" dirty="0">
                <a:highlight>
                  <a:srgbClr val="FFFF00"/>
                </a:highlight>
              </a:rPr>
              <a:t>&lt;50 </a:t>
            </a:r>
            <a:r>
              <a:rPr lang="zh-CN" altLang="en-US" dirty="0">
                <a:highlight>
                  <a:srgbClr val="FFFF00"/>
                </a:highlight>
              </a:rPr>
              <a:t>次</a:t>
            </a:r>
            <a:r>
              <a:rPr lang="en-US" altLang="zh-CN" dirty="0">
                <a:highlight>
                  <a:srgbClr val="FFFF00"/>
                </a:highlight>
              </a:rPr>
              <a:t>/</a:t>
            </a:r>
            <a:r>
              <a:rPr lang="zh-CN" altLang="en-US" dirty="0">
                <a:highlight>
                  <a:srgbClr val="FFFF00"/>
                </a:highlight>
              </a:rPr>
              <a:t>分钟</a:t>
            </a:r>
            <a:r>
              <a:rPr lang="zh-CN" altLang="en-US" dirty="0"/>
              <a:t>可能提示严重循环问题</a:t>
            </a:r>
          </a:p>
        </p:txBody>
      </p:sp>
      <p:sp>
        <p:nvSpPr>
          <p:cNvPr id="9" name="文本框 8">
            <a:extLst>
              <a:ext uri="{FF2B5EF4-FFF2-40B4-BE49-F238E27FC236}">
                <a16:creationId xmlns:a16="http://schemas.microsoft.com/office/drawing/2014/main" id="{A6FBECFA-6025-4398-A071-383BB6914670}"/>
              </a:ext>
            </a:extLst>
          </p:cNvPr>
          <p:cNvSpPr txBox="1"/>
          <p:nvPr/>
        </p:nvSpPr>
        <p:spPr>
          <a:xfrm>
            <a:off x="4847208" y="1279037"/>
            <a:ext cx="5433134" cy="3693319"/>
          </a:xfrm>
          <a:prstGeom prst="rect">
            <a:avLst/>
          </a:prstGeom>
          <a:noFill/>
        </p:spPr>
        <p:txBody>
          <a:bodyPr wrap="square" rtlCol="0">
            <a:spAutoFit/>
          </a:bodyPr>
          <a:lstStyle/>
          <a:p>
            <a:r>
              <a:rPr lang="zh-CN" altLang="en-US" sz="2400" b="1" dirty="0"/>
              <a:t>三、呼吸频率（</a:t>
            </a:r>
            <a:r>
              <a:rPr lang="en-US" altLang="zh-CN" sz="2400" b="1" dirty="0"/>
              <a:t>Respiratory Rate</a:t>
            </a:r>
            <a:r>
              <a:rPr lang="zh-CN" altLang="en-US" sz="2400" b="1" dirty="0"/>
              <a:t>）</a:t>
            </a:r>
            <a:r>
              <a:rPr lang="en-US" altLang="zh-CN" sz="2400" b="1" dirty="0"/>
              <a:t>RR</a:t>
            </a:r>
          </a:p>
          <a:p>
            <a:r>
              <a:rPr lang="en-US" altLang="zh-CN" sz="2400" b="1" dirty="0">
                <a:solidFill>
                  <a:srgbClr val="FF0000"/>
                </a:solidFill>
              </a:rPr>
              <a:t>L</a:t>
            </a:r>
            <a:endParaRPr lang="zh-CN" altLang="en-US" sz="2400" b="1" dirty="0"/>
          </a:p>
          <a:p>
            <a:r>
              <a:rPr lang="zh-CN" altLang="en-US" sz="2000" dirty="0"/>
              <a:t>通过 观察胸廓起伏进行计数。</a:t>
            </a:r>
          </a:p>
          <a:p>
            <a:r>
              <a:rPr lang="zh-CN" altLang="en-US" sz="2000" dirty="0"/>
              <a:t>正常成人：</a:t>
            </a:r>
          </a:p>
          <a:p>
            <a:r>
              <a:rPr lang="en-US" altLang="zh-CN" dirty="0">
                <a:highlight>
                  <a:srgbClr val="FFFF00"/>
                </a:highlight>
              </a:rPr>
              <a:t>12–20 </a:t>
            </a:r>
            <a:r>
              <a:rPr lang="zh-CN" altLang="en-US" dirty="0">
                <a:highlight>
                  <a:srgbClr val="FFFF00"/>
                </a:highlight>
              </a:rPr>
              <a:t>次</a:t>
            </a:r>
            <a:r>
              <a:rPr lang="en-US" altLang="zh-CN" dirty="0">
                <a:highlight>
                  <a:srgbClr val="FFFF00"/>
                </a:highlight>
              </a:rPr>
              <a:t>/</a:t>
            </a:r>
            <a:r>
              <a:rPr lang="zh-CN" altLang="en-US" dirty="0">
                <a:highlight>
                  <a:srgbClr val="FFFF00"/>
                </a:highlight>
              </a:rPr>
              <a:t>分钟</a:t>
            </a:r>
          </a:p>
          <a:p>
            <a:r>
              <a:rPr lang="zh-CN" altLang="en-US" sz="2000" dirty="0"/>
              <a:t>异常情况：</a:t>
            </a:r>
          </a:p>
          <a:p>
            <a:r>
              <a:rPr lang="en-US" altLang="zh-CN" dirty="0">
                <a:highlight>
                  <a:srgbClr val="FFFF00"/>
                </a:highlight>
              </a:rPr>
              <a:t>&gt;24 </a:t>
            </a:r>
            <a:r>
              <a:rPr lang="zh-CN" altLang="en-US" dirty="0">
                <a:highlight>
                  <a:srgbClr val="FFFF00"/>
                </a:highlight>
              </a:rPr>
              <a:t>次</a:t>
            </a:r>
            <a:r>
              <a:rPr lang="en-US" altLang="zh-CN" dirty="0">
                <a:highlight>
                  <a:srgbClr val="FFFF00"/>
                </a:highlight>
              </a:rPr>
              <a:t>/</a:t>
            </a:r>
            <a:r>
              <a:rPr lang="zh-CN" altLang="en-US" dirty="0">
                <a:highlight>
                  <a:srgbClr val="FFFF00"/>
                </a:highlight>
              </a:rPr>
              <a:t>分钟</a:t>
            </a:r>
            <a:r>
              <a:rPr lang="zh-CN" altLang="en-US" dirty="0"/>
              <a:t>呼吸急促</a:t>
            </a:r>
          </a:p>
          <a:p>
            <a:r>
              <a:rPr lang="en-US" altLang="zh-CN" dirty="0">
                <a:highlight>
                  <a:srgbClr val="FFFF00"/>
                </a:highlight>
              </a:rPr>
              <a:t>&lt;8 </a:t>
            </a:r>
            <a:r>
              <a:rPr lang="zh-CN" altLang="en-US" dirty="0">
                <a:highlight>
                  <a:srgbClr val="FFFF00"/>
                </a:highlight>
              </a:rPr>
              <a:t>次</a:t>
            </a:r>
            <a:r>
              <a:rPr lang="en-US" altLang="zh-CN" dirty="0">
                <a:highlight>
                  <a:srgbClr val="FFFF00"/>
                </a:highlight>
              </a:rPr>
              <a:t>/</a:t>
            </a:r>
            <a:r>
              <a:rPr lang="zh-CN" altLang="en-US" dirty="0">
                <a:highlight>
                  <a:srgbClr val="FFFF00"/>
                </a:highlight>
              </a:rPr>
              <a:t>分钟</a:t>
            </a:r>
            <a:r>
              <a:rPr lang="zh-CN" altLang="en-US" dirty="0"/>
              <a:t>呼吸抑制</a:t>
            </a:r>
            <a:endParaRPr lang="en-US" altLang="zh-CN" dirty="0"/>
          </a:p>
          <a:p>
            <a:endParaRPr lang="en-US" altLang="zh-CN" dirty="0"/>
          </a:p>
          <a:p>
            <a:r>
              <a:rPr lang="en-US" altLang="zh-CN" dirty="0"/>
              <a:t>PS:</a:t>
            </a:r>
            <a:r>
              <a:rPr lang="zh-CN" altLang="en-US" dirty="0"/>
              <a:t>在你测量呼吸频率的时候可以用手指搭载他的手腕上假装测量桡动脉搏动，来让他不会主动变更自己的呼吸频率</a:t>
            </a:r>
          </a:p>
        </p:txBody>
      </p:sp>
      <p:sp>
        <p:nvSpPr>
          <p:cNvPr id="10" name="文本框 9">
            <a:extLst>
              <a:ext uri="{FF2B5EF4-FFF2-40B4-BE49-F238E27FC236}">
                <a16:creationId xmlns:a16="http://schemas.microsoft.com/office/drawing/2014/main" id="{E4E3587F-0AD0-48E4-AF76-E1E594B457BC}"/>
              </a:ext>
            </a:extLst>
          </p:cNvPr>
          <p:cNvSpPr txBox="1"/>
          <p:nvPr/>
        </p:nvSpPr>
        <p:spPr>
          <a:xfrm>
            <a:off x="4847210" y="4972356"/>
            <a:ext cx="4677330" cy="1661993"/>
          </a:xfrm>
          <a:prstGeom prst="rect">
            <a:avLst/>
          </a:prstGeom>
          <a:noFill/>
        </p:spPr>
        <p:txBody>
          <a:bodyPr wrap="square" rtlCol="0">
            <a:spAutoFit/>
          </a:bodyPr>
          <a:lstStyle/>
          <a:p>
            <a:r>
              <a:rPr lang="zh-CN" altLang="en-US" sz="2400" b="1" dirty="0"/>
              <a:t>四、血氧（</a:t>
            </a:r>
            <a:r>
              <a:rPr lang="en-US" altLang="zh-CN" sz="2400" b="1" dirty="0" err="1"/>
              <a:t>SpO</a:t>
            </a:r>
            <a:r>
              <a:rPr lang="en-US" altLang="zh-CN" sz="2400" b="1" dirty="0"/>
              <a:t>₂</a:t>
            </a:r>
            <a:r>
              <a:rPr lang="zh-CN" altLang="en-US" sz="2400" b="1" dirty="0"/>
              <a:t>） </a:t>
            </a:r>
            <a:r>
              <a:rPr lang="en-US" altLang="zh-CN" sz="2400" b="1" dirty="0">
                <a:solidFill>
                  <a:srgbClr val="FF0000"/>
                </a:solidFill>
              </a:rPr>
              <a:t>L</a:t>
            </a:r>
            <a:endParaRPr lang="zh-CN" altLang="en-US" sz="2400" b="1" dirty="0"/>
          </a:p>
          <a:p>
            <a:r>
              <a:rPr lang="zh-CN" altLang="en-US" sz="2000" dirty="0"/>
              <a:t>参考值：</a:t>
            </a:r>
          </a:p>
          <a:p>
            <a:r>
              <a:rPr lang="en-US" altLang="zh-CN" dirty="0">
                <a:highlight>
                  <a:srgbClr val="FFFF00"/>
                </a:highlight>
              </a:rPr>
              <a:t>95%–100%</a:t>
            </a:r>
            <a:r>
              <a:rPr lang="zh-CN" altLang="en-US" dirty="0"/>
              <a:t>：正常</a:t>
            </a:r>
          </a:p>
          <a:p>
            <a:r>
              <a:rPr lang="en-US" altLang="zh-CN" dirty="0">
                <a:highlight>
                  <a:srgbClr val="FFFF00"/>
                </a:highlight>
              </a:rPr>
              <a:t>90%–94%</a:t>
            </a:r>
            <a:r>
              <a:rPr lang="zh-CN" altLang="en-US" dirty="0"/>
              <a:t>：可能存在低氧</a:t>
            </a:r>
          </a:p>
          <a:p>
            <a:r>
              <a:rPr lang="en-US" altLang="zh-CN" dirty="0">
                <a:highlight>
                  <a:srgbClr val="FFFF00"/>
                </a:highlight>
              </a:rPr>
              <a:t>&lt;90%</a:t>
            </a:r>
            <a:r>
              <a:rPr lang="zh-CN" altLang="en-US" dirty="0"/>
              <a:t>：严重低氧</a:t>
            </a:r>
          </a:p>
        </p:txBody>
      </p:sp>
    </p:spTree>
    <p:extLst>
      <p:ext uri="{BB962C8B-B14F-4D97-AF65-F5344CB8AC3E}">
        <p14:creationId xmlns:p14="http://schemas.microsoft.com/office/powerpoint/2010/main" val="666871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65187" y="1314548"/>
            <a:ext cx="4677330" cy="1908215"/>
          </a:xfrm>
          <a:prstGeom prst="rect">
            <a:avLst/>
          </a:prstGeom>
          <a:noFill/>
        </p:spPr>
        <p:txBody>
          <a:bodyPr wrap="square" rtlCol="0">
            <a:spAutoFit/>
          </a:bodyPr>
          <a:lstStyle/>
          <a:p>
            <a:r>
              <a:rPr lang="zh-CN" altLang="en-US" sz="2400" b="1" dirty="0"/>
              <a:t>五、血糖（</a:t>
            </a:r>
            <a:r>
              <a:rPr lang="en-US" altLang="zh-CN" sz="2400" b="1" dirty="0"/>
              <a:t>Blood Glucose</a:t>
            </a:r>
            <a:r>
              <a:rPr lang="zh-CN" altLang="en-US" sz="2400" b="1" dirty="0"/>
              <a:t>）</a:t>
            </a:r>
            <a:r>
              <a:rPr lang="en-US" altLang="zh-CN" sz="2400" b="1" dirty="0">
                <a:solidFill>
                  <a:srgbClr val="FF0000"/>
                </a:solidFill>
              </a:rPr>
              <a:t>H</a:t>
            </a:r>
            <a:endParaRPr lang="zh-CN" altLang="en-US" sz="2400" b="1" dirty="0">
              <a:solidFill>
                <a:srgbClr val="FF0000"/>
              </a:solidFill>
            </a:endParaRPr>
          </a:p>
          <a:p>
            <a:r>
              <a:rPr lang="zh-CN" altLang="en-US" sz="2000" dirty="0"/>
              <a:t>正常范围：</a:t>
            </a:r>
          </a:p>
          <a:p>
            <a:r>
              <a:rPr lang="en-US" altLang="zh-CN" dirty="0"/>
              <a:t>4–7.8 mmol/L</a:t>
            </a:r>
            <a:endParaRPr lang="en-US" altLang="zh-CN" sz="2400" dirty="0"/>
          </a:p>
          <a:p>
            <a:r>
              <a:rPr lang="zh-CN" altLang="en-US" sz="2000" dirty="0"/>
              <a:t>异常情况：</a:t>
            </a:r>
          </a:p>
          <a:p>
            <a:r>
              <a:rPr lang="en-US" altLang="zh-CN" dirty="0"/>
              <a:t>&lt;3.9 mmol/L</a:t>
            </a:r>
            <a:r>
              <a:rPr lang="zh-CN" altLang="en-US" dirty="0"/>
              <a:t>：低血糖</a:t>
            </a:r>
          </a:p>
          <a:p>
            <a:r>
              <a:rPr lang="en-US" altLang="zh-CN" dirty="0"/>
              <a:t>&gt;11 mmol/L</a:t>
            </a:r>
            <a:r>
              <a:rPr lang="zh-CN" altLang="en-US" dirty="0"/>
              <a:t>：可能为高血糖</a:t>
            </a:r>
          </a:p>
        </p:txBody>
      </p:sp>
    </p:spTree>
    <p:extLst>
      <p:ext uri="{BB962C8B-B14F-4D97-AF65-F5344CB8AC3E}">
        <p14:creationId xmlns:p14="http://schemas.microsoft.com/office/powerpoint/2010/main" val="213877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00532" y="1224481"/>
            <a:ext cx="9859468" cy="1015663"/>
          </a:xfrm>
          <a:prstGeom prst="rect">
            <a:avLst/>
          </a:prstGeom>
          <a:noFill/>
        </p:spPr>
        <p:txBody>
          <a:bodyPr wrap="square" rtlCol="0">
            <a:spAutoFit/>
          </a:bodyPr>
          <a:lstStyle/>
          <a:p>
            <a:r>
              <a:rPr lang="zh-CN" altLang="en-US" sz="2400" b="1" dirty="0"/>
              <a:t>六、心电图（</a:t>
            </a:r>
            <a:r>
              <a:rPr lang="en-US" altLang="zh-CN" sz="2400" b="1" dirty="0"/>
              <a:t>ECG/EKG</a:t>
            </a:r>
            <a:r>
              <a:rPr lang="zh-CN" altLang="en-US" sz="2400" b="1" dirty="0"/>
              <a:t>）</a:t>
            </a:r>
            <a:r>
              <a:rPr lang="en-US" altLang="zh-CN" sz="2400" b="1" dirty="0"/>
              <a:t>[</a:t>
            </a:r>
            <a:r>
              <a:rPr lang="zh-CN" altLang="en-US" sz="2400" b="1" dirty="0"/>
              <a:t>选学</a:t>
            </a:r>
            <a:r>
              <a:rPr lang="en-US" altLang="zh-CN" sz="2400" b="1" dirty="0"/>
              <a:t>] </a:t>
            </a:r>
            <a:r>
              <a:rPr lang="en-US" altLang="zh-CN" sz="2400" b="1" dirty="0">
                <a:solidFill>
                  <a:srgbClr val="FF0000"/>
                </a:solidFill>
              </a:rPr>
              <a:t>H</a:t>
            </a:r>
          </a:p>
          <a:p>
            <a:r>
              <a:rPr lang="zh-CN" altLang="en-US" i="0" dirty="0">
                <a:effectLst/>
                <a:latin typeface="Arial" panose="020B0604020202020204" pitchFamily="34" charset="0"/>
              </a:rPr>
              <a:t>也叫心电描记术</a:t>
            </a:r>
            <a:r>
              <a:rPr lang="zh-CN" altLang="en-US" b="0" i="0" dirty="0">
                <a:effectLst/>
                <a:latin typeface="Arial" panose="020B0604020202020204" pitchFamily="34" charset="0"/>
              </a:rPr>
              <a:t>是一种经体壁以时间为单位记录</a:t>
            </a:r>
            <a:r>
              <a:rPr lang="zh-CN" altLang="en-US" b="0" i="0" u="none" strike="noStrike" dirty="0">
                <a:effectLst/>
                <a:latin typeface="Arial" panose="020B0604020202020204" pitchFamily="34" charset="0"/>
              </a:rPr>
              <a:t>心脏</a:t>
            </a:r>
            <a:r>
              <a:rPr lang="zh-CN" altLang="en-US" b="0" i="0" dirty="0">
                <a:effectLst/>
                <a:latin typeface="Arial" panose="020B0604020202020204" pitchFamily="34" charset="0"/>
              </a:rPr>
              <a:t>的电生理活动，并通过接触</a:t>
            </a:r>
            <a:r>
              <a:rPr lang="zh-CN" altLang="en-US" b="0" i="0" u="none" strike="noStrike" dirty="0">
                <a:effectLst/>
                <a:latin typeface="Arial" panose="020B0604020202020204" pitchFamily="34" charset="0"/>
              </a:rPr>
              <a:t>皮肤</a:t>
            </a:r>
            <a:r>
              <a:rPr lang="zh-CN" altLang="en-US" b="0" i="0" dirty="0">
                <a:effectLst/>
                <a:latin typeface="Arial" panose="020B0604020202020204" pitchFamily="34" charset="0"/>
              </a:rPr>
              <a:t>的电极捕捉且记录下来的诊疗技术</a:t>
            </a:r>
            <a:endParaRPr lang="zh-CN" altLang="en-US" dirty="0"/>
          </a:p>
        </p:txBody>
      </p:sp>
      <p:pic>
        <p:nvPicPr>
          <p:cNvPr id="1026" name="Picture 2">
            <a:extLst>
              <a:ext uri="{FF2B5EF4-FFF2-40B4-BE49-F238E27FC236}">
                <a16:creationId xmlns:a16="http://schemas.microsoft.com/office/drawing/2014/main" id="{69E84B56-27C5-45A4-9B24-FDD5F8A6C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88" y="2069234"/>
            <a:ext cx="3842039" cy="384203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CF67163C-0ED5-4323-9867-373704CD770B}"/>
              </a:ext>
            </a:extLst>
          </p:cNvPr>
          <p:cNvSpPr txBox="1"/>
          <p:nvPr/>
        </p:nvSpPr>
        <p:spPr>
          <a:xfrm>
            <a:off x="7620288" y="5711218"/>
            <a:ext cx="3654909" cy="400110"/>
          </a:xfrm>
          <a:prstGeom prst="rect">
            <a:avLst/>
          </a:prstGeom>
          <a:noFill/>
        </p:spPr>
        <p:txBody>
          <a:bodyPr wrap="square" rtlCol="0">
            <a:spAutoFit/>
          </a:bodyPr>
          <a:lstStyle/>
          <a:p>
            <a:pPr algn="ctr"/>
            <a:r>
              <a:rPr lang="zh-CN" altLang="en-US" sz="2000" b="1" i="0" dirty="0">
                <a:solidFill>
                  <a:srgbClr val="202122"/>
                </a:solidFill>
                <a:effectLst/>
                <a:latin typeface="Arial" panose="020B0604020202020204" pitchFamily="34" charset="0"/>
              </a:rPr>
              <a:t>正常</a:t>
            </a:r>
            <a:r>
              <a:rPr lang="zh-CN" altLang="en-US" sz="2000" b="1" i="0" u="none" strike="noStrike" dirty="0">
                <a:solidFill>
                  <a:srgbClr val="3366CC"/>
                </a:solidFill>
                <a:effectLst/>
                <a:latin typeface="Arial" panose="020B0604020202020204" pitchFamily="34" charset="0"/>
              </a:rPr>
              <a:t>窦性心律</a:t>
            </a:r>
            <a:r>
              <a:rPr lang="zh-CN" altLang="en-US" sz="2000" b="1" i="0" dirty="0">
                <a:solidFill>
                  <a:srgbClr val="202122"/>
                </a:solidFill>
                <a:effectLst/>
                <a:latin typeface="Arial" panose="020B0604020202020204" pitchFamily="34" charset="0"/>
              </a:rPr>
              <a:t>心脏的心电图</a:t>
            </a:r>
            <a:endParaRPr lang="zh-CN" altLang="en-US" sz="1600" b="1" dirty="0"/>
          </a:p>
        </p:txBody>
      </p:sp>
      <p:sp>
        <p:nvSpPr>
          <p:cNvPr id="10" name="文本框 9">
            <a:extLst>
              <a:ext uri="{FF2B5EF4-FFF2-40B4-BE49-F238E27FC236}">
                <a16:creationId xmlns:a16="http://schemas.microsoft.com/office/drawing/2014/main" id="{D106C546-15AA-477D-B636-208D31FB09C5}"/>
              </a:ext>
            </a:extLst>
          </p:cNvPr>
          <p:cNvSpPr txBox="1"/>
          <p:nvPr/>
        </p:nvSpPr>
        <p:spPr>
          <a:xfrm>
            <a:off x="300531" y="2524748"/>
            <a:ext cx="7157543" cy="3754874"/>
          </a:xfrm>
          <a:prstGeom prst="rect">
            <a:avLst/>
          </a:prstGeom>
          <a:noFill/>
        </p:spPr>
        <p:txBody>
          <a:bodyPr wrap="square" rtlCol="0">
            <a:spAutoFit/>
          </a:bodyPr>
          <a:lstStyle/>
          <a:p>
            <a:r>
              <a:rPr lang="en-US" altLang="zh-CN" sz="2000" b="1" i="0" dirty="0">
                <a:effectLst/>
                <a:latin typeface="Arial" panose="020B0604020202020204" pitchFamily="34" charset="0"/>
              </a:rPr>
              <a:t>1.</a:t>
            </a:r>
            <a:r>
              <a:rPr lang="zh-CN" altLang="en-US" sz="2000" b="1" i="0" dirty="0">
                <a:effectLst/>
                <a:latin typeface="Arial" panose="020B0604020202020204" pitchFamily="34" charset="0"/>
              </a:rPr>
              <a:t>我们需要了解的</a:t>
            </a:r>
            <a:r>
              <a:rPr lang="zh-CN" altLang="en-US" sz="2000" b="1" dirty="0"/>
              <a:t>心律</a:t>
            </a:r>
            <a:r>
              <a:rPr lang="zh-CN" altLang="en-US" sz="2000" b="1" i="0" dirty="0">
                <a:effectLst/>
                <a:latin typeface="Arial" panose="020B0604020202020204" pitchFamily="34" charset="0"/>
              </a:rPr>
              <a:t>类型</a:t>
            </a:r>
            <a:endParaRPr lang="en-US" altLang="zh-CN" sz="2000" b="1" i="0" dirty="0">
              <a:effectLst/>
              <a:latin typeface="Arial" panose="020B0604020202020204" pitchFamily="34" charset="0"/>
            </a:endParaRPr>
          </a:p>
          <a:p>
            <a:endParaRPr lang="en-US" altLang="zh-CN" sz="2000" b="1" i="0" dirty="0">
              <a:effectLst/>
              <a:latin typeface="Arial" panose="020B0604020202020204" pitchFamily="34" charset="0"/>
            </a:endParaRPr>
          </a:p>
          <a:p>
            <a:r>
              <a:rPr lang="en-US" altLang="zh-CN" dirty="0">
                <a:latin typeface="Arial" panose="020B0604020202020204" pitchFamily="34" charset="0"/>
              </a:rPr>
              <a:t>(1)</a:t>
            </a:r>
            <a:r>
              <a:rPr lang="zh-CN" altLang="en-US" dirty="0"/>
              <a:t>心室颤动（</a:t>
            </a:r>
            <a:r>
              <a:rPr lang="en-US" altLang="zh-CN" dirty="0"/>
              <a:t>VF</a:t>
            </a:r>
            <a:r>
              <a:rPr lang="zh-CN" altLang="en-US" dirty="0"/>
              <a:t>，</a:t>
            </a:r>
            <a:r>
              <a:rPr lang="en-US" altLang="zh-CN" dirty="0"/>
              <a:t>Ventricular Fibrillation</a:t>
            </a:r>
            <a:r>
              <a:rPr lang="zh-CN" altLang="en-US" dirty="0"/>
              <a:t>）</a:t>
            </a:r>
            <a:endParaRPr lang="en-US" altLang="zh-CN" dirty="0"/>
          </a:p>
          <a:p>
            <a:r>
              <a:rPr lang="en-US" altLang="zh-CN" dirty="0">
                <a:solidFill>
                  <a:schemeClr val="accent1">
                    <a:lumMod val="50000"/>
                  </a:schemeClr>
                </a:solidFill>
              </a:rPr>
              <a:t>AED</a:t>
            </a:r>
            <a:r>
              <a:rPr lang="zh-CN" altLang="en-US" dirty="0">
                <a:solidFill>
                  <a:schemeClr val="accent1">
                    <a:lumMod val="50000"/>
                  </a:schemeClr>
                </a:solidFill>
              </a:rPr>
              <a:t>可识别并要求电击</a:t>
            </a:r>
            <a:endParaRPr lang="en-US" altLang="zh-CN" dirty="0">
              <a:solidFill>
                <a:schemeClr val="accent1">
                  <a:lumMod val="50000"/>
                </a:schemeClr>
              </a:solidFill>
            </a:endParaRPr>
          </a:p>
          <a:p>
            <a:endParaRPr lang="en-US" altLang="zh-CN" i="0" dirty="0">
              <a:effectLst/>
              <a:latin typeface="Arial" panose="020B0604020202020204" pitchFamily="34" charset="0"/>
            </a:endParaRPr>
          </a:p>
          <a:p>
            <a:r>
              <a:rPr lang="en-US" altLang="zh-CN" dirty="0">
                <a:latin typeface="Arial" panose="020B0604020202020204" pitchFamily="34" charset="0"/>
              </a:rPr>
              <a:t>(2)</a:t>
            </a:r>
            <a:r>
              <a:rPr lang="zh-CN" altLang="en-US" dirty="0"/>
              <a:t>无脉性室性心动过速</a:t>
            </a:r>
            <a:r>
              <a:rPr lang="zh-CN" altLang="en-US" dirty="0">
                <a:latin typeface="Arial" panose="020B0604020202020204" pitchFamily="34" charset="0"/>
              </a:rPr>
              <a:t>（</a:t>
            </a:r>
            <a:r>
              <a:rPr lang="en-US" altLang="zh-CN" dirty="0" err="1">
                <a:latin typeface="Arial" panose="020B0604020202020204" pitchFamily="34" charset="0"/>
              </a:rPr>
              <a:t>pVT</a:t>
            </a:r>
            <a:r>
              <a:rPr lang="en-US" altLang="zh-CN" dirty="0">
                <a:latin typeface="Arial" panose="020B0604020202020204" pitchFamily="34" charset="0"/>
              </a:rPr>
              <a:t>/VT</a:t>
            </a:r>
            <a:r>
              <a:rPr lang="zh-CN" altLang="en-US" dirty="0">
                <a:latin typeface="Arial" panose="020B0604020202020204" pitchFamily="34" charset="0"/>
              </a:rPr>
              <a:t>，</a:t>
            </a:r>
            <a:r>
              <a:rPr lang="en-US" altLang="zh-CN" dirty="0"/>
              <a:t>Pulseless Ventricular Tachycardia</a:t>
            </a:r>
            <a:r>
              <a:rPr lang="zh-CN" altLang="en-US" dirty="0"/>
              <a:t>）</a:t>
            </a:r>
            <a:endParaRPr lang="en-US" altLang="zh-CN" dirty="0"/>
          </a:p>
          <a:p>
            <a:r>
              <a:rPr lang="en-US" altLang="zh-CN" dirty="0">
                <a:solidFill>
                  <a:schemeClr val="accent1">
                    <a:lumMod val="50000"/>
                  </a:schemeClr>
                </a:solidFill>
              </a:rPr>
              <a:t>AED</a:t>
            </a:r>
            <a:r>
              <a:rPr lang="zh-CN" altLang="en-US" dirty="0">
                <a:solidFill>
                  <a:schemeClr val="accent1">
                    <a:lumMod val="50000"/>
                  </a:schemeClr>
                </a:solidFill>
              </a:rPr>
              <a:t>可识别并要求电击</a:t>
            </a:r>
            <a:endParaRPr lang="en-US" altLang="zh-CN" dirty="0">
              <a:solidFill>
                <a:schemeClr val="accent1">
                  <a:lumMod val="50000"/>
                </a:schemeClr>
              </a:solidFill>
            </a:endParaRPr>
          </a:p>
          <a:p>
            <a:endParaRPr lang="en-US" altLang="zh-CN" i="0" dirty="0">
              <a:effectLst/>
              <a:latin typeface="Arial" panose="020B0604020202020204" pitchFamily="34" charset="0"/>
            </a:endParaRPr>
          </a:p>
          <a:p>
            <a:r>
              <a:rPr lang="en-US" altLang="zh-CN" dirty="0">
                <a:latin typeface="Arial" panose="020B0604020202020204" pitchFamily="34" charset="0"/>
              </a:rPr>
              <a:t>(3)</a:t>
            </a:r>
            <a:r>
              <a:rPr lang="zh-CN" altLang="en-US" dirty="0"/>
              <a:t>心脏停搏（</a:t>
            </a:r>
            <a:r>
              <a:rPr lang="en-US" altLang="zh-CN" dirty="0"/>
              <a:t>Asystole</a:t>
            </a:r>
            <a:r>
              <a:rPr lang="zh-CN" altLang="en-US" dirty="0"/>
              <a:t>）</a:t>
            </a:r>
            <a:endParaRPr lang="en-US" altLang="zh-CN" dirty="0"/>
          </a:p>
          <a:p>
            <a:r>
              <a:rPr lang="en-US" altLang="zh-CN" dirty="0">
                <a:solidFill>
                  <a:schemeClr val="accent1">
                    <a:lumMod val="50000"/>
                  </a:schemeClr>
                </a:solidFill>
              </a:rPr>
              <a:t>AED</a:t>
            </a:r>
            <a:r>
              <a:rPr lang="zh-CN" altLang="en-US" dirty="0">
                <a:solidFill>
                  <a:schemeClr val="accent1">
                    <a:lumMod val="50000"/>
                  </a:schemeClr>
                </a:solidFill>
              </a:rPr>
              <a:t>可目视简易心电图识别，不能电击</a:t>
            </a:r>
            <a:endParaRPr lang="en-US" altLang="zh-CN" dirty="0">
              <a:solidFill>
                <a:schemeClr val="accent1">
                  <a:lumMod val="50000"/>
                </a:schemeClr>
              </a:solidFill>
            </a:endParaRPr>
          </a:p>
          <a:p>
            <a:endParaRPr lang="en-US" altLang="zh-CN" i="0" dirty="0">
              <a:effectLst/>
              <a:latin typeface="Arial" panose="020B0604020202020204" pitchFamily="34" charset="0"/>
            </a:endParaRPr>
          </a:p>
          <a:p>
            <a:r>
              <a:rPr lang="en-US" altLang="zh-CN" i="0" dirty="0">
                <a:effectLst/>
                <a:latin typeface="Arial" panose="020B0604020202020204" pitchFamily="34" charset="0"/>
              </a:rPr>
              <a:t>(4)</a:t>
            </a:r>
            <a:r>
              <a:rPr lang="zh-CN" altLang="en-US" dirty="0"/>
              <a:t>无脉性电活动（</a:t>
            </a:r>
            <a:r>
              <a:rPr lang="en-US" altLang="zh-CN" dirty="0"/>
              <a:t>PEA</a:t>
            </a:r>
            <a:r>
              <a:rPr lang="zh-CN" altLang="en-US" dirty="0"/>
              <a:t>，</a:t>
            </a:r>
            <a:r>
              <a:rPr lang="en-US" altLang="zh-CN" dirty="0"/>
              <a:t>Pulseless Electrical Activity</a:t>
            </a:r>
            <a:r>
              <a:rPr lang="zh-CN" altLang="en-US" dirty="0"/>
              <a:t>）</a:t>
            </a:r>
            <a:endParaRPr lang="en-US" altLang="zh-CN" dirty="0"/>
          </a:p>
          <a:p>
            <a:r>
              <a:rPr lang="en-US" altLang="zh-CN" dirty="0">
                <a:solidFill>
                  <a:schemeClr val="accent1">
                    <a:lumMod val="50000"/>
                  </a:schemeClr>
                </a:solidFill>
              </a:rPr>
              <a:t>AED</a:t>
            </a:r>
            <a:r>
              <a:rPr lang="zh-CN" altLang="en-US" dirty="0">
                <a:solidFill>
                  <a:schemeClr val="accent1">
                    <a:lumMod val="50000"/>
                  </a:schemeClr>
                </a:solidFill>
              </a:rPr>
              <a:t>可目视简易心电图</a:t>
            </a:r>
            <a:r>
              <a:rPr lang="en-US" altLang="zh-CN" dirty="0">
                <a:solidFill>
                  <a:schemeClr val="accent1">
                    <a:lumMod val="50000"/>
                  </a:schemeClr>
                </a:solidFill>
              </a:rPr>
              <a:t>+</a:t>
            </a:r>
            <a:r>
              <a:rPr lang="zh-CN" altLang="en-US" dirty="0">
                <a:solidFill>
                  <a:schemeClr val="accent1">
                    <a:lumMod val="50000"/>
                  </a:schemeClr>
                </a:solidFill>
              </a:rPr>
              <a:t>脉搏检查识别，不能电击</a:t>
            </a:r>
            <a:endParaRPr lang="en-US" altLang="zh-CN" dirty="0">
              <a:solidFill>
                <a:schemeClr val="accent1">
                  <a:lumMod val="50000"/>
                </a:schemeClr>
              </a:solidFill>
            </a:endParaRPr>
          </a:p>
        </p:txBody>
      </p:sp>
    </p:spTree>
    <p:extLst>
      <p:ext uri="{BB962C8B-B14F-4D97-AF65-F5344CB8AC3E}">
        <p14:creationId xmlns:p14="http://schemas.microsoft.com/office/powerpoint/2010/main" val="444340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00532" y="1224481"/>
            <a:ext cx="9859468" cy="1015663"/>
          </a:xfrm>
          <a:prstGeom prst="rect">
            <a:avLst/>
          </a:prstGeom>
          <a:noFill/>
        </p:spPr>
        <p:txBody>
          <a:bodyPr wrap="square" rtlCol="0">
            <a:spAutoFit/>
          </a:bodyPr>
          <a:lstStyle/>
          <a:p>
            <a:r>
              <a:rPr lang="zh-CN" altLang="en-US" sz="2400" b="1" dirty="0"/>
              <a:t>六、心电图（</a:t>
            </a:r>
            <a:r>
              <a:rPr lang="en-US" altLang="zh-CN" sz="2400" b="1" dirty="0"/>
              <a:t>ECG/EKG</a:t>
            </a:r>
            <a:r>
              <a:rPr lang="zh-CN" altLang="en-US" sz="2400" b="1" dirty="0"/>
              <a:t>）</a:t>
            </a:r>
            <a:r>
              <a:rPr lang="en-US" altLang="zh-CN" sz="2400" b="1" dirty="0"/>
              <a:t>[</a:t>
            </a:r>
            <a:r>
              <a:rPr lang="zh-CN" altLang="en-US" sz="2400" b="1" dirty="0"/>
              <a:t>选学</a:t>
            </a:r>
            <a:r>
              <a:rPr lang="en-US" altLang="zh-CN" sz="2400" b="1" dirty="0"/>
              <a:t>] </a:t>
            </a:r>
            <a:r>
              <a:rPr lang="en-US" altLang="zh-CN" sz="2400" b="1" dirty="0">
                <a:solidFill>
                  <a:srgbClr val="FF0000"/>
                </a:solidFill>
              </a:rPr>
              <a:t>H</a:t>
            </a:r>
          </a:p>
          <a:p>
            <a:r>
              <a:rPr lang="zh-CN" altLang="en-US" i="0" dirty="0">
                <a:effectLst/>
                <a:latin typeface="Arial" panose="020B0604020202020204" pitchFamily="34" charset="0"/>
              </a:rPr>
              <a:t>也叫心电描记术</a:t>
            </a:r>
            <a:r>
              <a:rPr lang="zh-CN" altLang="en-US" b="0" i="0" dirty="0">
                <a:effectLst/>
                <a:latin typeface="Arial" panose="020B0604020202020204" pitchFamily="34" charset="0"/>
              </a:rPr>
              <a:t>是一种经体壁以时间为单位记录</a:t>
            </a:r>
            <a:r>
              <a:rPr lang="zh-CN" altLang="en-US" b="0" i="0" u="none" strike="noStrike" dirty="0">
                <a:effectLst/>
                <a:latin typeface="Arial" panose="020B0604020202020204" pitchFamily="34" charset="0"/>
              </a:rPr>
              <a:t>心脏</a:t>
            </a:r>
            <a:r>
              <a:rPr lang="zh-CN" altLang="en-US" b="0" i="0" dirty="0">
                <a:effectLst/>
                <a:latin typeface="Arial" panose="020B0604020202020204" pitchFamily="34" charset="0"/>
              </a:rPr>
              <a:t>的电生理活动，并通过接触</a:t>
            </a:r>
            <a:r>
              <a:rPr lang="zh-CN" altLang="en-US" b="0" i="0" u="none" strike="noStrike" dirty="0">
                <a:effectLst/>
                <a:latin typeface="Arial" panose="020B0604020202020204" pitchFamily="34" charset="0"/>
              </a:rPr>
              <a:t>皮肤</a:t>
            </a:r>
            <a:r>
              <a:rPr lang="zh-CN" altLang="en-US" b="0" i="0" dirty="0">
                <a:effectLst/>
                <a:latin typeface="Arial" panose="020B0604020202020204" pitchFamily="34" charset="0"/>
              </a:rPr>
              <a:t>的电极捕捉且记录下来的诊疗技术</a:t>
            </a:r>
            <a:endParaRPr lang="zh-CN" altLang="en-US" dirty="0"/>
          </a:p>
        </p:txBody>
      </p:sp>
      <p:pic>
        <p:nvPicPr>
          <p:cNvPr id="1026" name="Picture 2">
            <a:extLst>
              <a:ext uri="{FF2B5EF4-FFF2-40B4-BE49-F238E27FC236}">
                <a16:creationId xmlns:a16="http://schemas.microsoft.com/office/drawing/2014/main" id="{69E84B56-27C5-45A4-9B24-FDD5F8A6C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88" y="2069234"/>
            <a:ext cx="3842039" cy="384203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CF67163C-0ED5-4323-9867-373704CD770B}"/>
              </a:ext>
            </a:extLst>
          </p:cNvPr>
          <p:cNvSpPr txBox="1"/>
          <p:nvPr/>
        </p:nvSpPr>
        <p:spPr>
          <a:xfrm>
            <a:off x="7620288" y="5711218"/>
            <a:ext cx="3654909" cy="400110"/>
          </a:xfrm>
          <a:prstGeom prst="rect">
            <a:avLst/>
          </a:prstGeom>
          <a:noFill/>
        </p:spPr>
        <p:txBody>
          <a:bodyPr wrap="square" rtlCol="0">
            <a:spAutoFit/>
          </a:bodyPr>
          <a:lstStyle/>
          <a:p>
            <a:pPr algn="ctr"/>
            <a:r>
              <a:rPr lang="zh-CN" altLang="en-US" sz="2000" b="1" i="0" dirty="0">
                <a:solidFill>
                  <a:srgbClr val="202122"/>
                </a:solidFill>
                <a:effectLst/>
                <a:latin typeface="Arial" panose="020B0604020202020204" pitchFamily="34" charset="0"/>
              </a:rPr>
              <a:t>正常</a:t>
            </a:r>
            <a:r>
              <a:rPr lang="zh-CN" altLang="en-US" sz="2000" b="1" i="0" u="none" strike="noStrike" dirty="0">
                <a:solidFill>
                  <a:srgbClr val="3366CC"/>
                </a:solidFill>
                <a:effectLst/>
                <a:latin typeface="Arial" panose="020B0604020202020204" pitchFamily="34" charset="0"/>
              </a:rPr>
              <a:t>窦性心律</a:t>
            </a:r>
            <a:r>
              <a:rPr lang="zh-CN" altLang="en-US" sz="2000" b="1" i="0" dirty="0">
                <a:solidFill>
                  <a:srgbClr val="202122"/>
                </a:solidFill>
                <a:effectLst/>
                <a:latin typeface="Arial" panose="020B0604020202020204" pitchFamily="34" charset="0"/>
              </a:rPr>
              <a:t>心脏的心电图</a:t>
            </a:r>
            <a:endParaRPr lang="zh-CN" altLang="en-US" sz="1600" b="1" dirty="0"/>
          </a:p>
        </p:txBody>
      </p:sp>
      <p:sp>
        <p:nvSpPr>
          <p:cNvPr id="10" name="文本框 9">
            <a:extLst>
              <a:ext uri="{FF2B5EF4-FFF2-40B4-BE49-F238E27FC236}">
                <a16:creationId xmlns:a16="http://schemas.microsoft.com/office/drawing/2014/main" id="{D106C546-15AA-477D-B636-208D31FB09C5}"/>
              </a:ext>
            </a:extLst>
          </p:cNvPr>
          <p:cNvSpPr txBox="1"/>
          <p:nvPr/>
        </p:nvSpPr>
        <p:spPr>
          <a:xfrm>
            <a:off x="300531" y="2524748"/>
            <a:ext cx="7157543" cy="954107"/>
          </a:xfrm>
          <a:prstGeom prst="rect">
            <a:avLst/>
          </a:prstGeom>
          <a:noFill/>
        </p:spPr>
        <p:txBody>
          <a:bodyPr wrap="square" rtlCol="0">
            <a:spAutoFit/>
          </a:bodyPr>
          <a:lstStyle/>
          <a:p>
            <a:r>
              <a:rPr lang="en-US" altLang="zh-CN" sz="2000" dirty="0">
                <a:latin typeface="Arial" panose="020B0604020202020204" pitchFamily="34" charset="0"/>
              </a:rPr>
              <a:t>(1)</a:t>
            </a:r>
            <a:r>
              <a:rPr lang="zh-CN" altLang="en-US" sz="2000" dirty="0"/>
              <a:t>心室颤动（</a:t>
            </a:r>
            <a:r>
              <a:rPr lang="en-US" altLang="zh-CN" sz="2000" dirty="0"/>
              <a:t>VF</a:t>
            </a:r>
            <a:r>
              <a:rPr lang="zh-CN" altLang="en-US" sz="2000" dirty="0"/>
              <a:t>，</a:t>
            </a:r>
            <a:r>
              <a:rPr lang="en-US" altLang="zh-CN" sz="2000" dirty="0"/>
              <a:t>Ventricular Fibrillation</a:t>
            </a:r>
            <a:r>
              <a:rPr lang="zh-CN" altLang="en-US" sz="2000" dirty="0"/>
              <a:t>）</a:t>
            </a:r>
            <a:endParaRPr lang="en-US" altLang="zh-CN" sz="2000" dirty="0"/>
          </a:p>
          <a:p>
            <a:r>
              <a:rPr lang="zh-CN" altLang="en-US" b="0" i="0" dirty="0">
                <a:solidFill>
                  <a:srgbClr val="202122"/>
                </a:solidFill>
                <a:effectLst/>
                <a:latin typeface="Arial" panose="020B0604020202020204" pitchFamily="34" charset="0"/>
              </a:rPr>
              <a:t>定义：是一种心律失常，其特征是心脏心室快速、紊乱且无效的收缩。这意味着心脏不再像往常那样跳动；它不再泵血，而是颤动。</a:t>
            </a:r>
            <a:endParaRPr lang="en-US" altLang="zh-CN" b="0" i="0" dirty="0">
              <a:solidFill>
                <a:srgbClr val="202122"/>
              </a:solidFill>
              <a:effectLst/>
              <a:latin typeface="Arial" panose="020B0604020202020204" pitchFamily="34" charset="0"/>
            </a:endParaRPr>
          </a:p>
        </p:txBody>
      </p:sp>
      <p:pic>
        <p:nvPicPr>
          <p:cNvPr id="2050" name="Picture 2" descr="这张图片的描述，以及下方的评论，也包含在内。">
            <a:extLst>
              <a:ext uri="{FF2B5EF4-FFF2-40B4-BE49-F238E27FC236}">
                <a16:creationId xmlns:a16="http://schemas.microsoft.com/office/drawing/2014/main" id="{DA5AEDEE-4D6D-4F61-B1BE-682165D58A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673" y="3713107"/>
            <a:ext cx="6109277" cy="2629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609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00532" y="1224481"/>
            <a:ext cx="9859468" cy="1015663"/>
          </a:xfrm>
          <a:prstGeom prst="rect">
            <a:avLst/>
          </a:prstGeom>
          <a:noFill/>
        </p:spPr>
        <p:txBody>
          <a:bodyPr wrap="square" rtlCol="0">
            <a:spAutoFit/>
          </a:bodyPr>
          <a:lstStyle/>
          <a:p>
            <a:r>
              <a:rPr lang="zh-CN" altLang="en-US" sz="2400" b="1" dirty="0"/>
              <a:t>六、心电图（</a:t>
            </a:r>
            <a:r>
              <a:rPr lang="en-US" altLang="zh-CN" sz="2400" b="1" dirty="0"/>
              <a:t>ECG/EKG</a:t>
            </a:r>
            <a:r>
              <a:rPr lang="zh-CN" altLang="en-US" sz="2400" b="1" dirty="0"/>
              <a:t>）</a:t>
            </a:r>
            <a:r>
              <a:rPr lang="en-US" altLang="zh-CN" sz="2400" b="1" dirty="0"/>
              <a:t>[</a:t>
            </a:r>
            <a:r>
              <a:rPr lang="zh-CN" altLang="en-US" sz="2400" b="1" dirty="0"/>
              <a:t>选学</a:t>
            </a:r>
            <a:r>
              <a:rPr lang="en-US" altLang="zh-CN" sz="2400" b="1" dirty="0"/>
              <a:t>] </a:t>
            </a:r>
            <a:r>
              <a:rPr lang="en-US" altLang="zh-CN" sz="2400" b="1" dirty="0">
                <a:solidFill>
                  <a:srgbClr val="FF0000"/>
                </a:solidFill>
              </a:rPr>
              <a:t>H</a:t>
            </a:r>
          </a:p>
          <a:p>
            <a:r>
              <a:rPr lang="zh-CN" altLang="en-US" i="0" dirty="0">
                <a:effectLst/>
                <a:latin typeface="Arial" panose="020B0604020202020204" pitchFamily="34" charset="0"/>
              </a:rPr>
              <a:t>也叫心电描记术</a:t>
            </a:r>
            <a:r>
              <a:rPr lang="zh-CN" altLang="en-US" b="0" i="0" dirty="0">
                <a:effectLst/>
                <a:latin typeface="Arial" panose="020B0604020202020204" pitchFamily="34" charset="0"/>
              </a:rPr>
              <a:t>是一种经体壁以时间为单位记录</a:t>
            </a:r>
            <a:r>
              <a:rPr lang="zh-CN" altLang="en-US" b="0" i="0" u="none" strike="noStrike" dirty="0">
                <a:effectLst/>
                <a:latin typeface="Arial" panose="020B0604020202020204" pitchFamily="34" charset="0"/>
              </a:rPr>
              <a:t>心脏</a:t>
            </a:r>
            <a:r>
              <a:rPr lang="zh-CN" altLang="en-US" b="0" i="0" dirty="0">
                <a:effectLst/>
                <a:latin typeface="Arial" panose="020B0604020202020204" pitchFamily="34" charset="0"/>
              </a:rPr>
              <a:t>的电生理活动，并通过接触</a:t>
            </a:r>
            <a:r>
              <a:rPr lang="zh-CN" altLang="en-US" b="0" i="0" u="none" strike="noStrike" dirty="0">
                <a:effectLst/>
                <a:latin typeface="Arial" panose="020B0604020202020204" pitchFamily="34" charset="0"/>
              </a:rPr>
              <a:t>皮肤</a:t>
            </a:r>
            <a:r>
              <a:rPr lang="zh-CN" altLang="en-US" b="0" i="0" dirty="0">
                <a:effectLst/>
                <a:latin typeface="Arial" panose="020B0604020202020204" pitchFamily="34" charset="0"/>
              </a:rPr>
              <a:t>的电极捕捉且记录下来的诊疗技术</a:t>
            </a:r>
            <a:endParaRPr lang="zh-CN" altLang="en-US" dirty="0"/>
          </a:p>
        </p:txBody>
      </p:sp>
      <p:pic>
        <p:nvPicPr>
          <p:cNvPr id="1026" name="Picture 2">
            <a:extLst>
              <a:ext uri="{FF2B5EF4-FFF2-40B4-BE49-F238E27FC236}">
                <a16:creationId xmlns:a16="http://schemas.microsoft.com/office/drawing/2014/main" id="{69E84B56-27C5-45A4-9B24-FDD5F8A6C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88" y="2069234"/>
            <a:ext cx="3842039" cy="384203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CF67163C-0ED5-4323-9867-373704CD770B}"/>
              </a:ext>
            </a:extLst>
          </p:cNvPr>
          <p:cNvSpPr txBox="1"/>
          <p:nvPr/>
        </p:nvSpPr>
        <p:spPr>
          <a:xfrm>
            <a:off x="7620288" y="5711218"/>
            <a:ext cx="3654909" cy="400110"/>
          </a:xfrm>
          <a:prstGeom prst="rect">
            <a:avLst/>
          </a:prstGeom>
          <a:noFill/>
        </p:spPr>
        <p:txBody>
          <a:bodyPr wrap="square" rtlCol="0">
            <a:spAutoFit/>
          </a:bodyPr>
          <a:lstStyle/>
          <a:p>
            <a:pPr algn="ctr"/>
            <a:r>
              <a:rPr lang="zh-CN" altLang="en-US" sz="2000" b="1" i="0" dirty="0">
                <a:solidFill>
                  <a:srgbClr val="202122"/>
                </a:solidFill>
                <a:effectLst/>
                <a:latin typeface="Arial" panose="020B0604020202020204" pitchFamily="34" charset="0"/>
              </a:rPr>
              <a:t>正常</a:t>
            </a:r>
            <a:r>
              <a:rPr lang="zh-CN" altLang="en-US" sz="2000" b="1" i="0" u="none" strike="noStrike" dirty="0">
                <a:solidFill>
                  <a:srgbClr val="3366CC"/>
                </a:solidFill>
                <a:effectLst/>
                <a:latin typeface="Arial" panose="020B0604020202020204" pitchFamily="34" charset="0"/>
              </a:rPr>
              <a:t>窦性心律</a:t>
            </a:r>
            <a:r>
              <a:rPr lang="zh-CN" altLang="en-US" sz="2000" b="1" i="0" dirty="0">
                <a:solidFill>
                  <a:srgbClr val="202122"/>
                </a:solidFill>
                <a:effectLst/>
                <a:latin typeface="Arial" panose="020B0604020202020204" pitchFamily="34" charset="0"/>
              </a:rPr>
              <a:t>心脏的心电图</a:t>
            </a:r>
            <a:endParaRPr lang="zh-CN" altLang="en-US" sz="1600" b="1" dirty="0"/>
          </a:p>
        </p:txBody>
      </p:sp>
      <p:sp>
        <p:nvSpPr>
          <p:cNvPr id="10" name="文本框 9">
            <a:extLst>
              <a:ext uri="{FF2B5EF4-FFF2-40B4-BE49-F238E27FC236}">
                <a16:creationId xmlns:a16="http://schemas.microsoft.com/office/drawing/2014/main" id="{D106C546-15AA-477D-B636-208D31FB09C5}"/>
              </a:ext>
            </a:extLst>
          </p:cNvPr>
          <p:cNvSpPr txBox="1"/>
          <p:nvPr/>
        </p:nvSpPr>
        <p:spPr>
          <a:xfrm>
            <a:off x="300531" y="2524748"/>
            <a:ext cx="7195644" cy="1538883"/>
          </a:xfrm>
          <a:prstGeom prst="rect">
            <a:avLst/>
          </a:prstGeom>
          <a:noFill/>
        </p:spPr>
        <p:txBody>
          <a:bodyPr wrap="square" rtlCol="0">
            <a:spAutoFit/>
          </a:bodyPr>
          <a:lstStyle/>
          <a:p>
            <a:r>
              <a:rPr lang="en-US" altLang="zh-CN" sz="2000" dirty="0">
                <a:latin typeface="Arial" panose="020B0604020202020204" pitchFamily="34" charset="0"/>
              </a:rPr>
              <a:t>(2)</a:t>
            </a:r>
            <a:r>
              <a:rPr lang="zh-CN" altLang="en-US" sz="2000" dirty="0"/>
              <a:t>无脉性室性心动过速</a:t>
            </a:r>
            <a:r>
              <a:rPr lang="zh-CN" altLang="en-US" sz="2000" dirty="0">
                <a:latin typeface="Arial" panose="020B0604020202020204" pitchFamily="34" charset="0"/>
              </a:rPr>
              <a:t>（</a:t>
            </a:r>
            <a:r>
              <a:rPr lang="en-US" altLang="zh-CN" sz="2000" dirty="0" err="1">
                <a:latin typeface="Arial" panose="020B0604020202020204" pitchFamily="34" charset="0"/>
              </a:rPr>
              <a:t>pVT</a:t>
            </a:r>
            <a:r>
              <a:rPr lang="en-US" altLang="zh-CN" sz="2000" dirty="0">
                <a:latin typeface="Arial" panose="020B0604020202020204" pitchFamily="34" charset="0"/>
              </a:rPr>
              <a:t>/VT</a:t>
            </a:r>
            <a:r>
              <a:rPr lang="zh-CN" altLang="en-US" sz="2000" dirty="0">
                <a:latin typeface="Arial" panose="020B0604020202020204" pitchFamily="34" charset="0"/>
              </a:rPr>
              <a:t>，</a:t>
            </a:r>
            <a:r>
              <a:rPr lang="en-US" altLang="zh-CN" sz="2000" dirty="0"/>
              <a:t>Pulseless Ventricular Tachycardia</a:t>
            </a:r>
            <a:r>
              <a:rPr lang="zh-CN" altLang="en-US" sz="2000" dirty="0"/>
              <a:t>）</a:t>
            </a:r>
            <a:endParaRPr lang="en-US" altLang="zh-CN" sz="2000" dirty="0"/>
          </a:p>
          <a:p>
            <a:r>
              <a:rPr lang="zh-CN" altLang="en-US" b="0" i="0" dirty="0">
                <a:solidFill>
                  <a:srgbClr val="000000"/>
                </a:solidFill>
                <a:effectLst/>
                <a:latin typeface="Times New Roman" panose="02020603050405020304" pitchFamily="18" charset="0"/>
              </a:rPr>
              <a:t>定义：无脉性室性心动过速是一种危及生命的心律失常，其特征是协调的心室收缩被快速但无效的收缩所取代，导致器官灌注不足和心力衰竭。</a:t>
            </a:r>
            <a:endParaRPr lang="en-US" altLang="zh-CN" dirty="0"/>
          </a:p>
        </p:txBody>
      </p:sp>
      <p:pic>
        <p:nvPicPr>
          <p:cNvPr id="3074" name="Picture 2">
            <a:extLst>
              <a:ext uri="{FF2B5EF4-FFF2-40B4-BE49-F238E27FC236}">
                <a16:creationId xmlns:a16="http://schemas.microsoft.com/office/drawing/2014/main" id="{7320CA05-FB66-414F-A51C-FD9D92788C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3115" y="4348235"/>
            <a:ext cx="5561559" cy="196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299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00532" y="1224481"/>
            <a:ext cx="9859468" cy="1015663"/>
          </a:xfrm>
          <a:prstGeom prst="rect">
            <a:avLst/>
          </a:prstGeom>
          <a:noFill/>
        </p:spPr>
        <p:txBody>
          <a:bodyPr wrap="square" rtlCol="0">
            <a:spAutoFit/>
          </a:bodyPr>
          <a:lstStyle/>
          <a:p>
            <a:r>
              <a:rPr lang="zh-CN" altLang="en-US" sz="2400" b="1" dirty="0"/>
              <a:t>六、心电图（</a:t>
            </a:r>
            <a:r>
              <a:rPr lang="en-US" altLang="zh-CN" sz="2400" b="1" dirty="0"/>
              <a:t>ECG/EKG</a:t>
            </a:r>
            <a:r>
              <a:rPr lang="zh-CN" altLang="en-US" sz="2400" b="1" dirty="0"/>
              <a:t>）</a:t>
            </a:r>
            <a:r>
              <a:rPr lang="en-US" altLang="zh-CN" sz="2400" b="1" dirty="0"/>
              <a:t>[</a:t>
            </a:r>
            <a:r>
              <a:rPr lang="zh-CN" altLang="en-US" sz="2400" b="1" dirty="0"/>
              <a:t>选学</a:t>
            </a:r>
            <a:r>
              <a:rPr lang="en-US" altLang="zh-CN" sz="2400" b="1" dirty="0"/>
              <a:t>] </a:t>
            </a:r>
            <a:r>
              <a:rPr lang="en-US" altLang="zh-CN" sz="2400" b="1" dirty="0">
                <a:solidFill>
                  <a:srgbClr val="FF0000"/>
                </a:solidFill>
              </a:rPr>
              <a:t>H</a:t>
            </a:r>
          </a:p>
          <a:p>
            <a:r>
              <a:rPr lang="zh-CN" altLang="en-US" i="0" dirty="0">
                <a:effectLst/>
                <a:latin typeface="Arial" panose="020B0604020202020204" pitchFamily="34" charset="0"/>
              </a:rPr>
              <a:t>也叫心电描记术</a:t>
            </a:r>
            <a:r>
              <a:rPr lang="zh-CN" altLang="en-US" b="0" i="0" dirty="0">
                <a:effectLst/>
                <a:latin typeface="Arial" panose="020B0604020202020204" pitchFamily="34" charset="0"/>
              </a:rPr>
              <a:t>是一种经体壁以时间为单位记录</a:t>
            </a:r>
            <a:r>
              <a:rPr lang="zh-CN" altLang="en-US" b="0" i="0" u="none" strike="noStrike" dirty="0">
                <a:effectLst/>
                <a:latin typeface="Arial" panose="020B0604020202020204" pitchFamily="34" charset="0"/>
              </a:rPr>
              <a:t>心脏</a:t>
            </a:r>
            <a:r>
              <a:rPr lang="zh-CN" altLang="en-US" b="0" i="0" dirty="0">
                <a:effectLst/>
                <a:latin typeface="Arial" panose="020B0604020202020204" pitchFamily="34" charset="0"/>
              </a:rPr>
              <a:t>的电生理活动，并通过接触</a:t>
            </a:r>
            <a:r>
              <a:rPr lang="zh-CN" altLang="en-US" b="0" i="0" u="none" strike="noStrike" dirty="0">
                <a:effectLst/>
                <a:latin typeface="Arial" panose="020B0604020202020204" pitchFamily="34" charset="0"/>
              </a:rPr>
              <a:t>皮肤</a:t>
            </a:r>
            <a:r>
              <a:rPr lang="zh-CN" altLang="en-US" b="0" i="0" dirty="0">
                <a:effectLst/>
                <a:latin typeface="Arial" panose="020B0604020202020204" pitchFamily="34" charset="0"/>
              </a:rPr>
              <a:t>的电极捕捉且记录下来的诊疗技术</a:t>
            </a:r>
            <a:endParaRPr lang="zh-CN" altLang="en-US" dirty="0"/>
          </a:p>
        </p:txBody>
      </p:sp>
      <p:pic>
        <p:nvPicPr>
          <p:cNvPr id="1026" name="Picture 2">
            <a:extLst>
              <a:ext uri="{FF2B5EF4-FFF2-40B4-BE49-F238E27FC236}">
                <a16:creationId xmlns:a16="http://schemas.microsoft.com/office/drawing/2014/main" id="{69E84B56-27C5-45A4-9B24-FDD5F8A6C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88" y="2069234"/>
            <a:ext cx="3842039" cy="384203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CF67163C-0ED5-4323-9867-373704CD770B}"/>
              </a:ext>
            </a:extLst>
          </p:cNvPr>
          <p:cNvSpPr txBox="1"/>
          <p:nvPr/>
        </p:nvSpPr>
        <p:spPr>
          <a:xfrm>
            <a:off x="7620288" y="5711218"/>
            <a:ext cx="3654909" cy="400110"/>
          </a:xfrm>
          <a:prstGeom prst="rect">
            <a:avLst/>
          </a:prstGeom>
          <a:noFill/>
        </p:spPr>
        <p:txBody>
          <a:bodyPr wrap="square" rtlCol="0">
            <a:spAutoFit/>
          </a:bodyPr>
          <a:lstStyle/>
          <a:p>
            <a:pPr algn="ctr"/>
            <a:r>
              <a:rPr lang="zh-CN" altLang="en-US" sz="2000" b="1" i="0" dirty="0">
                <a:solidFill>
                  <a:srgbClr val="202122"/>
                </a:solidFill>
                <a:effectLst/>
                <a:latin typeface="Arial" panose="020B0604020202020204" pitchFamily="34" charset="0"/>
              </a:rPr>
              <a:t>正常</a:t>
            </a:r>
            <a:r>
              <a:rPr lang="zh-CN" altLang="en-US" sz="2000" b="1" i="0" u="none" strike="noStrike" dirty="0">
                <a:solidFill>
                  <a:srgbClr val="3366CC"/>
                </a:solidFill>
                <a:effectLst/>
                <a:latin typeface="Arial" panose="020B0604020202020204" pitchFamily="34" charset="0"/>
              </a:rPr>
              <a:t>窦性心律</a:t>
            </a:r>
            <a:r>
              <a:rPr lang="zh-CN" altLang="en-US" sz="2000" b="1" i="0" dirty="0">
                <a:solidFill>
                  <a:srgbClr val="202122"/>
                </a:solidFill>
                <a:effectLst/>
                <a:latin typeface="Arial" panose="020B0604020202020204" pitchFamily="34" charset="0"/>
              </a:rPr>
              <a:t>心脏的心电图</a:t>
            </a:r>
            <a:endParaRPr lang="zh-CN" altLang="en-US" sz="1600" b="1" dirty="0"/>
          </a:p>
        </p:txBody>
      </p:sp>
      <p:sp>
        <p:nvSpPr>
          <p:cNvPr id="10" name="文本框 9">
            <a:extLst>
              <a:ext uri="{FF2B5EF4-FFF2-40B4-BE49-F238E27FC236}">
                <a16:creationId xmlns:a16="http://schemas.microsoft.com/office/drawing/2014/main" id="{D106C546-15AA-477D-B636-208D31FB09C5}"/>
              </a:ext>
            </a:extLst>
          </p:cNvPr>
          <p:cNvSpPr txBox="1"/>
          <p:nvPr/>
        </p:nvSpPr>
        <p:spPr>
          <a:xfrm>
            <a:off x="300531" y="2524748"/>
            <a:ext cx="7195644" cy="677108"/>
          </a:xfrm>
          <a:prstGeom prst="rect">
            <a:avLst/>
          </a:prstGeom>
          <a:noFill/>
        </p:spPr>
        <p:txBody>
          <a:bodyPr wrap="square" rtlCol="0">
            <a:spAutoFit/>
          </a:bodyPr>
          <a:lstStyle/>
          <a:p>
            <a:r>
              <a:rPr lang="en-US" altLang="zh-CN" sz="2000" dirty="0">
                <a:latin typeface="Arial" panose="020B0604020202020204" pitchFamily="34" charset="0"/>
              </a:rPr>
              <a:t>(3)</a:t>
            </a:r>
            <a:r>
              <a:rPr lang="zh-CN" altLang="en-US" sz="2000" dirty="0"/>
              <a:t>心脏停搏（</a:t>
            </a:r>
            <a:r>
              <a:rPr lang="en-US" altLang="zh-CN" sz="2000" dirty="0"/>
              <a:t>Asystole</a:t>
            </a:r>
            <a:r>
              <a:rPr lang="zh-CN" altLang="en-US" sz="2000" dirty="0"/>
              <a:t>）</a:t>
            </a:r>
            <a:endParaRPr lang="en-US" altLang="zh-CN" sz="2000" dirty="0"/>
          </a:p>
          <a:p>
            <a:r>
              <a:rPr lang="zh-CN" altLang="en-US" b="0" i="0" dirty="0">
                <a:solidFill>
                  <a:srgbClr val="000000"/>
                </a:solidFill>
                <a:effectLst/>
                <a:latin typeface="Times New Roman" panose="02020603050405020304" pitchFamily="18" charset="0"/>
              </a:rPr>
              <a:t>定义：</a:t>
            </a:r>
            <a:r>
              <a:rPr lang="zh-CN" altLang="en-US" b="0" i="0" dirty="0">
                <a:solidFill>
                  <a:srgbClr val="202122"/>
                </a:solidFill>
                <a:effectLst/>
                <a:latin typeface="Arial" panose="020B0604020202020204" pitchFamily="34" charset="0"/>
              </a:rPr>
              <a:t>因此心室处于完全静止状态，并丧失收缩舒张功能</a:t>
            </a:r>
            <a:endParaRPr lang="en-US" altLang="zh-CN" dirty="0"/>
          </a:p>
        </p:txBody>
      </p:sp>
      <p:pic>
        <p:nvPicPr>
          <p:cNvPr id="4098" name="Picture 2" descr="Asystole Causes, Symptoms and Emergency Treatment Guide">
            <a:extLst>
              <a:ext uri="{FF2B5EF4-FFF2-40B4-BE49-F238E27FC236}">
                <a16:creationId xmlns:a16="http://schemas.microsoft.com/office/drawing/2014/main" id="{499384EC-2613-41E0-95CF-ABD423C6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824" y="3486460"/>
            <a:ext cx="5038725" cy="282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050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954107"/>
          </a:xfrm>
          <a:prstGeom prst="rect">
            <a:avLst/>
          </a:prstGeom>
          <a:noFill/>
        </p:spPr>
        <p:txBody>
          <a:bodyPr wrap="square" rtlCol="0">
            <a:spAutoFit/>
          </a:bodyPr>
          <a:lstStyle/>
          <a:p>
            <a:pPr algn="ctr"/>
            <a:r>
              <a:rPr lang="zh-CN" altLang="en-US" sz="3200" dirty="0"/>
              <a:t>氧气辅助与生命体征监测</a:t>
            </a:r>
            <a:endParaRPr lang="en-US" altLang="zh-CN" sz="3200" dirty="0"/>
          </a:p>
          <a:p>
            <a:pPr algn="ctr"/>
            <a:r>
              <a:rPr lang="zh-CN" altLang="en-US" sz="2400" dirty="0"/>
              <a:t>（</a:t>
            </a:r>
            <a:r>
              <a:rPr lang="en-US" altLang="zh-CN" sz="2400" dirty="0"/>
              <a:t>Oxygen Support &amp; Vital Signs Monitoring</a:t>
            </a:r>
            <a:r>
              <a:rPr lang="zh-CN" altLang="en-US" sz="2400" dirty="0"/>
              <a:t>）</a:t>
            </a:r>
            <a:r>
              <a:rPr lang="zh-CN" altLang="en-US" sz="2000" dirty="0"/>
              <a:t>技能类型：</a:t>
            </a:r>
            <a:r>
              <a:rPr lang="en-US" altLang="zh-CN" sz="20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00532" y="1224481"/>
            <a:ext cx="9859468" cy="1015663"/>
          </a:xfrm>
          <a:prstGeom prst="rect">
            <a:avLst/>
          </a:prstGeom>
          <a:noFill/>
        </p:spPr>
        <p:txBody>
          <a:bodyPr wrap="square" rtlCol="0">
            <a:spAutoFit/>
          </a:bodyPr>
          <a:lstStyle/>
          <a:p>
            <a:r>
              <a:rPr lang="zh-CN" altLang="en-US" sz="2400" b="1" dirty="0"/>
              <a:t>六、心电图（</a:t>
            </a:r>
            <a:r>
              <a:rPr lang="en-US" altLang="zh-CN" sz="2400" b="1" dirty="0"/>
              <a:t>ECG/EKG</a:t>
            </a:r>
            <a:r>
              <a:rPr lang="zh-CN" altLang="en-US" sz="2400" b="1" dirty="0"/>
              <a:t>）</a:t>
            </a:r>
            <a:r>
              <a:rPr lang="en-US" altLang="zh-CN" sz="2400" b="1" dirty="0"/>
              <a:t>[</a:t>
            </a:r>
            <a:r>
              <a:rPr lang="zh-CN" altLang="en-US" sz="2400" b="1" dirty="0"/>
              <a:t>选学</a:t>
            </a:r>
            <a:r>
              <a:rPr lang="en-US" altLang="zh-CN" sz="2400" b="1" dirty="0"/>
              <a:t>] </a:t>
            </a:r>
            <a:r>
              <a:rPr lang="en-US" altLang="zh-CN" sz="2400" b="1" dirty="0">
                <a:solidFill>
                  <a:srgbClr val="FF0000"/>
                </a:solidFill>
              </a:rPr>
              <a:t>H</a:t>
            </a:r>
          </a:p>
          <a:p>
            <a:r>
              <a:rPr lang="zh-CN" altLang="en-US" i="0" dirty="0">
                <a:effectLst/>
                <a:latin typeface="Arial" panose="020B0604020202020204" pitchFamily="34" charset="0"/>
              </a:rPr>
              <a:t>也叫心电描记术</a:t>
            </a:r>
            <a:r>
              <a:rPr lang="zh-CN" altLang="en-US" b="0" i="0" dirty="0">
                <a:effectLst/>
                <a:latin typeface="Arial" panose="020B0604020202020204" pitchFamily="34" charset="0"/>
              </a:rPr>
              <a:t>是一种经体壁以时间为单位记录</a:t>
            </a:r>
            <a:r>
              <a:rPr lang="zh-CN" altLang="en-US" b="0" i="0" u="none" strike="noStrike" dirty="0">
                <a:effectLst/>
                <a:latin typeface="Arial" panose="020B0604020202020204" pitchFamily="34" charset="0"/>
              </a:rPr>
              <a:t>心脏</a:t>
            </a:r>
            <a:r>
              <a:rPr lang="zh-CN" altLang="en-US" b="0" i="0" dirty="0">
                <a:effectLst/>
                <a:latin typeface="Arial" panose="020B0604020202020204" pitchFamily="34" charset="0"/>
              </a:rPr>
              <a:t>的电生理活动，并通过接触</a:t>
            </a:r>
            <a:r>
              <a:rPr lang="zh-CN" altLang="en-US" b="0" i="0" u="none" strike="noStrike" dirty="0">
                <a:effectLst/>
                <a:latin typeface="Arial" panose="020B0604020202020204" pitchFamily="34" charset="0"/>
              </a:rPr>
              <a:t>皮肤</a:t>
            </a:r>
            <a:r>
              <a:rPr lang="zh-CN" altLang="en-US" b="0" i="0" dirty="0">
                <a:effectLst/>
                <a:latin typeface="Arial" panose="020B0604020202020204" pitchFamily="34" charset="0"/>
              </a:rPr>
              <a:t>的电极捕捉且记录下来的诊疗技术</a:t>
            </a:r>
            <a:endParaRPr lang="zh-CN" altLang="en-US" dirty="0"/>
          </a:p>
        </p:txBody>
      </p:sp>
      <p:pic>
        <p:nvPicPr>
          <p:cNvPr id="1026" name="Picture 2">
            <a:extLst>
              <a:ext uri="{FF2B5EF4-FFF2-40B4-BE49-F238E27FC236}">
                <a16:creationId xmlns:a16="http://schemas.microsoft.com/office/drawing/2014/main" id="{69E84B56-27C5-45A4-9B24-FDD5F8A6C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88" y="2069234"/>
            <a:ext cx="3842039" cy="384203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CF67163C-0ED5-4323-9867-373704CD770B}"/>
              </a:ext>
            </a:extLst>
          </p:cNvPr>
          <p:cNvSpPr txBox="1"/>
          <p:nvPr/>
        </p:nvSpPr>
        <p:spPr>
          <a:xfrm>
            <a:off x="7620288" y="5711218"/>
            <a:ext cx="3654909" cy="400110"/>
          </a:xfrm>
          <a:prstGeom prst="rect">
            <a:avLst/>
          </a:prstGeom>
          <a:noFill/>
        </p:spPr>
        <p:txBody>
          <a:bodyPr wrap="square" rtlCol="0">
            <a:spAutoFit/>
          </a:bodyPr>
          <a:lstStyle/>
          <a:p>
            <a:pPr algn="ctr"/>
            <a:r>
              <a:rPr lang="zh-CN" altLang="en-US" sz="2000" b="1" i="0" dirty="0">
                <a:solidFill>
                  <a:srgbClr val="202122"/>
                </a:solidFill>
                <a:effectLst/>
                <a:latin typeface="Arial" panose="020B0604020202020204" pitchFamily="34" charset="0"/>
              </a:rPr>
              <a:t>正常</a:t>
            </a:r>
            <a:r>
              <a:rPr lang="zh-CN" altLang="en-US" sz="2000" b="1" i="0" u="none" strike="noStrike" dirty="0">
                <a:solidFill>
                  <a:srgbClr val="3366CC"/>
                </a:solidFill>
                <a:effectLst/>
                <a:latin typeface="Arial" panose="020B0604020202020204" pitchFamily="34" charset="0"/>
              </a:rPr>
              <a:t>窦性心律</a:t>
            </a:r>
            <a:r>
              <a:rPr lang="zh-CN" altLang="en-US" sz="2000" b="1" i="0" dirty="0">
                <a:solidFill>
                  <a:srgbClr val="202122"/>
                </a:solidFill>
                <a:effectLst/>
                <a:latin typeface="Arial" panose="020B0604020202020204" pitchFamily="34" charset="0"/>
              </a:rPr>
              <a:t>心脏的心电图</a:t>
            </a:r>
            <a:endParaRPr lang="zh-CN" altLang="en-US" sz="1600" b="1" dirty="0"/>
          </a:p>
        </p:txBody>
      </p:sp>
      <p:sp>
        <p:nvSpPr>
          <p:cNvPr id="10" name="文本框 9">
            <a:extLst>
              <a:ext uri="{FF2B5EF4-FFF2-40B4-BE49-F238E27FC236}">
                <a16:creationId xmlns:a16="http://schemas.microsoft.com/office/drawing/2014/main" id="{D106C546-15AA-477D-B636-208D31FB09C5}"/>
              </a:ext>
            </a:extLst>
          </p:cNvPr>
          <p:cNvSpPr txBox="1"/>
          <p:nvPr/>
        </p:nvSpPr>
        <p:spPr>
          <a:xfrm>
            <a:off x="300531" y="2524748"/>
            <a:ext cx="7195644" cy="954107"/>
          </a:xfrm>
          <a:prstGeom prst="rect">
            <a:avLst/>
          </a:prstGeom>
          <a:noFill/>
        </p:spPr>
        <p:txBody>
          <a:bodyPr wrap="square" rtlCol="0">
            <a:spAutoFit/>
          </a:bodyPr>
          <a:lstStyle/>
          <a:p>
            <a:pPr marL="0" algn="l" rtl="0" eaLnBrk="1" latinLnBrk="0" hangingPunct="1">
              <a:spcBef>
                <a:spcPts val="0"/>
              </a:spcBef>
              <a:spcAft>
                <a:spcPts val="0"/>
              </a:spcAft>
            </a:pPr>
            <a:r>
              <a:rPr lang="en-US" altLang="zh-CN" sz="2000" i="0" kern="1200" dirty="0">
                <a:solidFill>
                  <a:srgbClr val="000000"/>
                </a:solidFill>
                <a:effectLst/>
                <a:latin typeface="Arial" panose="020B0604020202020204" pitchFamily="34" charset="0"/>
                <a:ea typeface="等线" panose="02010600030101010101" pitchFamily="2" charset="-122"/>
                <a:cs typeface="+mn-cs"/>
              </a:rPr>
              <a:t>(4)</a:t>
            </a:r>
            <a:r>
              <a:rPr lang="zh-CN" altLang="zh-CN" sz="2000" kern="1200" dirty="0">
                <a:solidFill>
                  <a:srgbClr val="000000"/>
                </a:solidFill>
                <a:effectLst/>
                <a:latin typeface="等线" panose="02010600030101010101" pitchFamily="2" charset="-122"/>
                <a:ea typeface="等线" panose="02010600030101010101" pitchFamily="2" charset="-122"/>
                <a:cs typeface="+mn-cs"/>
              </a:rPr>
              <a:t>无脉性电活动（</a:t>
            </a:r>
            <a:r>
              <a:rPr lang="en-US" altLang="zh-CN" sz="2000" kern="1200" dirty="0">
                <a:solidFill>
                  <a:srgbClr val="000000"/>
                </a:solidFill>
                <a:effectLst/>
                <a:latin typeface="等线" panose="02010600030101010101" pitchFamily="2" charset="-122"/>
                <a:ea typeface="等线" panose="02010600030101010101" pitchFamily="2" charset="-122"/>
                <a:cs typeface="+mn-cs"/>
              </a:rPr>
              <a:t>PEA</a:t>
            </a:r>
            <a:r>
              <a:rPr lang="zh-CN" altLang="zh-CN" sz="2000" kern="1200" dirty="0">
                <a:solidFill>
                  <a:srgbClr val="000000"/>
                </a:solidFill>
                <a:effectLst/>
                <a:latin typeface="等线" panose="02010600030101010101" pitchFamily="2" charset="-122"/>
                <a:ea typeface="等线" panose="02010600030101010101" pitchFamily="2" charset="-122"/>
                <a:cs typeface="+mn-cs"/>
              </a:rPr>
              <a:t>，</a:t>
            </a:r>
            <a:r>
              <a:rPr lang="en-US" altLang="zh-CN" sz="2000" kern="1200" dirty="0">
                <a:solidFill>
                  <a:srgbClr val="000000"/>
                </a:solidFill>
                <a:effectLst/>
                <a:latin typeface="等线" panose="02010600030101010101" pitchFamily="2" charset="-122"/>
                <a:ea typeface="等线" panose="02010600030101010101" pitchFamily="2" charset="-122"/>
                <a:cs typeface="+mn-cs"/>
              </a:rPr>
              <a:t>Pulseless Electrical Activity</a:t>
            </a:r>
            <a:r>
              <a:rPr lang="zh-CN" altLang="zh-CN" sz="2000" kern="1200" dirty="0">
                <a:solidFill>
                  <a:srgbClr val="000000"/>
                </a:solidFill>
                <a:effectLst/>
                <a:latin typeface="等线" panose="02010600030101010101" pitchFamily="2" charset="-122"/>
                <a:ea typeface="等线" panose="02010600030101010101" pitchFamily="2" charset="-122"/>
                <a:cs typeface="+mn-cs"/>
              </a:rPr>
              <a:t>）</a:t>
            </a:r>
            <a:endParaRPr lang="zh-CN" altLang="zh-CN" sz="2400" dirty="0">
              <a:effectLst/>
            </a:endParaRPr>
          </a:p>
          <a:p>
            <a:r>
              <a:rPr lang="zh-CN" altLang="en-US" b="0" i="0" dirty="0">
                <a:solidFill>
                  <a:srgbClr val="000000"/>
                </a:solidFill>
                <a:effectLst/>
                <a:latin typeface="Times New Roman" panose="02020603050405020304" pitchFamily="18" charset="0"/>
              </a:rPr>
              <a:t>定义：</a:t>
            </a:r>
            <a:r>
              <a:rPr lang="zh-CN" altLang="en-US" b="0" i="0" dirty="0">
                <a:effectLst/>
                <a:latin typeface="__Roboto_a857ad"/>
              </a:rPr>
              <a:t>无脉性电活动（</a:t>
            </a:r>
            <a:r>
              <a:rPr lang="en-US" altLang="zh-CN" b="0" i="0" dirty="0">
                <a:effectLst/>
                <a:latin typeface="__Roboto_a857ad"/>
              </a:rPr>
              <a:t>PEA</a:t>
            </a:r>
            <a:r>
              <a:rPr lang="zh-CN" altLang="en-US" b="0" i="0" dirty="0">
                <a:effectLst/>
                <a:latin typeface="__Roboto_a857ad"/>
              </a:rPr>
              <a:t>）是指心脏停止跳动的一种疾病。心脏的电活动无法产生心跳。</a:t>
            </a:r>
            <a:endParaRPr lang="en-US" altLang="zh-CN" dirty="0"/>
          </a:p>
        </p:txBody>
      </p:sp>
      <p:pic>
        <p:nvPicPr>
          <p:cNvPr id="5122" name="Picture 2" descr="164 Pulseless Royalty-Free Images, Stock Photos &amp; Pictures | Shutterstock">
            <a:extLst>
              <a:ext uri="{FF2B5EF4-FFF2-40B4-BE49-F238E27FC236}">
                <a16:creationId xmlns:a16="http://schemas.microsoft.com/office/drawing/2014/main" id="{1664C0C6-6CD6-4014-8E55-DA58ADE45C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336" y="3478855"/>
            <a:ext cx="4728104" cy="2184603"/>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6DA35C0B-8BD4-486C-B483-81A102DA0270}"/>
              </a:ext>
            </a:extLst>
          </p:cNvPr>
          <p:cNvPicPr>
            <a:picLocks noChangeAspect="1"/>
          </p:cNvPicPr>
          <p:nvPr/>
        </p:nvPicPr>
        <p:blipFill>
          <a:blip r:embed="rId5"/>
          <a:stretch>
            <a:fillRect/>
          </a:stretch>
        </p:blipFill>
        <p:spPr>
          <a:xfrm>
            <a:off x="1400666" y="5334246"/>
            <a:ext cx="3925937" cy="1154053"/>
          </a:xfrm>
          <a:prstGeom prst="rect">
            <a:avLst/>
          </a:prstGeom>
        </p:spPr>
      </p:pic>
    </p:spTree>
    <p:extLst>
      <p:ext uri="{BB962C8B-B14F-4D97-AF65-F5344CB8AC3E}">
        <p14:creationId xmlns:p14="http://schemas.microsoft.com/office/powerpoint/2010/main" val="426012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71025" y="135187"/>
            <a:ext cx="10511157" cy="584775"/>
          </a:xfrm>
          <a:prstGeom prst="rect">
            <a:avLst/>
          </a:prstGeom>
          <a:noFill/>
        </p:spPr>
        <p:txBody>
          <a:bodyPr wrap="square" rtlCol="0">
            <a:spAutoFit/>
          </a:bodyPr>
          <a:lstStyle/>
          <a:p>
            <a:pPr algn="ctr"/>
            <a:r>
              <a:rPr lang="zh-CN" altLang="en-US" sz="3200" dirty="0"/>
              <a:t>      </a:t>
            </a:r>
            <a:r>
              <a:rPr lang="en-US" altLang="zh-CN" sz="3200" dirty="0"/>
              <a:t>		</a:t>
            </a:r>
            <a:r>
              <a:rPr lang="zh-CN" altLang="en-US" sz="3200" dirty="0"/>
              <a:t>能量补充与低血糖处  技能类型：</a:t>
            </a:r>
            <a:r>
              <a:rPr lang="en-US" altLang="zh-CN" sz="3200" dirty="0">
                <a:solidFill>
                  <a:srgbClr val="FF0000"/>
                </a:solidFill>
              </a:rPr>
              <a:t>Z S </a:t>
            </a:r>
            <a:endParaRPr lang="zh-CN" altLang="en-US" sz="20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365187" y="1314548"/>
            <a:ext cx="4677330" cy="2431435"/>
          </a:xfrm>
          <a:prstGeom prst="rect">
            <a:avLst/>
          </a:prstGeom>
          <a:noFill/>
        </p:spPr>
        <p:txBody>
          <a:bodyPr wrap="square" rtlCol="0">
            <a:spAutoFit/>
          </a:bodyPr>
          <a:lstStyle/>
          <a:p>
            <a:r>
              <a:rPr lang="zh-CN" altLang="en-US" sz="2400" b="1" dirty="0"/>
              <a:t>一、常见表现</a:t>
            </a:r>
          </a:p>
          <a:p>
            <a:r>
              <a:rPr lang="zh-CN" altLang="en-US" sz="2000" dirty="0"/>
              <a:t>低血糖可能出现以下症状：</a:t>
            </a:r>
          </a:p>
          <a:p>
            <a:pPr>
              <a:buFont typeface="+mj-lt"/>
              <a:buAutoNum type="arabicPeriod"/>
            </a:pPr>
            <a:r>
              <a:rPr lang="zh-CN" altLang="en-US" dirty="0"/>
              <a:t>头晕、乏力</a:t>
            </a:r>
          </a:p>
          <a:p>
            <a:pPr>
              <a:buFont typeface="+mj-lt"/>
              <a:buAutoNum type="arabicPeriod"/>
            </a:pPr>
            <a:r>
              <a:rPr lang="zh-CN" altLang="en-US" dirty="0"/>
              <a:t>出冷汗</a:t>
            </a:r>
          </a:p>
          <a:p>
            <a:pPr>
              <a:buFont typeface="+mj-lt"/>
              <a:buAutoNum type="arabicPeriod"/>
            </a:pPr>
            <a:r>
              <a:rPr lang="zh-CN" altLang="en-US" dirty="0"/>
              <a:t>心慌、手抖</a:t>
            </a:r>
          </a:p>
          <a:p>
            <a:pPr>
              <a:buFont typeface="+mj-lt"/>
              <a:buAutoNum type="arabicPeriod"/>
            </a:pPr>
            <a:r>
              <a:rPr lang="zh-CN" altLang="en-US" dirty="0"/>
              <a:t>面色苍白</a:t>
            </a:r>
          </a:p>
          <a:p>
            <a:pPr>
              <a:buFont typeface="+mj-lt"/>
              <a:buAutoNum type="arabicPeriod"/>
            </a:pPr>
            <a:r>
              <a:rPr lang="zh-CN" altLang="en-US" dirty="0"/>
              <a:t>注意力下降</a:t>
            </a:r>
          </a:p>
          <a:p>
            <a:pPr>
              <a:buFont typeface="+mj-lt"/>
              <a:buAutoNum type="arabicPeriod"/>
            </a:pPr>
            <a:r>
              <a:rPr lang="zh-CN" altLang="en-US" dirty="0"/>
              <a:t>严重时可出现意识改变或昏迷</a:t>
            </a:r>
          </a:p>
        </p:txBody>
      </p:sp>
      <p:sp>
        <p:nvSpPr>
          <p:cNvPr id="5" name="文本框 4">
            <a:extLst>
              <a:ext uri="{FF2B5EF4-FFF2-40B4-BE49-F238E27FC236}">
                <a16:creationId xmlns:a16="http://schemas.microsoft.com/office/drawing/2014/main" id="{A44CD39E-E1E6-42C9-B706-80E306D25887}"/>
              </a:ext>
            </a:extLst>
          </p:cNvPr>
          <p:cNvSpPr txBox="1"/>
          <p:nvPr/>
        </p:nvSpPr>
        <p:spPr>
          <a:xfrm>
            <a:off x="3757335" y="1314548"/>
            <a:ext cx="4677330" cy="2215991"/>
          </a:xfrm>
          <a:prstGeom prst="rect">
            <a:avLst/>
          </a:prstGeom>
          <a:noFill/>
        </p:spPr>
        <p:txBody>
          <a:bodyPr wrap="square" rtlCol="0">
            <a:spAutoFit/>
          </a:bodyPr>
          <a:lstStyle/>
          <a:p>
            <a:r>
              <a:rPr lang="zh-CN" altLang="en-US" sz="2400" b="1" dirty="0"/>
              <a:t>二、现场处理原则</a:t>
            </a:r>
          </a:p>
          <a:p>
            <a:r>
              <a:rPr lang="en-US" altLang="zh-CN" sz="2000" b="1" dirty="0"/>
              <a:t>1. </a:t>
            </a:r>
            <a:r>
              <a:rPr lang="zh-CN" altLang="en-US" sz="2000" b="1" dirty="0"/>
              <a:t>有意识且能够吞咽</a:t>
            </a:r>
          </a:p>
          <a:p>
            <a:r>
              <a:rPr lang="en-US" altLang="zh-CN" dirty="0"/>
              <a:t>	</a:t>
            </a:r>
            <a:r>
              <a:rPr lang="zh-CN" altLang="en-US" dirty="0"/>
              <a:t>可以给予 口服糖分补充</a:t>
            </a:r>
          </a:p>
          <a:p>
            <a:r>
              <a:rPr lang="zh-CN" altLang="en-US" sz="2000" dirty="0"/>
              <a:t>常见方式：</a:t>
            </a:r>
          </a:p>
          <a:p>
            <a:r>
              <a:rPr lang="en-US" altLang="zh-CN" dirty="0"/>
              <a:t>	</a:t>
            </a:r>
            <a:r>
              <a:rPr lang="zh-CN" altLang="en-US" dirty="0"/>
              <a:t>葡萄糖溶液</a:t>
            </a:r>
          </a:p>
          <a:p>
            <a:r>
              <a:rPr lang="en-US" altLang="zh-CN" dirty="0"/>
              <a:t>	</a:t>
            </a:r>
            <a:r>
              <a:rPr lang="zh-CN" altLang="en-US" dirty="0"/>
              <a:t>含糖饮料</a:t>
            </a:r>
          </a:p>
          <a:p>
            <a:r>
              <a:rPr lang="en-US" altLang="zh-CN" dirty="0"/>
              <a:t>	</a:t>
            </a:r>
            <a:r>
              <a:rPr lang="zh-CN" altLang="en-US" dirty="0"/>
              <a:t>糖果或巧克力</a:t>
            </a:r>
          </a:p>
        </p:txBody>
      </p:sp>
      <p:sp>
        <p:nvSpPr>
          <p:cNvPr id="6" name="文本框 5">
            <a:extLst>
              <a:ext uri="{FF2B5EF4-FFF2-40B4-BE49-F238E27FC236}">
                <a16:creationId xmlns:a16="http://schemas.microsoft.com/office/drawing/2014/main" id="{87C4E9F2-DF34-4076-91CC-82212AF62FBD}"/>
              </a:ext>
            </a:extLst>
          </p:cNvPr>
          <p:cNvSpPr txBox="1"/>
          <p:nvPr/>
        </p:nvSpPr>
        <p:spPr>
          <a:xfrm>
            <a:off x="3757335" y="3530539"/>
            <a:ext cx="4677330" cy="2431435"/>
          </a:xfrm>
          <a:prstGeom prst="rect">
            <a:avLst/>
          </a:prstGeom>
          <a:noFill/>
        </p:spPr>
        <p:txBody>
          <a:bodyPr wrap="square" rtlCol="0">
            <a:spAutoFit/>
          </a:bodyPr>
          <a:lstStyle/>
          <a:p>
            <a:r>
              <a:rPr lang="en-US" altLang="zh-CN" sz="2000" b="1" dirty="0"/>
              <a:t>2. </a:t>
            </a:r>
            <a:r>
              <a:rPr lang="zh-CN" altLang="en-US" sz="2000" b="1" dirty="0"/>
              <a:t>意识不清或无法吞咽</a:t>
            </a:r>
          </a:p>
          <a:p>
            <a:r>
              <a:rPr lang="zh-CN" altLang="en-US" sz="2000" dirty="0"/>
              <a:t>处理原则：</a:t>
            </a:r>
          </a:p>
          <a:p>
            <a:pPr>
              <a:buFont typeface="+mj-lt"/>
              <a:buAutoNum type="arabicPeriod"/>
            </a:pPr>
            <a:r>
              <a:rPr lang="zh-CN" altLang="en-US" dirty="0"/>
              <a:t>保持气道通畅</a:t>
            </a:r>
          </a:p>
          <a:p>
            <a:pPr>
              <a:buFont typeface="+mj-lt"/>
              <a:buAutoNum type="arabicPeriod"/>
            </a:pPr>
            <a:r>
              <a:rPr lang="zh-CN" altLang="en-US" dirty="0"/>
              <a:t>监测生命体征</a:t>
            </a:r>
          </a:p>
          <a:p>
            <a:pPr>
              <a:buFont typeface="+mj-lt"/>
              <a:buAutoNum type="arabicPeriod"/>
            </a:pPr>
            <a:r>
              <a:rPr lang="zh-CN" altLang="en-US" dirty="0"/>
              <a:t>必要时给予氧气</a:t>
            </a:r>
          </a:p>
          <a:p>
            <a:pPr>
              <a:buFont typeface="+mj-lt"/>
              <a:buAutoNum type="arabicPeriod"/>
            </a:pPr>
            <a:r>
              <a:rPr lang="zh-CN" altLang="en-US" dirty="0"/>
              <a:t>立即调度</a:t>
            </a:r>
            <a:r>
              <a:rPr lang="en-US" altLang="zh-CN" dirty="0"/>
              <a:t>120</a:t>
            </a:r>
            <a:r>
              <a:rPr lang="zh-CN" altLang="en-US" dirty="0"/>
              <a:t>医疗系统</a:t>
            </a:r>
          </a:p>
          <a:p>
            <a:r>
              <a:rPr lang="zh-CN" altLang="en-US" sz="2000" b="1" dirty="0">
                <a:solidFill>
                  <a:srgbClr val="FF0000"/>
                </a:solidFill>
              </a:rPr>
              <a:t>注意：</a:t>
            </a:r>
          </a:p>
          <a:p>
            <a:r>
              <a:rPr lang="zh-CN" altLang="en-US" dirty="0"/>
              <a:t>不要强行喂食，以免</a:t>
            </a:r>
            <a:r>
              <a:rPr lang="zh-CN" altLang="en-US" b="1" dirty="0"/>
              <a:t>误吸窒息</a:t>
            </a:r>
            <a:endParaRPr lang="zh-CN" altLang="en-US" dirty="0"/>
          </a:p>
        </p:txBody>
      </p:sp>
    </p:spTree>
    <p:extLst>
      <p:ext uri="{BB962C8B-B14F-4D97-AF65-F5344CB8AC3E}">
        <p14:creationId xmlns:p14="http://schemas.microsoft.com/office/powerpoint/2010/main" val="3827172914"/>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653615" y="161943"/>
            <a:ext cx="9662969" cy="584775"/>
          </a:xfrm>
          <a:prstGeom prst="rect">
            <a:avLst/>
          </a:prstGeom>
          <a:noFill/>
        </p:spPr>
        <p:txBody>
          <a:bodyPr wrap="square" rtlCol="0">
            <a:spAutoFit/>
          </a:bodyPr>
          <a:lstStyle/>
          <a:p>
            <a:r>
              <a:rPr lang="zh-CN" altLang="en-US" sz="3200" dirty="0"/>
              <a:t>心脏骤停处置（</a:t>
            </a:r>
            <a:r>
              <a:rPr lang="en-US" altLang="zh-CN" sz="3200" dirty="0"/>
              <a:t>Cardiac Arrest</a:t>
            </a:r>
            <a:r>
              <a:rPr lang="zh-CN" altLang="en-US" sz="3200" dirty="0"/>
              <a:t>）技能类型：</a:t>
            </a:r>
            <a:r>
              <a:rPr lang="en-US" altLang="zh-CN" sz="3200" dirty="0">
                <a:solidFill>
                  <a:srgbClr val="FF0000"/>
                </a:solidFill>
              </a:rPr>
              <a:t>Z S </a:t>
            </a:r>
            <a:endParaRPr lang="zh-CN" altLang="en-US" sz="3200" dirty="0">
              <a:solidFill>
                <a:srgbClr val="FF0000"/>
              </a:solidFill>
            </a:endParaRPr>
          </a:p>
        </p:txBody>
      </p:sp>
      <p:sp>
        <p:nvSpPr>
          <p:cNvPr id="7" name="文本框 6">
            <a:extLst>
              <a:ext uri="{FF2B5EF4-FFF2-40B4-BE49-F238E27FC236}">
                <a16:creationId xmlns:a16="http://schemas.microsoft.com/office/drawing/2014/main" id="{67E5D763-4021-45CB-9C4E-F1BC3EE74D1F}"/>
              </a:ext>
            </a:extLst>
          </p:cNvPr>
          <p:cNvSpPr txBox="1"/>
          <p:nvPr/>
        </p:nvSpPr>
        <p:spPr>
          <a:xfrm>
            <a:off x="9069819" y="1646173"/>
            <a:ext cx="2788806" cy="461665"/>
          </a:xfrm>
          <a:prstGeom prst="rect">
            <a:avLst/>
          </a:prstGeom>
          <a:noFill/>
        </p:spPr>
        <p:txBody>
          <a:bodyPr wrap="square" rtlCol="0">
            <a:spAutoFit/>
          </a:bodyPr>
          <a:lstStyle/>
          <a:p>
            <a:pPr marL="0" algn="l" rtl="0" eaLnBrk="1" latinLnBrk="0" hangingPunct="1">
              <a:spcBef>
                <a:spcPts val="0"/>
              </a:spcBef>
              <a:spcAft>
                <a:spcPts val="0"/>
              </a:spcAft>
            </a:pPr>
            <a:r>
              <a:rPr lang="zh-CN" altLang="en-US" sz="2400" b="1" dirty="0"/>
              <a:t>心脏骤停处置流程：</a:t>
            </a:r>
            <a:endParaRPr lang="en-US" altLang="zh-CN" sz="2400" b="1" dirty="0"/>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11" name="文本框 10">
            <a:extLst>
              <a:ext uri="{FF2B5EF4-FFF2-40B4-BE49-F238E27FC236}">
                <a16:creationId xmlns:a16="http://schemas.microsoft.com/office/drawing/2014/main" id="{943A8294-4391-4F1F-80CB-F788843F1B7B}"/>
              </a:ext>
            </a:extLst>
          </p:cNvPr>
          <p:cNvSpPr txBox="1"/>
          <p:nvPr/>
        </p:nvSpPr>
        <p:spPr>
          <a:xfrm>
            <a:off x="8955519" y="2246975"/>
            <a:ext cx="2722131" cy="4401205"/>
          </a:xfrm>
          <a:prstGeom prst="rect">
            <a:avLst/>
          </a:prstGeom>
          <a:noFill/>
        </p:spPr>
        <p:txBody>
          <a:bodyPr wrap="square" rtlCol="0">
            <a:spAutoFit/>
          </a:bodyPr>
          <a:lstStyle/>
          <a:p>
            <a:pPr marL="0" algn="l" rtl="0" eaLnBrk="1" latinLnBrk="0" hangingPunct="1">
              <a:spcBef>
                <a:spcPts val="0"/>
              </a:spcBef>
              <a:spcAft>
                <a:spcPts val="0"/>
              </a:spcAft>
            </a:pPr>
            <a:r>
              <a:rPr lang="en-US" altLang="zh-CN" sz="2000" dirty="0"/>
              <a:t>1.</a:t>
            </a:r>
            <a:r>
              <a:rPr lang="zh-CN" altLang="en-US" sz="2000" dirty="0"/>
              <a:t>周围环境安全</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2.</a:t>
            </a:r>
            <a:r>
              <a:rPr lang="zh-CN" altLang="en-US" sz="2000" dirty="0"/>
              <a:t>个人安全防护</a:t>
            </a:r>
            <a:endParaRPr lang="en-US" altLang="zh-CN" sz="2000"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3.</a:t>
            </a:r>
            <a:r>
              <a:rPr lang="zh-CN" altLang="en-US" sz="2000" dirty="0"/>
              <a:t>评估伤情</a:t>
            </a:r>
            <a:endParaRPr lang="en-US" altLang="zh-CN" sz="2000" dirty="0"/>
          </a:p>
          <a:p>
            <a:pPr marL="0" algn="l" rtl="0" eaLnBrk="1" latinLnBrk="0" hangingPunct="1">
              <a:spcBef>
                <a:spcPts val="0"/>
              </a:spcBef>
              <a:spcAft>
                <a:spcPts val="0"/>
              </a:spcAft>
            </a:pPr>
            <a:endParaRPr lang="en-US" altLang="zh-CN" sz="2000" dirty="0"/>
          </a:p>
          <a:p>
            <a:r>
              <a:rPr lang="en-US" altLang="zh-CN" sz="2000" dirty="0"/>
              <a:t>4.</a:t>
            </a:r>
            <a:r>
              <a:rPr lang="zh-CN" altLang="en-US" sz="2000" b="1" dirty="0"/>
              <a:t>心肺复苏</a:t>
            </a:r>
            <a:endParaRPr lang="en-US" altLang="zh-CN" sz="2000" b="1"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5.</a:t>
            </a:r>
            <a:r>
              <a:rPr lang="zh-CN" altLang="en-US" sz="2000" dirty="0"/>
              <a:t>伤口处理</a:t>
            </a:r>
            <a:endParaRPr lang="en-US" altLang="zh-CN" sz="2000" dirty="0"/>
          </a:p>
          <a:p>
            <a:pPr marL="0" algn="l" rtl="0" eaLnBrk="1" latinLnBrk="0" hangingPunct="1">
              <a:spcBef>
                <a:spcPts val="0"/>
              </a:spcBef>
              <a:spcAft>
                <a:spcPts val="0"/>
              </a:spcAft>
            </a:pPr>
            <a:endParaRPr lang="en-US" altLang="zh-CN" sz="2000" dirty="0"/>
          </a:p>
          <a:p>
            <a:r>
              <a:rPr lang="en-US" altLang="zh-CN" sz="2000" dirty="0"/>
              <a:t>6.</a:t>
            </a:r>
            <a:r>
              <a:rPr lang="zh-CN" altLang="en-US" sz="2000" b="1" dirty="0"/>
              <a:t>气道管理</a:t>
            </a:r>
            <a:endParaRPr lang="en-US" altLang="zh-CN" sz="2000" b="1" dirty="0"/>
          </a:p>
          <a:p>
            <a:pPr marL="0" algn="l" rtl="0" eaLnBrk="1" latinLnBrk="0" hangingPunct="1">
              <a:spcBef>
                <a:spcPts val="0"/>
              </a:spcBef>
              <a:spcAft>
                <a:spcPts val="0"/>
              </a:spcAft>
            </a:pPr>
            <a:endParaRPr lang="en-US" altLang="zh-CN" sz="2000" dirty="0"/>
          </a:p>
          <a:p>
            <a:pPr marL="0" algn="l" rtl="0" eaLnBrk="1" latinLnBrk="0" hangingPunct="1">
              <a:spcBef>
                <a:spcPts val="0"/>
              </a:spcBef>
              <a:spcAft>
                <a:spcPts val="0"/>
              </a:spcAft>
            </a:pPr>
            <a:r>
              <a:rPr lang="en-US" altLang="zh-CN" sz="2000" dirty="0"/>
              <a:t>7.</a:t>
            </a:r>
            <a:r>
              <a:rPr lang="zh-CN" altLang="en-US" sz="2000" dirty="0"/>
              <a:t>记录与汇报</a:t>
            </a:r>
            <a:r>
              <a:rPr lang="en-US" altLang="zh-CN" sz="2000" dirty="0"/>
              <a:t>+</a:t>
            </a:r>
            <a:r>
              <a:rPr lang="zh-CN" altLang="en-US" sz="2000" dirty="0"/>
              <a:t>高级生命支持系统（</a:t>
            </a:r>
            <a:r>
              <a:rPr lang="en-US" altLang="zh-CN" sz="2000" dirty="0"/>
              <a:t>ALS</a:t>
            </a:r>
            <a:r>
              <a:rPr lang="zh-CN" altLang="en-US" sz="2000" dirty="0"/>
              <a:t>可选</a:t>
            </a:r>
            <a:r>
              <a:rPr lang="en-US" altLang="zh-CN" sz="2000" dirty="0"/>
              <a:t>)</a:t>
            </a:r>
          </a:p>
        </p:txBody>
      </p:sp>
      <p:sp>
        <p:nvSpPr>
          <p:cNvPr id="12" name="文本框 11">
            <a:extLst>
              <a:ext uri="{FF2B5EF4-FFF2-40B4-BE49-F238E27FC236}">
                <a16:creationId xmlns:a16="http://schemas.microsoft.com/office/drawing/2014/main" id="{AE35541F-5F3F-40C0-8D12-979A98267C99}"/>
              </a:ext>
            </a:extLst>
          </p:cNvPr>
          <p:cNvSpPr txBox="1"/>
          <p:nvPr/>
        </p:nvSpPr>
        <p:spPr>
          <a:xfrm>
            <a:off x="97523" y="889548"/>
            <a:ext cx="4394200" cy="461665"/>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1.</a:t>
            </a:r>
            <a:r>
              <a:rPr lang="zh-CN" altLang="en-US" sz="2400" b="1" dirty="0"/>
              <a:t>周围环境安全 </a:t>
            </a:r>
            <a:r>
              <a:rPr lang="en-US" altLang="zh-CN" sz="2400" b="1" dirty="0">
                <a:solidFill>
                  <a:srgbClr val="FF0000"/>
                </a:solidFill>
              </a:rPr>
              <a:t>L</a:t>
            </a:r>
            <a:endParaRPr lang="en-US" altLang="zh-CN" sz="2400" b="1" dirty="0"/>
          </a:p>
        </p:txBody>
      </p:sp>
      <p:sp>
        <p:nvSpPr>
          <p:cNvPr id="13" name="文本框 12">
            <a:extLst>
              <a:ext uri="{FF2B5EF4-FFF2-40B4-BE49-F238E27FC236}">
                <a16:creationId xmlns:a16="http://schemas.microsoft.com/office/drawing/2014/main" id="{C3CC3023-FAB0-4EEB-9885-55073D462B70}"/>
              </a:ext>
            </a:extLst>
          </p:cNvPr>
          <p:cNvSpPr txBox="1"/>
          <p:nvPr/>
        </p:nvSpPr>
        <p:spPr>
          <a:xfrm>
            <a:off x="87132" y="1245664"/>
            <a:ext cx="4394200" cy="1384995"/>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2.</a:t>
            </a:r>
            <a:r>
              <a:rPr lang="zh-CN" altLang="en-US" sz="2400" b="1" dirty="0"/>
              <a:t>个人安全防护 </a:t>
            </a:r>
            <a:r>
              <a:rPr lang="en-US" altLang="zh-CN" sz="2400" b="1" dirty="0">
                <a:solidFill>
                  <a:srgbClr val="FF0000"/>
                </a:solidFill>
              </a:rPr>
              <a:t>L</a:t>
            </a:r>
            <a:endParaRPr lang="en-US" altLang="zh-CN" sz="2400" b="1" dirty="0"/>
          </a:p>
          <a:p>
            <a:pPr marL="0" algn="l" rtl="0" eaLnBrk="1" latinLnBrk="0" hangingPunct="1">
              <a:spcBef>
                <a:spcPts val="0"/>
              </a:spcBef>
              <a:spcAft>
                <a:spcPts val="0"/>
              </a:spcAft>
            </a:pPr>
            <a:r>
              <a:rPr lang="en-US" altLang="zh-CN" sz="2400" dirty="0"/>
              <a:t>	</a:t>
            </a:r>
            <a:r>
              <a:rPr lang="en-US" altLang="zh-CN" dirty="0"/>
              <a:t>1.</a:t>
            </a:r>
            <a:r>
              <a:rPr lang="zh-CN" altLang="en-US" dirty="0"/>
              <a:t>丁晴手套</a:t>
            </a:r>
            <a:endParaRPr lang="en-US" altLang="zh-CN" dirty="0">
              <a:solidFill>
                <a:srgbClr val="FF0000"/>
              </a:solidFill>
            </a:endParaRPr>
          </a:p>
          <a:p>
            <a:pPr marL="0" algn="l" rtl="0" eaLnBrk="1" latinLnBrk="0" hangingPunct="1">
              <a:spcBef>
                <a:spcPts val="0"/>
              </a:spcBef>
              <a:spcAft>
                <a:spcPts val="0"/>
              </a:spcAft>
            </a:pPr>
            <a:r>
              <a:rPr lang="en-US" altLang="zh-CN" dirty="0"/>
              <a:t>	2.</a:t>
            </a:r>
            <a:r>
              <a:rPr lang="zh-CN" altLang="en-US" dirty="0"/>
              <a:t>护目镜（涉及到血液和体液飞溅的情况）</a:t>
            </a:r>
            <a:endParaRPr lang="en-US" altLang="zh-CN" dirty="0"/>
          </a:p>
        </p:txBody>
      </p:sp>
      <p:sp>
        <p:nvSpPr>
          <p:cNvPr id="14" name="文本框 13">
            <a:extLst>
              <a:ext uri="{FF2B5EF4-FFF2-40B4-BE49-F238E27FC236}">
                <a16:creationId xmlns:a16="http://schemas.microsoft.com/office/drawing/2014/main" id="{5B455846-0119-4EEE-BFF9-9BDB4CD7C14C}"/>
              </a:ext>
            </a:extLst>
          </p:cNvPr>
          <p:cNvSpPr txBox="1"/>
          <p:nvPr/>
        </p:nvSpPr>
        <p:spPr>
          <a:xfrm>
            <a:off x="97523" y="2565349"/>
            <a:ext cx="4394200" cy="2400657"/>
          </a:xfrm>
          <a:prstGeom prst="rect">
            <a:avLst/>
          </a:prstGeom>
          <a:noFill/>
        </p:spPr>
        <p:txBody>
          <a:bodyPr wrap="square" rtlCol="0">
            <a:spAutoFit/>
          </a:bodyPr>
          <a:lstStyle/>
          <a:p>
            <a:pPr marL="0" algn="l" rtl="0" eaLnBrk="1" latinLnBrk="0" hangingPunct="1">
              <a:spcBef>
                <a:spcPts val="0"/>
              </a:spcBef>
              <a:spcAft>
                <a:spcPts val="0"/>
              </a:spcAft>
            </a:pPr>
            <a:r>
              <a:rPr lang="en-US" altLang="zh-CN" sz="2400" b="1" dirty="0"/>
              <a:t>3.</a:t>
            </a:r>
            <a:r>
              <a:rPr lang="zh-CN" altLang="en-US" sz="2400" b="1" dirty="0"/>
              <a:t>评估伤情 </a:t>
            </a:r>
            <a:r>
              <a:rPr lang="en-US" altLang="zh-CN" sz="2400" b="1" dirty="0">
                <a:solidFill>
                  <a:srgbClr val="FF0000"/>
                </a:solidFill>
              </a:rPr>
              <a:t>L</a:t>
            </a:r>
            <a:endParaRPr lang="en-US" altLang="zh-CN" sz="2400" b="1" dirty="0"/>
          </a:p>
          <a:p>
            <a:r>
              <a:rPr lang="en-US" altLang="zh-CN" dirty="0"/>
              <a:t>1.</a:t>
            </a:r>
            <a:r>
              <a:rPr lang="zh-CN" altLang="en-US" b="1" dirty="0"/>
              <a:t>意识判断</a:t>
            </a:r>
            <a:r>
              <a:rPr lang="zh-CN" altLang="en-US" dirty="0"/>
              <a:t>：</a:t>
            </a:r>
          </a:p>
          <a:p>
            <a:r>
              <a:rPr lang="en-US" altLang="zh-CN" dirty="0"/>
              <a:t>	</a:t>
            </a:r>
            <a:r>
              <a:rPr lang="zh-CN" altLang="en-US" dirty="0"/>
              <a:t>轻拍肩膀并大声呼喊</a:t>
            </a:r>
          </a:p>
          <a:p>
            <a:r>
              <a:rPr lang="en-US" altLang="zh-CN" dirty="0"/>
              <a:t>	</a:t>
            </a:r>
            <a:r>
              <a:rPr lang="zh-CN" altLang="en-US" dirty="0"/>
              <a:t>无反应 </a:t>
            </a:r>
            <a:r>
              <a:rPr lang="en-US" altLang="zh-CN" dirty="0"/>
              <a:t>= </a:t>
            </a:r>
            <a:r>
              <a:rPr lang="zh-CN" altLang="en-US" dirty="0"/>
              <a:t>无意识</a:t>
            </a:r>
          </a:p>
          <a:p>
            <a:r>
              <a:rPr lang="en-US" altLang="zh-CN" dirty="0"/>
              <a:t>2.</a:t>
            </a:r>
            <a:r>
              <a:rPr lang="zh-CN" altLang="en-US" b="1" dirty="0"/>
              <a:t>呼吸判断</a:t>
            </a:r>
            <a:r>
              <a:rPr lang="zh-CN" altLang="en-US" dirty="0"/>
              <a:t>：</a:t>
            </a:r>
          </a:p>
          <a:p>
            <a:r>
              <a:rPr lang="en-US" altLang="zh-CN" dirty="0"/>
              <a:t>	</a:t>
            </a:r>
            <a:r>
              <a:rPr lang="zh-CN" altLang="en-US" dirty="0"/>
              <a:t>观察胸部是否起伏</a:t>
            </a:r>
          </a:p>
          <a:p>
            <a:r>
              <a:rPr lang="en-US" altLang="zh-CN" dirty="0"/>
              <a:t>	</a:t>
            </a:r>
            <a:r>
              <a:rPr lang="zh-CN" altLang="en-US" dirty="0"/>
              <a:t>听</a:t>
            </a:r>
            <a:r>
              <a:rPr lang="en-US" altLang="zh-CN" dirty="0"/>
              <a:t>/</a:t>
            </a:r>
            <a:r>
              <a:rPr lang="zh-CN" altLang="en-US" dirty="0"/>
              <a:t>感受气流</a:t>
            </a:r>
          </a:p>
          <a:p>
            <a:r>
              <a:rPr lang="en-US" altLang="zh-CN" dirty="0"/>
              <a:t>	</a:t>
            </a:r>
            <a:r>
              <a:rPr lang="zh-CN" altLang="en-US" dirty="0"/>
              <a:t>如果呼吸</a:t>
            </a:r>
            <a:r>
              <a:rPr lang="zh-CN" altLang="en-US" b="1" dirty="0"/>
              <a:t>异常或无呼吸</a:t>
            </a:r>
            <a:endParaRPr lang="zh-CN" altLang="en-US" dirty="0"/>
          </a:p>
        </p:txBody>
      </p:sp>
      <p:sp>
        <p:nvSpPr>
          <p:cNvPr id="19" name="文本框 18">
            <a:extLst>
              <a:ext uri="{FF2B5EF4-FFF2-40B4-BE49-F238E27FC236}">
                <a16:creationId xmlns:a16="http://schemas.microsoft.com/office/drawing/2014/main" id="{1CBE7CA6-FDF1-48A4-BCAF-8545BDDA2453}"/>
              </a:ext>
            </a:extLst>
          </p:cNvPr>
          <p:cNvSpPr txBox="1"/>
          <p:nvPr/>
        </p:nvSpPr>
        <p:spPr>
          <a:xfrm>
            <a:off x="127126" y="4892690"/>
            <a:ext cx="4394200" cy="2215991"/>
          </a:xfrm>
          <a:prstGeom prst="rect">
            <a:avLst/>
          </a:prstGeom>
          <a:noFill/>
        </p:spPr>
        <p:txBody>
          <a:bodyPr wrap="square" rtlCol="0">
            <a:spAutoFit/>
          </a:bodyPr>
          <a:lstStyle/>
          <a:p>
            <a:r>
              <a:rPr lang="en-US" altLang="zh-CN" sz="2400" b="1" dirty="0"/>
              <a:t>4.</a:t>
            </a:r>
            <a:r>
              <a:rPr lang="zh-CN" altLang="en-US" sz="2400" b="1" dirty="0"/>
              <a:t> 心肺复苏 </a:t>
            </a:r>
            <a:r>
              <a:rPr lang="en-US" altLang="zh-CN" sz="2400" b="1" dirty="0">
                <a:solidFill>
                  <a:srgbClr val="FF0000"/>
                </a:solidFill>
              </a:rPr>
              <a:t>L</a:t>
            </a:r>
            <a:endParaRPr lang="en-US" altLang="zh-CN" sz="2400" b="1" dirty="0"/>
          </a:p>
          <a:p>
            <a:r>
              <a:rPr lang="zh-CN" altLang="en-US" b="1" dirty="0"/>
              <a:t>胸外按压</a:t>
            </a:r>
          </a:p>
          <a:p>
            <a:r>
              <a:rPr lang="zh-CN" altLang="en-US" dirty="0"/>
              <a:t>胸骨下半段</a:t>
            </a:r>
          </a:p>
          <a:p>
            <a:r>
              <a:rPr lang="zh-CN" altLang="en-US" dirty="0"/>
              <a:t>深度约 </a:t>
            </a:r>
            <a:r>
              <a:rPr lang="en-US" altLang="zh-CN" dirty="0"/>
              <a:t>5–6 cm</a:t>
            </a:r>
          </a:p>
          <a:p>
            <a:r>
              <a:rPr lang="zh-CN" altLang="en-US" dirty="0"/>
              <a:t>频率 </a:t>
            </a:r>
            <a:r>
              <a:rPr lang="en-US" altLang="zh-CN" dirty="0"/>
              <a:t>100–120 </a:t>
            </a:r>
            <a:r>
              <a:rPr lang="zh-CN" altLang="en-US" dirty="0"/>
              <a:t>次</a:t>
            </a:r>
            <a:r>
              <a:rPr lang="en-US" altLang="zh-CN" dirty="0"/>
              <a:t>/</a:t>
            </a:r>
            <a:r>
              <a:rPr lang="zh-CN" altLang="en-US" dirty="0"/>
              <a:t>分钟</a:t>
            </a:r>
          </a:p>
          <a:p>
            <a:r>
              <a:rPr lang="zh-CN" altLang="en-US" dirty="0"/>
              <a:t>中断尽量 </a:t>
            </a:r>
            <a:r>
              <a:rPr lang="en-US" altLang="zh-CN" dirty="0"/>
              <a:t>&lt; 10 </a:t>
            </a:r>
            <a:r>
              <a:rPr lang="zh-CN" altLang="en-US" dirty="0"/>
              <a:t>秒</a:t>
            </a:r>
          </a:p>
          <a:p>
            <a:endParaRPr lang="en-US" altLang="zh-CN" sz="2400" b="1" dirty="0"/>
          </a:p>
        </p:txBody>
      </p:sp>
      <p:sp>
        <p:nvSpPr>
          <p:cNvPr id="10" name="文本框 9">
            <a:extLst>
              <a:ext uri="{FF2B5EF4-FFF2-40B4-BE49-F238E27FC236}">
                <a16:creationId xmlns:a16="http://schemas.microsoft.com/office/drawing/2014/main" id="{3A0CB8ED-2737-4CC2-8F6C-42C403EEED18}"/>
              </a:ext>
            </a:extLst>
          </p:cNvPr>
          <p:cNvSpPr txBox="1"/>
          <p:nvPr/>
        </p:nvSpPr>
        <p:spPr>
          <a:xfrm>
            <a:off x="4458738" y="2565349"/>
            <a:ext cx="4394200" cy="1846659"/>
          </a:xfrm>
          <a:prstGeom prst="rect">
            <a:avLst/>
          </a:prstGeom>
          <a:noFill/>
        </p:spPr>
        <p:txBody>
          <a:bodyPr wrap="square" rtlCol="0">
            <a:spAutoFit/>
          </a:bodyPr>
          <a:lstStyle/>
          <a:p>
            <a:r>
              <a:rPr lang="en-US" altLang="zh-CN" sz="2400" b="1" dirty="0"/>
              <a:t>6.</a:t>
            </a:r>
            <a:r>
              <a:rPr lang="zh-CN" altLang="en-US" sz="2400" b="1" dirty="0"/>
              <a:t>气道管理 </a:t>
            </a:r>
            <a:r>
              <a:rPr lang="en-US" altLang="zh-CN" sz="2400" b="1" dirty="0">
                <a:solidFill>
                  <a:srgbClr val="FF0000"/>
                </a:solidFill>
              </a:rPr>
              <a:t>H</a:t>
            </a:r>
          </a:p>
          <a:p>
            <a:r>
              <a:rPr lang="en-US" altLang="zh-CN" dirty="0"/>
              <a:t>(1)</a:t>
            </a:r>
            <a:r>
              <a:rPr lang="zh-CN" altLang="en-US" dirty="0"/>
              <a:t>抬头仰额法之后使用口咽气道或者鼻咽气道</a:t>
            </a:r>
            <a:endParaRPr lang="en-US" altLang="zh-CN" dirty="0"/>
          </a:p>
          <a:p>
            <a:r>
              <a:rPr lang="en-US" altLang="zh-CN" dirty="0"/>
              <a:t>(2)</a:t>
            </a:r>
            <a:r>
              <a:rPr lang="zh-CN" altLang="en-US" dirty="0"/>
              <a:t>使用气囊面罩 </a:t>
            </a:r>
            <a:r>
              <a:rPr lang="en-US" altLang="zh-CN" dirty="0"/>
              <a:t>(BVM)</a:t>
            </a:r>
            <a:r>
              <a:rPr lang="zh-CN" altLang="en-US" dirty="0"/>
              <a:t>并连接氧气瓶（流量</a:t>
            </a:r>
            <a:r>
              <a:rPr lang="en-US" altLang="zh-CN" dirty="0"/>
              <a:t>10-15L/MIN)</a:t>
            </a:r>
          </a:p>
          <a:p>
            <a:r>
              <a:rPr lang="en-US" altLang="zh-CN" dirty="0"/>
              <a:t>BVM</a:t>
            </a:r>
            <a:r>
              <a:rPr lang="zh-CN" altLang="en-US" dirty="0"/>
              <a:t>使用按照</a:t>
            </a:r>
            <a:r>
              <a:rPr lang="en-US" altLang="zh-CN" dirty="0"/>
              <a:t>30:2</a:t>
            </a:r>
            <a:r>
              <a:rPr lang="zh-CN" altLang="en-US" dirty="0"/>
              <a:t>进行</a:t>
            </a:r>
            <a:endParaRPr lang="en-US" altLang="zh-CN" dirty="0"/>
          </a:p>
        </p:txBody>
      </p:sp>
      <p:sp>
        <p:nvSpPr>
          <p:cNvPr id="15" name="文本框 14">
            <a:extLst>
              <a:ext uri="{FF2B5EF4-FFF2-40B4-BE49-F238E27FC236}">
                <a16:creationId xmlns:a16="http://schemas.microsoft.com/office/drawing/2014/main" id="{B218E2CD-7297-46E1-82B7-C2736076CB44}"/>
              </a:ext>
            </a:extLst>
          </p:cNvPr>
          <p:cNvSpPr txBox="1"/>
          <p:nvPr/>
        </p:nvSpPr>
        <p:spPr>
          <a:xfrm>
            <a:off x="4446534" y="789295"/>
            <a:ext cx="4394200" cy="1846659"/>
          </a:xfrm>
          <a:prstGeom prst="rect">
            <a:avLst/>
          </a:prstGeom>
          <a:noFill/>
        </p:spPr>
        <p:txBody>
          <a:bodyPr wrap="square" rtlCol="0">
            <a:spAutoFit/>
          </a:bodyPr>
          <a:lstStyle/>
          <a:p>
            <a:r>
              <a:rPr lang="en-US" altLang="zh-CN" sz="2400" b="1" dirty="0"/>
              <a:t>5.AED </a:t>
            </a:r>
            <a:r>
              <a:rPr lang="zh-CN" altLang="en-US" sz="2400" b="1" dirty="0"/>
              <a:t>使用 </a:t>
            </a:r>
            <a:r>
              <a:rPr lang="en-US" altLang="zh-CN" sz="2400" b="1" dirty="0">
                <a:solidFill>
                  <a:srgbClr val="FF0000"/>
                </a:solidFill>
              </a:rPr>
              <a:t>L</a:t>
            </a:r>
            <a:endParaRPr lang="zh-CN" altLang="en-US" sz="2400" b="1" dirty="0"/>
          </a:p>
          <a:p>
            <a:r>
              <a:rPr lang="zh-CN" altLang="en-US" dirty="0"/>
              <a:t>开机 → 按语音提示贴电极 → 分析节律 → 如提示除颤 → 立即除颤</a:t>
            </a:r>
          </a:p>
          <a:p>
            <a:r>
              <a:rPr lang="zh-CN" altLang="en-US" dirty="0"/>
              <a:t>除颤后继续胸外按压 </a:t>
            </a:r>
            <a:r>
              <a:rPr lang="en-US" altLang="zh-CN" dirty="0"/>
              <a:t>2 </a:t>
            </a:r>
            <a:r>
              <a:rPr lang="zh-CN" altLang="en-US" dirty="0"/>
              <a:t>分钟 → 再次分析</a:t>
            </a:r>
          </a:p>
          <a:p>
            <a:r>
              <a:rPr lang="zh-CN" altLang="en-US" b="1" dirty="0"/>
              <a:t>保持连续 </a:t>
            </a:r>
            <a:r>
              <a:rPr lang="en-US" altLang="zh-CN" b="1" dirty="0"/>
              <a:t>BLS + </a:t>
            </a:r>
            <a:r>
              <a:rPr lang="zh-CN" altLang="en-US" b="1" dirty="0"/>
              <a:t>氧气 </a:t>
            </a:r>
            <a:r>
              <a:rPr lang="en-US" altLang="zh-CN" b="1" dirty="0"/>
              <a:t>+ </a:t>
            </a:r>
            <a:r>
              <a:rPr lang="zh-CN" altLang="en-US" b="1" dirty="0"/>
              <a:t>气道管理，直至救护车到达</a:t>
            </a:r>
            <a:endParaRPr lang="zh-CN" altLang="en-US" dirty="0"/>
          </a:p>
        </p:txBody>
      </p:sp>
      <p:sp>
        <p:nvSpPr>
          <p:cNvPr id="16" name="文本框 15">
            <a:extLst>
              <a:ext uri="{FF2B5EF4-FFF2-40B4-BE49-F238E27FC236}">
                <a16:creationId xmlns:a16="http://schemas.microsoft.com/office/drawing/2014/main" id="{EDEF7DEE-4BB2-4A82-987C-C32307D34CF4}"/>
              </a:ext>
            </a:extLst>
          </p:cNvPr>
          <p:cNvSpPr txBox="1"/>
          <p:nvPr/>
        </p:nvSpPr>
        <p:spPr>
          <a:xfrm>
            <a:off x="4446534" y="4350723"/>
            <a:ext cx="4394200" cy="2492990"/>
          </a:xfrm>
          <a:prstGeom prst="rect">
            <a:avLst/>
          </a:prstGeom>
          <a:noFill/>
        </p:spPr>
        <p:txBody>
          <a:bodyPr wrap="square" rtlCol="0">
            <a:spAutoFit/>
          </a:bodyPr>
          <a:lstStyle/>
          <a:p>
            <a:r>
              <a:rPr lang="en-US" altLang="zh-CN" sz="2400" b="1" dirty="0"/>
              <a:t>6.</a:t>
            </a:r>
            <a:r>
              <a:rPr lang="zh-CN" altLang="en-US" sz="2400" b="1" dirty="0"/>
              <a:t>生命体征监测 </a:t>
            </a:r>
            <a:r>
              <a:rPr lang="en-US" altLang="zh-CN" sz="2400" b="1" dirty="0">
                <a:solidFill>
                  <a:srgbClr val="FF0000"/>
                </a:solidFill>
              </a:rPr>
              <a:t>H</a:t>
            </a:r>
          </a:p>
          <a:p>
            <a:r>
              <a:rPr lang="en-US" altLang="zh-CN" dirty="0"/>
              <a:t>(1)</a:t>
            </a:r>
            <a:r>
              <a:rPr lang="zh-CN" altLang="en-US" dirty="0"/>
              <a:t>血氧</a:t>
            </a:r>
            <a:endParaRPr lang="zh-CN" altLang="en-US" b="1" dirty="0"/>
          </a:p>
          <a:p>
            <a:r>
              <a:rPr lang="zh-CN" altLang="en-US" sz="1600" dirty="0"/>
              <a:t>≥</a:t>
            </a:r>
            <a:r>
              <a:rPr lang="en-US" altLang="zh-CN" sz="1600" dirty="0"/>
              <a:t>95% → </a:t>
            </a:r>
            <a:r>
              <a:rPr lang="zh-CN" altLang="en-US" sz="1600" dirty="0"/>
              <a:t>正常，可继续观察</a:t>
            </a:r>
          </a:p>
          <a:p>
            <a:r>
              <a:rPr lang="en-US" altLang="zh-CN" sz="1600" dirty="0"/>
              <a:t>90–94% → </a:t>
            </a:r>
            <a:r>
              <a:rPr lang="zh-CN" altLang="en-US" sz="1600" dirty="0"/>
              <a:t>注意，观察 </a:t>
            </a:r>
            <a:r>
              <a:rPr lang="en-US" altLang="zh-CN" sz="1600" dirty="0"/>
              <a:t>+ </a:t>
            </a:r>
            <a:r>
              <a:rPr lang="zh-CN" altLang="en-US" sz="1600" dirty="0"/>
              <a:t>现场干预</a:t>
            </a:r>
          </a:p>
          <a:p>
            <a:r>
              <a:rPr lang="en-US" altLang="zh-CN" sz="1600" dirty="0"/>
              <a:t>&lt;90% → </a:t>
            </a:r>
            <a:r>
              <a:rPr lang="zh-CN" altLang="en-US" sz="1600" dirty="0"/>
              <a:t>高危，考虑升级医疗系统</a:t>
            </a:r>
          </a:p>
          <a:p>
            <a:r>
              <a:rPr lang="en-US" altLang="zh-CN" dirty="0"/>
              <a:t>(2)</a:t>
            </a:r>
            <a:r>
              <a:rPr lang="zh-CN" altLang="en-US" dirty="0"/>
              <a:t>血压</a:t>
            </a:r>
            <a:endParaRPr lang="zh-CN" altLang="en-US" b="1" dirty="0"/>
          </a:p>
          <a:p>
            <a:r>
              <a:rPr lang="en-US" altLang="zh-CN" sz="1600" dirty="0"/>
              <a:t>90–120 / 60–80 → </a:t>
            </a:r>
            <a:r>
              <a:rPr lang="zh-CN" altLang="en-US" sz="1600" dirty="0"/>
              <a:t>正常，可继续观察</a:t>
            </a:r>
          </a:p>
          <a:p>
            <a:r>
              <a:rPr lang="en-US" altLang="zh-CN" sz="1600" dirty="0"/>
              <a:t>80–89 / 50–59 → </a:t>
            </a:r>
            <a:r>
              <a:rPr lang="zh-CN" altLang="en-US" sz="1600" dirty="0"/>
              <a:t>低压，注意出血或脱水</a:t>
            </a:r>
          </a:p>
          <a:p>
            <a:r>
              <a:rPr lang="en-US" altLang="zh-CN" sz="1600" dirty="0"/>
              <a:t>&lt;90 / &lt;60 → </a:t>
            </a:r>
            <a:r>
              <a:rPr lang="zh-CN" altLang="en-US" sz="1600" dirty="0"/>
              <a:t>高危，立即呼叫</a:t>
            </a:r>
            <a:r>
              <a:rPr lang="en-US" altLang="zh-CN" sz="1600" dirty="0"/>
              <a:t>120</a:t>
            </a:r>
            <a:endParaRPr lang="zh-CN" altLang="en-US" sz="1600" dirty="0"/>
          </a:p>
        </p:txBody>
      </p:sp>
    </p:spTree>
    <p:extLst>
      <p:ext uri="{BB962C8B-B14F-4D97-AF65-F5344CB8AC3E}">
        <p14:creationId xmlns:p14="http://schemas.microsoft.com/office/powerpoint/2010/main" val="202724846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3277F-4886-49A7-A48B-2BCBBBA4230B}"/>
              </a:ext>
            </a:extLst>
          </p:cNvPr>
          <p:cNvSpPr txBox="1"/>
          <p:nvPr/>
        </p:nvSpPr>
        <p:spPr>
          <a:xfrm>
            <a:off x="537839" y="191971"/>
            <a:ext cx="9662969" cy="584775"/>
          </a:xfrm>
          <a:prstGeom prst="rect">
            <a:avLst/>
          </a:prstGeom>
          <a:noFill/>
        </p:spPr>
        <p:txBody>
          <a:bodyPr wrap="square" rtlCol="0">
            <a:spAutoFit/>
          </a:bodyPr>
          <a:lstStyle/>
          <a:p>
            <a:r>
              <a:rPr lang="zh-CN" altLang="en-US" sz="3200" dirty="0"/>
              <a:t>心脏骤停处置（</a:t>
            </a:r>
            <a:r>
              <a:rPr lang="en-US" altLang="zh-CN" sz="3200" dirty="0"/>
              <a:t>Cardiac Arrest</a:t>
            </a:r>
            <a:r>
              <a:rPr lang="zh-CN" altLang="en-US" sz="3200" dirty="0"/>
              <a:t>）技能类型：</a:t>
            </a:r>
            <a:r>
              <a:rPr lang="en-US" altLang="zh-CN" sz="3200" dirty="0">
                <a:solidFill>
                  <a:srgbClr val="FF0000"/>
                </a:solidFill>
              </a:rPr>
              <a:t>Z S </a:t>
            </a:r>
            <a:endParaRPr lang="zh-CN" altLang="en-US" sz="3200" dirty="0">
              <a:solidFill>
                <a:srgbClr val="FF0000"/>
              </a:solidFill>
            </a:endParaRPr>
          </a:p>
        </p:txBody>
      </p:sp>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35600"/>
            <a:ext cx="2223437" cy="1482291"/>
          </a:xfrm>
          <a:prstGeom prst="rect">
            <a:avLst/>
          </a:prstGeom>
        </p:spPr>
      </p:pic>
      <p:sp>
        <p:nvSpPr>
          <p:cNvPr id="2" name="文本框 1">
            <a:extLst>
              <a:ext uri="{FF2B5EF4-FFF2-40B4-BE49-F238E27FC236}">
                <a16:creationId xmlns:a16="http://schemas.microsoft.com/office/drawing/2014/main" id="{0782DE52-19FC-41E3-893A-8D909434C3D3}"/>
              </a:ext>
            </a:extLst>
          </p:cNvPr>
          <p:cNvSpPr txBox="1"/>
          <p:nvPr/>
        </p:nvSpPr>
        <p:spPr>
          <a:xfrm>
            <a:off x="537839" y="876332"/>
            <a:ext cx="3462661" cy="523220"/>
          </a:xfrm>
          <a:prstGeom prst="rect">
            <a:avLst/>
          </a:prstGeom>
          <a:noFill/>
        </p:spPr>
        <p:txBody>
          <a:bodyPr wrap="square" rtlCol="0">
            <a:spAutoFit/>
          </a:bodyPr>
          <a:lstStyle/>
          <a:p>
            <a:r>
              <a:rPr lang="zh-CN" altLang="en-US" sz="2800" b="1" dirty="0">
                <a:hlinkClick r:id="rId3"/>
              </a:rPr>
              <a:t>心肺复苏</a:t>
            </a:r>
            <a:r>
              <a:rPr lang="zh-CN" altLang="en-US" sz="2800" b="1" dirty="0"/>
              <a:t> </a:t>
            </a:r>
            <a:r>
              <a:rPr lang="en-US" altLang="zh-CN" sz="2800" b="1" dirty="0">
                <a:solidFill>
                  <a:srgbClr val="FF0000"/>
                </a:solidFill>
              </a:rPr>
              <a:t>L</a:t>
            </a:r>
            <a:endParaRPr lang="en-US" altLang="zh-CN" sz="2800" b="1" dirty="0"/>
          </a:p>
        </p:txBody>
      </p:sp>
      <p:pic>
        <p:nvPicPr>
          <p:cNvPr id="6148" name="Picture 4" descr="東海大學健康暨諮商中心">
            <a:extLst>
              <a:ext uri="{FF2B5EF4-FFF2-40B4-BE49-F238E27FC236}">
                <a16:creationId xmlns:a16="http://schemas.microsoft.com/office/drawing/2014/main" id="{237AE1E2-BD90-4B93-AEB0-0542AE7C9D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9777" y="1499138"/>
            <a:ext cx="7528813" cy="5322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79583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299DC3E0-6D38-4C7C-8233-7D9EBCFF1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8563" y="0"/>
            <a:ext cx="2223437" cy="1482291"/>
          </a:xfrm>
          <a:prstGeom prst="rect">
            <a:avLst/>
          </a:prstGeom>
        </p:spPr>
      </p:pic>
      <p:sp>
        <p:nvSpPr>
          <p:cNvPr id="2" name="文本框 1">
            <a:extLst>
              <a:ext uri="{FF2B5EF4-FFF2-40B4-BE49-F238E27FC236}">
                <a16:creationId xmlns:a16="http://schemas.microsoft.com/office/drawing/2014/main" id="{EBD61868-B25B-4A75-859A-4ED463274105}"/>
              </a:ext>
            </a:extLst>
          </p:cNvPr>
          <p:cNvSpPr txBox="1"/>
          <p:nvPr/>
        </p:nvSpPr>
        <p:spPr>
          <a:xfrm>
            <a:off x="654041" y="1249893"/>
            <a:ext cx="9314522" cy="1200329"/>
          </a:xfrm>
          <a:prstGeom prst="rect">
            <a:avLst/>
          </a:prstGeom>
          <a:noFill/>
        </p:spPr>
        <p:txBody>
          <a:bodyPr wrap="square" rtlCol="0">
            <a:spAutoFit/>
          </a:bodyPr>
          <a:lstStyle/>
          <a:p>
            <a:r>
              <a:rPr lang="zh-CN" altLang="en-US" sz="2400" b="1" dirty="0"/>
              <a:t>本</a:t>
            </a:r>
            <a:r>
              <a:rPr lang="en-US" altLang="zh-CN" sz="2400" b="1" dirty="0"/>
              <a:t>PPT</a:t>
            </a:r>
            <a:r>
              <a:rPr lang="zh-CN" altLang="en-US" sz="2400" b="1" dirty="0"/>
              <a:t>无偿分享，允许修改与二次传播，需注明原作者 </a:t>
            </a:r>
            <a:r>
              <a:rPr lang="en-US" altLang="zh-CN" sz="2400" b="1" dirty="0"/>
              <a:t>[pqzou]</a:t>
            </a:r>
            <a:r>
              <a:rPr lang="zh-CN" altLang="en-US" sz="2400" b="1" dirty="0"/>
              <a:t>，</a:t>
            </a:r>
          </a:p>
          <a:p>
            <a:r>
              <a:rPr lang="zh-CN" altLang="en-US" sz="2400" b="1" dirty="0"/>
              <a:t>仅限非商业用途，修改后作品请采用相同许可方式分享（</a:t>
            </a:r>
            <a:r>
              <a:rPr lang="en-US" altLang="zh-CN" sz="2400" b="1" dirty="0"/>
              <a:t>CC BY-NC-SA</a:t>
            </a:r>
            <a:r>
              <a:rPr lang="zh-CN" altLang="en-US" sz="2400" b="1" dirty="0"/>
              <a:t>）。</a:t>
            </a:r>
            <a:endParaRPr lang="zh-CN" altLang="en-US" dirty="0"/>
          </a:p>
        </p:txBody>
      </p:sp>
    </p:spTree>
    <p:extLst>
      <p:ext uri="{BB962C8B-B14F-4D97-AF65-F5344CB8AC3E}">
        <p14:creationId xmlns:p14="http://schemas.microsoft.com/office/powerpoint/2010/main" val="62167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3902</Words>
  <Application>Microsoft Office PowerPoint</Application>
  <PresentationFormat>宽屏</PresentationFormat>
  <Paragraphs>483</Paragraphs>
  <Slides>29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29</vt:i4>
      </vt:variant>
    </vt:vector>
  </HeadingPairs>
  <TitlesOfParts>
    <vt:vector size="37" baseType="lpstr">
      <vt:lpstr>__Roboto_a857ad</vt:lpstr>
      <vt:lpstr>-apple-system</vt:lpstr>
      <vt:lpstr>Chinese Quote</vt:lpstr>
      <vt:lpstr>等线</vt:lpstr>
      <vt:lpstr>等线 Light</vt:lpstr>
      <vt:lpstr>Arial</vt:lpstr>
      <vt:lpstr>Times New Roman</vt:lpstr>
      <vt:lpstr>Office 主题​​</vt:lpstr>
      <vt:lpstr>组织成员急救培训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2026-03-15T03:23:19Z</dcterms:created>
  <dcterms:modified xsi:type="dcterms:W3CDTF">2026-04-01T17:13:37Z</dcterms:modified>
</cp:coreProperties>
</file>